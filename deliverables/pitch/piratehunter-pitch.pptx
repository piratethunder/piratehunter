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268" r:id="rId25"/>
    <p:sldId id="267" r:id="rId26"/>
    <p:sldId id="371" r:id="rId17"/>
    <p:sldId id="370" r:id="rId16"/>
    <p:sldId id="266" r:id="rId23"/>
    <p:sldId id="374" r:id="rId18"/>
    <p:sldId id="366" r:id="rId9"/>
    <p:sldId id="362" r:id="rId10"/>
    <p:sldId id="364" r:id="rId11"/>
    <p:sldId id="375" r:id="rId12"/>
    <p:sldId id="269" r:id="rId27"/>
    <p:sldId id="272" r:id="rId30"/>
    <p:sldId id="262" r:id="rId21"/>
    <p:sldId id="376" r:id="rId4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Sheet1!$A$2:$A$4</c:f>
              <c:strCache>
                <c:ptCount val="3"/>
                <c:pt idx="0">
                  <c:v>Стабильность</c:v>
                </c:pt>
                <c:pt idx="1">
                  <c:v>Spearman</c:v>
                </c:pt>
                <c:pt idx="2">
                  <c:v>Precision@5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0.967</c:v>
                </c:pt>
                <c:pt idx="1">
                  <c:v>0.972</c:v>
                </c:pt>
                <c:pt idx="2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ser>
          <c:idx val="2"/>
          <c:order val="1"/>
          <c:tx>
            <c:strRef>
              <c:f>Sheet1!$C$1</c:f>
              <c:strCache>
                <c:ptCount val="1"/>
                <c:pt idx="0">
                  <c:v>Порог приёмки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Sheet1!$A$2:$A$4</c:f>
              <c:strCache>
                <c:ptCount val="3"/>
                <c:pt idx="0">
                  <c:v>Стабильность</c:v>
                </c:pt>
                <c:pt idx="1">
                  <c:v>Spearman</c:v>
                </c:pt>
                <c:pt idx="2">
                  <c:v>Precision@5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</c:v>
                </c:pt>
                <c:pt idx="1">
                  <c:v>0.85</c:v>
                </c:pt>
                <c:pt idx="2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3:30–3:38 — Илья — капитан, fullstack и ИИ-инженерия, PiratePress, ИТМО. Денис — фронтенд и дизайн, Яндекс, МАИ.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3:38–3:48 — Команда собралась на этом хакатоне, но пайплайн «запрос → структура → результат» нам знаком по видеопродукту. Главные вызовы: объективный грейд без эталонной разметки — закрыли IRT и синтетической валидацией; и приватность — персональные данные живут только в backend, ядро оперирует анонимными снапшотами.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 — Добрый день! Мы представляем PirateHunter — платформу-агрегатор ИТ-вакансий с верифицированным профилем достижений участников ФСП. Ключевая идея: развернуть рынок труда — не кандидат шлёт отклики, а работодатель находит и приглашает с честной зарплатной вилкой.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0:20–0:50 — Три боли классических агрегаторов. Первое: односторонний поток откликов. Второе: зарплата непрозрачна — вилку узнают на собеседовании. Третье: навыки берутся со слов резюме. Техзадание ФСП формулирует обратную механику, обязательную вилку и верификацию — именно так мы и построили сервис.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0:50–1:30 — Сквозной сценарий из пяти шагов. Работодатель описывает потребность свободным текстом — LLM превращает её в структуру, которую он подтверждает. Дальше поиск по категориям: семь специализаций на четыре грейда. Подборка с объяснением каждой цифры. Приглашение идёт с обязательной вилкой. И только когда кандидат принимает — контакты раскрываются обеим сторонам.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1:30–2:05 — Скоринг четырёхфакторный с фиксированными весами в конфиге: сорок процентов — подтверждённый тест, тридцать — совпадение стека, двадцать — достижения ФСП, десять — свежесть профиля. Каждый результат несёт панель «Почему в подборке» — разложение по факторам с цифрами, а рядом виджет «вилка против рынка по категории»: работодатель видит медиану до отправки приглашения.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2:05–2:35 — Грейд — это уровень навыков, а не стаж в годах, и присваивается он только тестом. Движок — CAT-lite на IRT-модели: оцениваем способность тета и сложность заданий бета, следующий вопрос подбираем максимально информативным. Останавливаемся при десяти вопросах или когда стандартная ошибка ниже ноль тридцати пяти сотых. Шаблоны параметризованные — уникальный экземпляр по сиду, банк пополняется генераторами. Для жюри — экспресс-режим на четыре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2:35–3:00 — Валидация — собственная процедура с порогами, зафиксированными до прогона. Стабильность грейда при повторных тестах — девяносто шесть целых семь десятых процента при пороге восемьдесят. Разделяющая сила по Спирмену — ноль девятьсот семьдесят две сотых при пороге восемьдесят пять сотых. Точность топ-5 подборки — восемьдесят пять сотых при пороге восемь десятых. Плюс двести два автотеста, живой смоук на четырнадцать шагов, триста два сид-кандидата и ресед базы одной командой.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3:00–3:15 — С Федерацией спортивного программирования связались по всем правилам её же рекомендаций. Вход через FSP ID сейчас идёт через мок-OIDC реестр-адаптер — на боевой Keycloak меняется один конфиг. Дисциплины не ранжируем, набивание явками гасим затуханием. Нет истории — это нормальный первоклассный кейс: без штрафа, с подсказкой привязать идентификатор.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3:15–3:30 — Нас двое: капитан Илья Хакимов — полный цикл и ИИ-конвейеры, Денис Шайхльбарин — фронтенд и дизайн. Суть PirateHunter: работодатель ищет по категориям и приглашает с вилкой, кандидат выбирает. Уникальность: грейд подтверждается только тестом, достижения ФСП работают на ранжирование, а каждая цифра подборки объяснима.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3:48–4:05 — Коротко. Технически: три сервиса — backend с персональными данными, ядро с адаптивным тестом и скорингом, реестр-адаптер ФСП; фронт — Next.js. Весь контур в юрисдикции РФ: хостинг Selectel и LLM Cloud.ru — данные в ЦОДах РФ, обезличивание перед LLM, трансграничной передачи нет (152-ФЗ). Маркетингово: кандидат получает подтверждённый грейд и честные приглашения, работодатель — объяснимую подборку. Развитие: боевой ФСП, открытый ATS-API, MCP для агентов,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4:05–4:25 — Демо показываем на живом сервисе piratehunter.fun: вход по почтовому коду или через FSP ID, для жюри — готовые демо-аккаунты. Сценарий: работодатель описывает потребность и получает подборку с объяснением; кандидат проходит экспресс-тест на четыре вопроса и видит приглашение с вилкой; при принятии контакты раскрываются обеим сторонам. База перед защитой возвращается к эталону реседом одной командой.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4:25–4:40 — Четыре экрана, которые мы отполировали в первую очередь. Подборка работодателя с панелью «почему в подборке» и виджетом вилки против рынка. Адаптивный тест с таймером и подсветкой кода. Приглашение с вилкой крупно — принципиальное отличие от привычных агрегаторов. И категория кандидата: подтверждённый тестом грейд и место в ранжировании.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4:40–4:52 — Внедрение: отдельно подчеркнуть — 152-ФЗ из коробки: хостинг и LLM в ЦОДах РФ, ПДн в контуре, обезличивание перед LLM, согласия в онбординге. Боевой реестр ФСП подключается заменой конфига. Стенд поднимается одной командой docker compose, база реседится к эталону. Дальше — ATS-ready API, MCP для ИИ-агентов, регулярные задания и пилот верификации грейдов.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4:52–5:00 — Спасибо за внимание! Сервис живёт на piratehunter.fun, демо-аккаунты для жюри готовы. Переходим к ответам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/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PirateHunter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  <a:p>
            <a:r>
              <a:rPr>
                <a:solidFill>
                  <a:schemeClr val="lt1"/>
                </a:solidFill>
              </a:rPr>
              <a:t>Обратная механика подбора: работодатель ищет, кандидат выбирает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Обратная механика с обязательной вилкой и скрытыми до принятия контактами; грейд только по адаптивному IRT-тесту; достижения ФСП в скоринге; полностью объяснимая выдача «почему в подборке».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Хакимов Илья Александрович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собрались на хакатоне ЛЦТ 2026; до этого вместе строили генеративный видеосервис по брифу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Илья — PiratePress / ИТМО; Денис — Яндекс / МАИ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>
                <a:solidFill>
                  <a:schemeClr val="accent5"/>
                </a:solidFill>
              </a:rPr>
              <a:t>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chemeClr val="accent5"/>
                </a:solidFill>
              </a:rPr>
              <a:t>О команде и решении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PirateHunter — агрегатор ИТ-вакансий с обратной механикой: работодатель ищет по категориям (7 специализаций × 4 грейда) и шлёт приглашение с обязательной ЗП-вилкой; кандидат выбирает, контакты раскрываются при взаимном интересе.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Frontend + Design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@BrightOS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+79377808307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Яндекс / МАИ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Денис Шайхльбарин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 · Fullstack + AI Engineer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@ilyakhakimov03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+79871047771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PiratePress / ИТМО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Илья Хакимов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Собрались на ЛЦТ 2026, но это не первый общий продукт: до хакатона вместе строили генеративный видеосервис по брифу — пайплайн «запрос — структура — результат» нам уже знаком.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>
                <a:solidFill>
                  <a:schemeClr val="tx1"/>
                </a:solidFill>
              </a:rPr>
              <a:t>Объективный грейд без эталонной разметки: закрыли параметризованными шаблонами + IRT и синтетической валидацией со своими порогами приёмки.</a:t>
            </a:r>
          </a:p>
          <a:p>
            <a:r>
              <a:rPr>
                <a:solidFill>
                  <a:schemeClr val="tx1"/>
                </a:solidFill>
              </a:rPr>
              <a:t>Приватность: ПДн живут только в backend, core работает с анонимными снапшотами — готовый аргумент для 152-ФЗ.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Задача ФСП бьёт по нашим компетенциям: ИИ-конвейеры, скоринг и честная валидация. Плюс — реальная боль рынка труда, которую хотелось пощупать руками.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>
                <a:solidFill>
                  <a:schemeClr val="tx1"/>
                </a:solidFill>
              </a:rPr>
              <a:t>Три сервиса: backend (FastAPI, JWT, ПДн), hunter_core (CAT-lite IRT-движок, скоринг, валидация), fsp_registry (мок-реестр ФСП за OIDC-адаптером); фронтенд — Next.js с двумя кабинетами.</a:t>
            </a:r>
          </a:p>
          <a:p>
            <a:r>
              <a:rPr>
                <a:solidFill>
                  <a:schemeClr val="tx1"/>
                </a:solidFill>
              </a:rPr>
              <a:t>Score = 0.4·тест + 0.3·стек + 0.2·ФСП + 0.1·свежесть; веса в конфиге, каждый результат с explanation.</a:t>
            </a:r>
          </a:p>
          <a:p>
            <a:r>
              <a:rPr>
                <a:solidFill>
                  <a:schemeClr val="tx1"/>
                </a:solidFill>
              </a:rPr>
              <a:t>LLM-парсинг потребности, разбор и генерация PDF-резюме; подъём стенда — docker compose up -d --build.</a:t>
            </a:r>
          </a:p>
          <a:p>
            <a:r>
              <a:rPr>
                <a:solidFill>
                  <a:schemeClr val="tx1"/>
                </a:solidFill>
              </a:rPr>
              <a:t>Data residency: хостинг и LLM — в ДЦ РФ (Selectel, Cloud.ru Evolution); 152-ФЗ, трансграничной передачи ПДн нет.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>
                <a:solidFill>
                  <a:schemeClr val="tx1"/>
                </a:solidFill>
              </a:rPr>
              <a:t>Кандидату: грейд, подтверждённый честным тестом, и приглашения с вилкой зарплаты до ответа.</a:t>
            </a:r>
          </a:p>
          <a:p>
            <a:r>
              <a:rPr>
                <a:solidFill>
                  <a:schemeClr val="tx1"/>
                </a:solidFill>
              </a:rPr>
              <a:t>Работодателю: поиск по категориям и подборка, которую можно объяснить каждой цифрой.</a:t>
            </a:r>
          </a:p>
          <a:p>
            <a:r>
              <a:rPr>
                <a:solidFill>
                  <a:schemeClr val="tx1"/>
                </a:solidFill>
              </a:rPr>
              <a:t>Дальше: боевой FSP ID одним конфигом, ATS-ready открытый API, MCP для ИИ-агентов, пилот с ФСП.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chemeClr val="accent5"/>
                </a:solidFill>
              </a:rPr>
              <a:t>Грейд — только по адаптивному тесту (CAT-lite)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r>
              <a:rPr sz="1400">
                <a:solidFill>
                  <a:schemeClr val="tx1"/>
                </a:solidFill>
              </a:rPr>
              <a:t>Параметризованные шаблоны: задание = шаблон + seed, экземпляр у каждого кандидата уникален — пересказ чужого варианта бесполезен.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r>
              <a:rPr sz="1400">
                <a:solidFill>
                  <a:schemeClr val="tx1"/>
                </a:solidFill>
              </a:rPr>
              <a:t>IRT-модель: способность θ и сложность β, P(верно) = σ(θ - β); старт — от медианы заявленного грейда.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r>
              <a:rPr sz="1400">
                <a:solidFill>
                  <a:schemeClr val="tx1"/>
                </a:solidFill>
              </a:rPr>
              <a:t>Адаптивность: следующий вопрос — с β ближайшей к текущей θ (максимум информации), темы специализации round-robin.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r>
              <a:rPr sz="1400">
                <a:solidFill>
                  <a:schemeClr val="tx1"/>
                </a:solidFill>
              </a:rPr>
              <a:t>Стоп-правила: 10 вопросов или SE &lt; 0.35 — ранняя уверенность. Грейд присваивается только результатом теста.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r>
              <a:rPr sz="1400">
                <a:solidFill>
                  <a:schemeClr val="tx1"/>
                </a:solidFill>
              </a:rPr>
              <a:t>Экспресс для жюри: 4 вопроса, ~3 минуты; полный тест — 10 вопросов. Уверенный результат — предложение повысить грейд.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Тест — 0.40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Подтверждённый грейд и позиция θ внутри полосы. Неподтверждённый — статус «не подтверждён» и потолок в выдаче, но не скрыт.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Стек — 0.30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Совпадение must/nice навыков потребности, must весят втрое. Никаких навыков «по словам резюме».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ФСП — 0.20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Достижения из реестра ФСП бустят ранжирование внутри грейда. Нет истории — ноль без штрафа.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Свежесть — 0.10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Экспоненциальный декай от активности: тесты, задания, обновления профиля. Рынок видит «живых» кандидатов.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chemeClr val="lt1"/>
                </a:solidFill>
              </a:rPr>
              <a:t>Механика подбора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Вход через FSP ID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Мок-OIDC: authorize, код, токен, профиль с достижениями. Боевой Keycloak — замена одним конфигом, backend не меняется.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Честный fsp_score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По рекомендации ФСП дисциплины не ранжируем: считаем результативность и число, затухание за повторные явки, потолок 1.0. Буст ранжирования, не грейда.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Кейс «нет истории»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404 — первоклассный сценарий: подсказка привязать FSP ID, fsp_score = 0 без штрафа, фильтр «есть достижения» корректно исключает.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>
                <a:solidFill>
                  <a:schemeClr val="accent5"/>
                </a:solidFill>
              </a:rPr>
              <a:t>Интеграция с ФСП: от мока к боевому реестру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r>
              <a:rPr>
                <a:solidFill>
                  <a:schemeClr val="tx1"/>
                </a:solidFill>
              </a:rPr>
              <a:t>Соответствие 152-ФЗ из коробки: весь контур в юрисдикции РФ — хостинг (Selectel) и LLM (Cloud.ru, ДЦ РФ); ПДн не покидают контур, перед LLM текст обезличен; согласия пользователей — в онбординге.</a:t>
            </a:r>
          </a:p>
          <a:p/>
          <a:p>
            <a:r>
              <a:rPr>
                <a:solidFill>
                  <a:schemeClr val="tx1"/>
                </a:solidFill>
              </a:rPr>
              <a:t>Пилот с ФСП: платформа готова к подключению боевого реестра — меняется только конфиг адаптера, код не трогаем.</a:t>
            </a:r>
          </a:p>
          <a:p/>
          <a:p>
            <a:r>
              <a:rPr>
                <a:solidFill>
                  <a:schemeClr val="tx1"/>
                </a:solidFill>
              </a:rPr>
              <a:t>Стенд жюри: docker compose up -d --build, ресед одной командой, экспресс-тест для прохождения своими руками.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Боевой FSP ID / Keycloak — замена мока одним конфигом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ATS-ready открытый API: синхронизация вакансий и откликов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MCP-сервер: подбор и приглашения из ИИ-агентов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Регулярные задания работодателей — профиль не протухает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Пилот: верификация грейдов на закрытом наборе ФСП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chemeClr val="lt1"/>
                </a:solidFill>
              </a:rPr>
              <a:t>Внедрение и пилот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96.7% — стабильность грейда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порог 80% · test-retest, 3 прогона на агента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0.972 — Spearman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порог 0.85 · разделяющая сила θ, 300 синтетических агентов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0.85 — Precision@5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порог 0.8 · размеченный набор «потребность × кандидаты»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202 автотеста · смоук 14 шагов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302 сид-кандидата · ресед одной командой перед защитой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chemeClr val="accent5"/>
                </a:solidFill>
              </a:rPr>
              <a:t>Валидация: все метрики выше порогов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Односторонний поток</a:t>
            </a:r>
          </a:p>
          <a:p>
            <a:r>
              <a:rPr>
                <a:solidFill>
                  <a:schemeClr val="tx1"/>
                </a:solidFill>
              </a:rPr>
              <a:t>Кандидат шлёт отклики в никуда, работодатель тонет в нерелевантных резюме. ТЗ ФСП требует обратную механику: приглашать, а не откликаться.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Зарплата непрозрачна</a:t>
            </a:r>
          </a:p>
          <a:p>
            <a:r>
              <a:rPr>
                <a:solidFill>
                  <a:schemeClr val="tx1"/>
                </a:solidFill>
              </a:rPr>
              <a:t>Вилку узнают на собеседовании — обе стороны теряют время. ТЗ требует: вилка обязательна и видна кандидату до ответа.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Навыки по словам резюме</a:t>
            </a:r>
          </a:p>
          <a:p>
            <a:r>
              <a:rPr>
                <a:solidFill>
                  <a:schemeClr val="tx1"/>
                </a:solidFill>
              </a:rPr>
              <a:t>Стаж в годах не равен уровню: заявленный грейд никто не проверяет. Нужна объективная верификация навыков тестом.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1600">
                <a:solidFill>
                  <a:schemeClr val="lt1"/>
                </a:solidFill>
              </a:rPr>
              <a:t>Проблема: три боли рынка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 sz="1400">
                <a:solidFill>
                  <a:schemeClr val="accent5"/>
                </a:solidFill>
              </a:rPr>
              <a:t>Запрос работодателя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rPr sz="1100">
                <a:solidFill>
                  <a:schemeClr val="tx1"/>
                </a:solidFill>
              </a:rPr>
              <a:t>Свободный текст: «python middle с kubernetes». LLM извлекает структуру — работодатель подтверждает «мы поняли так».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 sz="1400">
                <a:solidFill>
                  <a:schemeClr val="accent5"/>
                </a:solidFill>
              </a:rPr>
              <a:t>Поиск по категориям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rPr sz="1100">
                <a:solidFill>
                  <a:schemeClr val="tx1"/>
                </a:solidFill>
              </a:rPr>
              <a:t>7 специализаций × 4 грейда; категория = spec × грейд, подтверждённый тестом. Контакты кандидата скрыты.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 sz="1400">
                <a:solidFill>
                  <a:schemeClr val="accent5"/>
                </a:solidFill>
              </a:rPr>
              <a:t>Объяснимая подборка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rPr sz="1100">
                <a:solidFill>
                  <a:schemeClr val="tx1"/>
                </a:solidFill>
              </a:rPr>
              <a:t>Score = 0.4·тест + 0.3·стек + 0.2·ФСП + 0.1·свежесть; панель «Почему в подборке», виджет «вилка vs рынок».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 sz="1400">
                <a:solidFill>
                  <a:schemeClr val="accent5"/>
                </a:solidFill>
              </a:rPr>
              <a:t>Приглашение + вилка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rPr sz="1100">
                <a:solidFill>
                  <a:schemeClr val="tx1"/>
                </a:solidFill>
              </a:rPr>
              <a:t>Адресное приглашение с обязательной ЗП-вилкой. Кандидат видит условия до ответа.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 sz="1400">
                <a:solidFill>
                  <a:schemeClr val="accent5"/>
                </a:solidFill>
              </a:rPr>
              <a:t>Взаимный выбор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rPr sz="1100">
                <a:solidFill>
                  <a:schemeClr val="tx1"/>
                </a:solidFill>
              </a:rPr>
              <a:t>Кандидат принимает — контакты раскрываются обеим сторонам. Отказ — без последствий и спама.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chemeClr val="lt1"/>
                </a:solidFill>
              </a:rPr>
              <a:t>Обратная механика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>
                <a:solidFill>
                  <a:schemeClr val="tx1"/>
                </a:solidFill>
              </a:rPr>
              <a:t>1 · Работодатель: потребность — подборка с объяснением — приглашение с вилкой ЗП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>
                <a:solidFill>
                  <a:schemeClr val="tx1"/>
                </a:solidFill>
              </a:rPr>
              <a:t>2 · Кандидат: экспресс-тест 4 вопроса (~3 мин) — категория — приглашение с вилкой крупно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>
                <a:solidFill>
                  <a:schemeClr val="tx1"/>
                </a:solidFill>
              </a:rPr>
              <a:t>3 · Сходимость: кандидат принимает — контакты раскрываются обеим сторонам</a:t>
            </a: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chemeClr val="lt1"/>
                </a:solidFill>
              </a:rPr>
              <a:t>Живая демо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8252" y="1204538"/>
            <a:ext cx="4051334" cy="29573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b="0" sz="1600">
                <a:solidFill>
                  <a:schemeClr val="tx1"/>
                </a:solidFill>
              </a:rPr>
              <a:t>piratehunter.fun</a:t>
            </a:r>
          </a:p>
          <a:p>
            <a:pPr algn="ctr"/>
          </a:p>
          <a:p>
            <a:pPr algn="ctr"/>
            <a:r>
              <a:rPr b="0" sz="1600">
                <a:solidFill>
                  <a:schemeClr val="tx1"/>
                </a:solidFill>
              </a:rPr>
              <a:t>вход по e-mail-коду или FSP ID</a:t>
            </a:r>
          </a:p>
          <a:p>
            <a:pPr algn="ctr"/>
          </a:p>
          <a:p>
            <a:pPr algn="ctr"/>
            <a:r>
              <a:rPr b="0" sz="1600">
                <a:solidFill>
                  <a:schemeClr val="tx1"/>
                </a:solidFill>
              </a:rPr>
              <a:t>Демо-аккаунты для жюри:</a:t>
            </a:r>
          </a:p>
          <a:p>
            <a:pPr algn="ctr"/>
            <a:r>
              <a:rPr b="0" sz="1600">
                <a:solidFill>
                  <a:schemeClr val="tx1"/>
                </a:solidFill>
              </a:rPr>
              <a:t>кандидат с ФСП</a:t>
            </a:r>
          </a:p>
          <a:p>
            <a:pPr algn="ctr"/>
            <a:r>
              <a:rPr b="0" sz="1600">
                <a:solidFill>
                  <a:schemeClr val="tx1"/>
                </a:solidFill>
              </a:rPr>
              <a:t>кандидат без ФСП</a:t>
            </a:r>
          </a:p>
          <a:p>
            <a:pPr algn="ctr"/>
            <a:r>
              <a:rPr b="0" sz="1600">
                <a:solidFill>
                  <a:schemeClr val="tx1"/>
                </a:solidFill>
              </a:rPr>
              <a:t>работодатель</a:t>
            </a: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/>
          <a:lstStyle/>
          <a:p>
            <a:r>
              <a:rPr b="1">
                <a:solidFill>
                  <a:schemeClr val="tx1"/>
                </a:solidFill>
              </a:rPr>
              <a:t>Подборка работодателя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/>
          <a:lstStyle/>
          <a:p>
            <a:r>
              <a:rPr b="1">
                <a:solidFill>
                  <a:schemeClr val="tx1"/>
                </a:solidFill>
              </a:rPr>
              <a:t>Тест кандидата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/>
          <a:lstStyle/>
          <a:p>
            <a:r>
              <a:rPr b="1">
                <a:solidFill>
                  <a:schemeClr val="tx1"/>
                </a:solidFill>
              </a:rPr>
              <a:t>Приглашение у кандидата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/>
          <a:lstStyle/>
          <a:p>
            <a:r>
              <a:rPr b="1">
                <a:solidFill>
                  <a:schemeClr val="tx1"/>
                </a:solidFill>
              </a:rPr>
              <a:t>Категория кандидата</a:t>
            </a:r>
          </a:p>
        </p:txBody>
      </p: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31250022-45D9-F12D-3C47-EF28765F4C31}"/>
              </a:ext>
            </a:extLst>
          </p:cNvPr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>
              <a:extLst>
                <a:ext uri="{FF2B5EF4-FFF2-40B4-BE49-F238E27FC236}">
                  <a16:creationId xmlns:a16="http://schemas.microsoft.com/office/drawing/2014/main" id="{24AEA150-DD4F-B078-FF83-FEE03143696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4" name="Полилиния: фигура 14">
              <a:extLst>
                <a:ext uri="{FF2B5EF4-FFF2-40B4-BE49-F238E27FC236}">
                  <a16:creationId xmlns:a16="http://schemas.microsoft.com/office/drawing/2014/main" id="{99E94FA1-5BB5-0D58-4BBD-DE5C76358423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5" name="Полилиния: фигура 15">
              <a:extLst>
                <a:ext uri="{FF2B5EF4-FFF2-40B4-BE49-F238E27FC236}">
                  <a16:creationId xmlns:a16="http://schemas.microsoft.com/office/drawing/2014/main" id="{EC571396-05D0-35C1-5295-C7D257F4D92F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6" name="Полилиния: фигура 16">
              <a:extLst>
                <a:ext uri="{FF2B5EF4-FFF2-40B4-BE49-F238E27FC236}">
                  <a16:creationId xmlns:a16="http://schemas.microsoft.com/office/drawing/2014/main" id="{9B732ADF-E9DA-13D4-42DD-BC54854010DA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7" name="Полилиния: фигура 17">
              <a:extLst>
                <a:ext uri="{FF2B5EF4-FFF2-40B4-BE49-F238E27FC236}">
                  <a16:creationId xmlns:a16="http://schemas.microsoft.com/office/drawing/2014/main" id="{0678F81A-528D-A550-D258-6BBE42EEC68D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8" name="Полилиния: фигура 18">
              <a:extLst>
                <a:ext uri="{FF2B5EF4-FFF2-40B4-BE49-F238E27FC236}">
                  <a16:creationId xmlns:a16="http://schemas.microsoft.com/office/drawing/2014/main" id="{25414295-E7C9-1A32-CA87-C03CF520D7C8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9" name="Полилиния: фигура 19">
              <a:extLst>
                <a:ext uri="{FF2B5EF4-FFF2-40B4-BE49-F238E27FC236}">
                  <a16:creationId xmlns:a16="http://schemas.microsoft.com/office/drawing/2014/main" id="{E8A820F9-852B-9D6F-4958-7115D82B78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0" name="Полилиния: фигура 20">
              <a:extLst>
                <a:ext uri="{FF2B5EF4-FFF2-40B4-BE49-F238E27FC236}">
                  <a16:creationId xmlns:a16="http://schemas.microsoft.com/office/drawing/2014/main" id="{A1CF9CF3-386D-EAF7-4826-6711831475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1" name="Полилиния: фигура 21">
              <a:extLst>
                <a:ext uri="{FF2B5EF4-FFF2-40B4-BE49-F238E27FC236}">
                  <a16:creationId xmlns:a16="http://schemas.microsoft.com/office/drawing/2014/main" id="{96508A4E-34F4-C72C-8A4A-3D35D6C3DB3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2" name="Полилиния: фигура 22">
              <a:extLst>
                <a:ext uri="{FF2B5EF4-FFF2-40B4-BE49-F238E27FC236}">
                  <a16:creationId xmlns:a16="http://schemas.microsoft.com/office/drawing/2014/main" id="{51EB21C3-71D0-415B-6856-697384359B8F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3" name="Полилиния: фигура 23">
              <a:extLst>
                <a:ext uri="{FF2B5EF4-FFF2-40B4-BE49-F238E27FC236}">
                  <a16:creationId xmlns:a16="http://schemas.microsoft.com/office/drawing/2014/main" id="{0466A1BA-47FF-C618-565D-0CBFDCEEC700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4" name="Полилиния: фигура 24">
              <a:extLst>
                <a:ext uri="{FF2B5EF4-FFF2-40B4-BE49-F238E27FC236}">
                  <a16:creationId xmlns:a16="http://schemas.microsoft.com/office/drawing/2014/main" id="{75E55049-DE9B-98AC-BB13-FCA1570B68F3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5" name="Полилиния: фигура 25">
              <a:extLst>
                <a:ext uri="{FF2B5EF4-FFF2-40B4-BE49-F238E27FC236}">
                  <a16:creationId xmlns:a16="http://schemas.microsoft.com/office/drawing/2014/main" id="{CF905F48-77CA-03E7-97ED-1F92F9A828BD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6" name="Полилиния: фигура 26">
              <a:extLst>
                <a:ext uri="{FF2B5EF4-FFF2-40B4-BE49-F238E27FC236}">
                  <a16:creationId xmlns:a16="http://schemas.microsoft.com/office/drawing/2014/main" id="{CEBF0B75-055D-4965-772F-47AD1E433B6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7" name="Полилиния: фигура 27">
              <a:extLst>
                <a:ext uri="{FF2B5EF4-FFF2-40B4-BE49-F238E27FC236}">
                  <a16:creationId xmlns:a16="http://schemas.microsoft.com/office/drawing/2014/main" id="{F00C9732-1E60-E852-DA70-EE392525EF29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8" name="Полилиния: фигура 28">
              <a:extLst>
                <a:ext uri="{FF2B5EF4-FFF2-40B4-BE49-F238E27FC236}">
                  <a16:creationId xmlns:a16="http://schemas.microsoft.com/office/drawing/2014/main" id="{5AFC5E81-BD49-8854-AE72-7FFF0DE9D257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9" name="Полилиния: фигура 29">
              <a:extLst>
                <a:ext uri="{FF2B5EF4-FFF2-40B4-BE49-F238E27FC236}">
                  <a16:creationId xmlns:a16="http://schemas.microsoft.com/office/drawing/2014/main" id="{476EA956-DA6E-38F4-E41E-39CD4275DD9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0" name="Полилиния: фигура 30">
              <a:extLst>
                <a:ext uri="{FF2B5EF4-FFF2-40B4-BE49-F238E27FC236}">
                  <a16:creationId xmlns:a16="http://schemas.microsoft.com/office/drawing/2014/main" id="{38BA4330-968A-CD08-C32A-1AB62BA4060E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1" name="Полилиния: фигура 31">
              <a:extLst>
                <a:ext uri="{FF2B5EF4-FFF2-40B4-BE49-F238E27FC236}">
                  <a16:creationId xmlns:a16="http://schemas.microsoft.com/office/drawing/2014/main" id="{139C8CA0-F4D9-106C-2539-EAC9FFE03A98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42" name="Рисунок 141">
              <a:extLst>
                <a:ext uri="{FF2B5EF4-FFF2-40B4-BE49-F238E27FC236}">
                  <a16:creationId xmlns:a16="http://schemas.microsoft.com/office/drawing/2014/main" id="{B710F069-E351-BE87-1018-2661A76A8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>
              <a:extLst>
                <a:ext uri="{FF2B5EF4-FFF2-40B4-BE49-F238E27FC236}">
                  <a16:creationId xmlns:a16="http://schemas.microsoft.com/office/drawing/2014/main" id="{71E4939B-0E00-8909-8012-C8043D8DCAD7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4" name="Полилиния: фигура 34">
              <a:extLst>
                <a:ext uri="{FF2B5EF4-FFF2-40B4-BE49-F238E27FC236}">
                  <a16:creationId xmlns:a16="http://schemas.microsoft.com/office/drawing/2014/main" id="{5C4DB02A-9E60-644A-BD04-122262EA9C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5" name="Полилиния: фигура 35">
              <a:extLst>
                <a:ext uri="{FF2B5EF4-FFF2-40B4-BE49-F238E27FC236}">
                  <a16:creationId xmlns:a16="http://schemas.microsoft.com/office/drawing/2014/main" id="{A8C103F3-04F0-28A6-D985-85A41641334F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6" name="Полилиния: фигура 36">
              <a:extLst>
                <a:ext uri="{FF2B5EF4-FFF2-40B4-BE49-F238E27FC236}">
                  <a16:creationId xmlns:a16="http://schemas.microsoft.com/office/drawing/2014/main" id="{672B7A39-41AC-BB07-5409-21F650DF0E89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47" name="Группа 146">
            <a:extLst>
              <a:ext uri="{FF2B5EF4-FFF2-40B4-BE49-F238E27FC236}">
                <a16:creationId xmlns:a16="http://schemas.microsoft.com/office/drawing/2014/main" id="{6F6876AF-B1D2-D1B1-91CC-C9E4B6B41445}"/>
              </a:ext>
            </a:extLst>
          </p:cNvPr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>
              <a:extLst>
                <a:ext uri="{FF2B5EF4-FFF2-40B4-BE49-F238E27FC236}">
                  <a16:creationId xmlns:a16="http://schemas.microsoft.com/office/drawing/2014/main" id="{E8AC8241-89F5-74DB-F469-C2BA9BE0C024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49" name="Полилиния: фигура 14">
              <a:extLst>
                <a:ext uri="{FF2B5EF4-FFF2-40B4-BE49-F238E27FC236}">
                  <a16:creationId xmlns:a16="http://schemas.microsoft.com/office/drawing/2014/main" id="{84434B8C-47C7-6BE9-D4B7-0B893BCC5BD5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0" name="Полилиния: фигура 15">
              <a:extLst>
                <a:ext uri="{FF2B5EF4-FFF2-40B4-BE49-F238E27FC236}">
                  <a16:creationId xmlns:a16="http://schemas.microsoft.com/office/drawing/2014/main" id="{5263283D-705A-5613-18ED-E80BDE52AFCA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6">
              <a:extLst>
                <a:ext uri="{FF2B5EF4-FFF2-40B4-BE49-F238E27FC236}">
                  <a16:creationId xmlns:a16="http://schemas.microsoft.com/office/drawing/2014/main" id="{744D4512-D838-3AD8-499E-05E6B87490C1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7">
              <a:extLst>
                <a:ext uri="{FF2B5EF4-FFF2-40B4-BE49-F238E27FC236}">
                  <a16:creationId xmlns:a16="http://schemas.microsoft.com/office/drawing/2014/main" id="{57B1D57F-7138-34E6-ADEF-6E34A735ABB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8">
              <a:extLst>
                <a:ext uri="{FF2B5EF4-FFF2-40B4-BE49-F238E27FC236}">
                  <a16:creationId xmlns:a16="http://schemas.microsoft.com/office/drawing/2014/main" id="{F820A8CD-CB50-CF85-631E-0D2ABB0DA0AE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9">
              <a:extLst>
                <a:ext uri="{FF2B5EF4-FFF2-40B4-BE49-F238E27FC236}">
                  <a16:creationId xmlns:a16="http://schemas.microsoft.com/office/drawing/2014/main" id="{E04E2701-FE1E-5CC3-36AF-B4B9D29FD242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20">
              <a:extLst>
                <a:ext uri="{FF2B5EF4-FFF2-40B4-BE49-F238E27FC236}">
                  <a16:creationId xmlns:a16="http://schemas.microsoft.com/office/drawing/2014/main" id="{8CD1AA2D-A392-D1E3-DF78-0AEA26501D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21">
              <a:extLst>
                <a:ext uri="{FF2B5EF4-FFF2-40B4-BE49-F238E27FC236}">
                  <a16:creationId xmlns:a16="http://schemas.microsoft.com/office/drawing/2014/main" id="{2C59B60B-FC7B-96E9-43B4-E6248B35E7F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22">
              <a:extLst>
                <a:ext uri="{FF2B5EF4-FFF2-40B4-BE49-F238E27FC236}">
                  <a16:creationId xmlns:a16="http://schemas.microsoft.com/office/drawing/2014/main" id="{C1F8F87E-2226-19FB-7129-485EFF2952F3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23">
              <a:extLst>
                <a:ext uri="{FF2B5EF4-FFF2-40B4-BE49-F238E27FC236}">
                  <a16:creationId xmlns:a16="http://schemas.microsoft.com/office/drawing/2014/main" id="{19CF104F-7F1A-9575-3974-58D1C393CB8C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24">
              <a:extLst>
                <a:ext uri="{FF2B5EF4-FFF2-40B4-BE49-F238E27FC236}">
                  <a16:creationId xmlns:a16="http://schemas.microsoft.com/office/drawing/2014/main" id="{08D91672-4E5C-7BA4-1CE5-A30F3A8D8B90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25">
              <a:extLst>
                <a:ext uri="{FF2B5EF4-FFF2-40B4-BE49-F238E27FC236}">
                  <a16:creationId xmlns:a16="http://schemas.microsoft.com/office/drawing/2014/main" id="{0E644CEA-C8F9-E939-4113-FFB9CC6A10CB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26">
              <a:extLst>
                <a:ext uri="{FF2B5EF4-FFF2-40B4-BE49-F238E27FC236}">
                  <a16:creationId xmlns:a16="http://schemas.microsoft.com/office/drawing/2014/main" id="{A9463AC2-3CBD-AD7F-C2FC-3E6B8898F61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27">
              <a:extLst>
                <a:ext uri="{FF2B5EF4-FFF2-40B4-BE49-F238E27FC236}">
                  <a16:creationId xmlns:a16="http://schemas.microsoft.com/office/drawing/2014/main" id="{A0B742DC-234C-DFDF-1731-F5483C135F77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3" name="Полилиния: фигура 28">
              <a:extLst>
                <a:ext uri="{FF2B5EF4-FFF2-40B4-BE49-F238E27FC236}">
                  <a16:creationId xmlns:a16="http://schemas.microsoft.com/office/drawing/2014/main" id="{295E8F4E-2D3F-0442-68E4-45516C2C0F7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4" name="Полилиния: фигура 29">
              <a:extLst>
                <a:ext uri="{FF2B5EF4-FFF2-40B4-BE49-F238E27FC236}">
                  <a16:creationId xmlns:a16="http://schemas.microsoft.com/office/drawing/2014/main" id="{EC3523CB-F469-D234-C98C-68A35D5DC1EE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5" name="Полилиния: фигура 30">
              <a:extLst>
                <a:ext uri="{FF2B5EF4-FFF2-40B4-BE49-F238E27FC236}">
                  <a16:creationId xmlns:a16="http://schemas.microsoft.com/office/drawing/2014/main" id="{C1E692C9-11C7-FD16-0691-269E9730C0D7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Полилиния: фигура 31">
              <a:extLst>
                <a:ext uri="{FF2B5EF4-FFF2-40B4-BE49-F238E27FC236}">
                  <a16:creationId xmlns:a16="http://schemas.microsoft.com/office/drawing/2014/main" id="{8A8BCBC3-F8B9-E268-FA91-BE0B91504CB7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67" name="Рисунок 166">
              <a:extLst>
                <a:ext uri="{FF2B5EF4-FFF2-40B4-BE49-F238E27FC236}">
                  <a16:creationId xmlns:a16="http://schemas.microsoft.com/office/drawing/2014/main" id="{275DD60F-C19A-9738-1499-379E38B89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>
              <a:extLst>
                <a:ext uri="{FF2B5EF4-FFF2-40B4-BE49-F238E27FC236}">
                  <a16:creationId xmlns:a16="http://schemas.microsoft.com/office/drawing/2014/main" id="{0C1A32E6-71CE-D73A-D08C-E614CC7D3E3D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9" name="Полилиния: фигура 34">
              <a:extLst>
                <a:ext uri="{FF2B5EF4-FFF2-40B4-BE49-F238E27FC236}">
                  <a16:creationId xmlns:a16="http://schemas.microsoft.com/office/drawing/2014/main" id="{F634A189-F19F-9C70-5515-9E924535DC9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0" name="Полилиния: фигура 35">
              <a:extLst>
                <a:ext uri="{FF2B5EF4-FFF2-40B4-BE49-F238E27FC236}">
                  <a16:creationId xmlns:a16="http://schemas.microsoft.com/office/drawing/2014/main" id="{FEC821A6-0C1B-A5D1-4EE3-7BC96AF6DC8D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1" name="Полилиния: фигура 36">
              <a:extLst>
                <a:ext uri="{FF2B5EF4-FFF2-40B4-BE49-F238E27FC236}">
                  <a16:creationId xmlns:a16="http://schemas.microsoft.com/office/drawing/2014/main" id="{DCBB9EDB-AF53-F46A-71B2-6496483F87B8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2" name="Группа 171">
            <a:extLst>
              <a:ext uri="{FF2B5EF4-FFF2-40B4-BE49-F238E27FC236}">
                <a16:creationId xmlns:a16="http://schemas.microsoft.com/office/drawing/2014/main" id="{28B88200-E25B-E61C-1E68-2D2C2B01BCE5}"/>
              </a:ext>
            </a:extLst>
          </p:cNvPr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>
              <a:extLst>
                <a:ext uri="{FF2B5EF4-FFF2-40B4-BE49-F238E27FC236}">
                  <a16:creationId xmlns:a16="http://schemas.microsoft.com/office/drawing/2014/main" id="{A9CDA20E-DC0B-7574-8A53-2FE5A69E3137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4" name="Полилиния: фигура 14">
              <a:extLst>
                <a:ext uri="{FF2B5EF4-FFF2-40B4-BE49-F238E27FC236}">
                  <a16:creationId xmlns:a16="http://schemas.microsoft.com/office/drawing/2014/main" id="{C6EDF764-F67B-E72A-96F7-9AD40839714F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5" name="Полилиния: фигура 15">
              <a:extLst>
                <a:ext uri="{FF2B5EF4-FFF2-40B4-BE49-F238E27FC236}">
                  <a16:creationId xmlns:a16="http://schemas.microsoft.com/office/drawing/2014/main" id="{3FAA0615-8C83-2C58-58C1-270E46BD11DD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6" name="Полилиния: фигура 16">
              <a:extLst>
                <a:ext uri="{FF2B5EF4-FFF2-40B4-BE49-F238E27FC236}">
                  <a16:creationId xmlns:a16="http://schemas.microsoft.com/office/drawing/2014/main" id="{6DA7610E-8695-F698-FBE5-F1EA1A34BCA3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7" name="Полилиния: фигура 17">
              <a:extLst>
                <a:ext uri="{FF2B5EF4-FFF2-40B4-BE49-F238E27FC236}">
                  <a16:creationId xmlns:a16="http://schemas.microsoft.com/office/drawing/2014/main" id="{C2B0886E-C1A1-F8FB-DE0A-7E00B1A7012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8" name="Полилиния: фигура 18">
              <a:extLst>
                <a:ext uri="{FF2B5EF4-FFF2-40B4-BE49-F238E27FC236}">
                  <a16:creationId xmlns:a16="http://schemas.microsoft.com/office/drawing/2014/main" id="{F6E82E9D-82A0-F318-F846-F9AA582ADCE6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9" name="Полилиния: фигура 19">
              <a:extLst>
                <a:ext uri="{FF2B5EF4-FFF2-40B4-BE49-F238E27FC236}">
                  <a16:creationId xmlns:a16="http://schemas.microsoft.com/office/drawing/2014/main" id="{6CD40789-5D3D-6EE9-2675-745C2BDC65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0" name="Полилиния: фигура 20">
              <a:extLst>
                <a:ext uri="{FF2B5EF4-FFF2-40B4-BE49-F238E27FC236}">
                  <a16:creationId xmlns:a16="http://schemas.microsoft.com/office/drawing/2014/main" id="{158DFE1D-B6C8-7D8D-1E07-17C4E0EEF55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1" name="Полилиния: фигура 21">
              <a:extLst>
                <a:ext uri="{FF2B5EF4-FFF2-40B4-BE49-F238E27FC236}">
                  <a16:creationId xmlns:a16="http://schemas.microsoft.com/office/drawing/2014/main" id="{D8DEFA81-42B3-5DA3-7630-FDBDF31D670E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2" name="Полилиния: фигура 22">
              <a:extLst>
                <a:ext uri="{FF2B5EF4-FFF2-40B4-BE49-F238E27FC236}">
                  <a16:creationId xmlns:a16="http://schemas.microsoft.com/office/drawing/2014/main" id="{BB1811A3-3629-FDD8-6775-7826417B17BB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3" name="Полилиния: фигура 23">
              <a:extLst>
                <a:ext uri="{FF2B5EF4-FFF2-40B4-BE49-F238E27FC236}">
                  <a16:creationId xmlns:a16="http://schemas.microsoft.com/office/drawing/2014/main" id="{0C885996-2D3E-94A9-F80B-759C2B77BEFD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4" name="Полилиния: фигура 24">
              <a:extLst>
                <a:ext uri="{FF2B5EF4-FFF2-40B4-BE49-F238E27FC236}">
                  <a16:creationId xmlns:a16="http://schemas.microsoft.com/office/drawing/2014/main" id="{7A637849-F366-366B-2B72-613C030A10ED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25">
              <a:extLst>
                <a:ext uri="{FF2B5EF4-FFF2-40B4-BE49-F238E27FC236}">
                  <a16:creationId xmlns:a16="http://schemas.microsoft.com/office/drawing/2014/main" id="{110EFEA7-7F4A-95B8-43B8-6F88654392F3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6" name="Полилиния: фигура 26">
              <a:extLst>
                <a:ext uri="{FF2B5EF4-FFF2-40B4-BE49-F238E27FC236}">
                  <a16:creationId xmlns:a16="http://schemas.microsoft.com/office/drawing/2014/main" id="{6775B6E1-3AE7-DCB7-993C-A3BB57DEB079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7">
              <a:extLst>
                <a:ext uri="{FF2B5EF4-FFF2-40B4-BE49-F238E27FC236}">
                  <a16:creationId xmlns:a16="http://schemas.microsoft.com/office/drawing/2014/main" id="{A1B076D4-6F0A-6994-8304-90264BE47B6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8">
              <a:extLst>
                <a:ext uri="{FF2B5EF4-FFF2-40B4-BE49-F238E27FC236}">
                  <a16:creationId xmlns:a16="http://schemas.microsoft.com/office/drawing/2014/main" id="{03D70E49-6A46-60F0-235C-230EB8697FFF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9" name="Полилиния: фигура 29">
              <a:extLst>
                <a:ext uri="{FF2B5EF4-FFF2-40B4-BE49-F238E27FC236}">
                  <a16:creationId xmlns:a16="http://schemas.microsoft.com/office/drawing/2014/main" id="{638DC947-2E6A-E1E4-48C6-C82F296AF48F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0" name="Полилиния: фигура 30">
              <a:extLst>
                <a:ext uri="{FF2B5EF4-FFF2-40B4-BE49-F238E27FC236}">
                  <a16:creationId xmlns:a16="http://schemas.microsoft.com/office/drawing/2014/main" id="{2133978C-A68D-962F-7B3F-8C121D583304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1" name="Полилиния: фигура 31">
              <a:extLst>
                <a:ext uri="{FF2B5EF4-FFF2-40B4-BE49-F238E27FC236}">
                  <a16:creationId xmlns:a16="http://schemas.microsoft.com/office/drawing/2014/main" id="{E7337AD2-C975-8EEA-309F-C9BEC7D9B80A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92" name="Рисунок 191">
              <a:extLst>
                <a:ext uri="{FF2B5EF4-FFF2-40B4-BE49-F238E27FC236}">
                  <a16:creationId xmlns:a16="http://schemas.microsoft.com/office/drawing/2014/main" id="{EBC94221-5003-CC9C-1BA6-39584F78B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>
              <a:extLst>
                <a:ext uri="{FF2B5EF4-FFF2-40B4-BE49-F238E27FC236}">
                  <a16:creationId xmlns:a16="http://schemas.microsoft.com/office/drawing/2014/main" id="{D717B4FB-A27A-CAA6-3D77-01AD01672953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4" name="Полилиния: фигура 34">
              <a:extLst>
                <a:ext uri="{FF2B5EF4-FFF2-40B4-BE49-F238E27FC236}">
                  <a16:creationId xmlns:a16="http://schemas.microsoft.com/office/drawing/2014/main" id="{34C8B6EF-76B0-66A8-48F8-451128B8EF5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5" name="Полилиния: фигура 35">
              <a:extLst>
                <a:ext uri="{FF2B5EF4-FFF2-40B4-BE49-F238E27FC236}">
                  <a16:creationId xmlns:a16="http://schemas.microsoft.com/office/drawing/2014/main" id="{C4E22E47-5653-9FC4-E418-B13F750799A0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6" name="Полилиния: фигура 36">
              <a:extLst>
                <a:ext uri="{FF2B5EF4-FFF2-40B4-BE49-F238E27FC236}">
                  <a16:creationId xmlns:a16="http://schemas.microsoft.com/office/drawing/2014/main" id="{288CF8AC-8E86-147B-676C-4A0A4618F6E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7" name="Группа 196">
            <a:extLst>
              <a:ext uri="{FF2B5EF4-FFF2-40B4-BE49-F238E27FC236}">
                <a16:creationId xmlns:a16="http://schemas.microsoft.com/office/drawing/2014/main" id="{09B9B184-25F2-7359-333D-5EB9A60B8EFD}"/>
              </a:ext>
            </a:extLst>
          </p:cNvPr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>
              <a:extLst>
                <a:ext uri="{FF2B5EF4-FFF2-40B4-BE49-F238E27FC236}">
                  <a16:creationId xmlns:a16="http://schemas.microsoft.com/office/drawing/2014/main" id="{E3F377FC-00D5-EF59-5B13-016CF3D10D8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9" name="Полилиния: фигура 14">
              <a:extLst>
                <a:ext uri="{FF2B5EF4-FFF2-40B4-BE49-F238E27FC236}">
                  <a16:creationId xmlns:a16="http://schemas.microsoft.com/office/drawing/2014/main" id="{FC792052-29C1-6D35-7F6B-79A599C639D7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0" name="Полилиния: фигура 15">
              <a:extLst>
                <a:ext uri="{FF2B5EF4-FFF2-40B4-BE49-F238E27FC236}">
                  <a16:creationId xmlns:a16="http://schemas.microsoft.com/office/drawing/2014/main" id="{E5A98475-EA25-67D6-4D5F-15BF00331AEB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1" name="Полилиния: фигура 16">
              <a:extLst>
                <a:ext uri="{FF2B5EF4-FFF2-40B4-BE49-F238E27FC236}">
                  <a16:creationId xmlns:a16="http://schemas.microsoft.com/office/drawing/2014/main" id="{81E5799A-EDA9-923F-4306-CDB07B346B8B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2" name="Полилиния: фигура 17">
              <a:extLst>
                <a:ext uri="{FF2B5EF4-FFF2-40B4-BE49-F238E27FC236}">
                  <a16:creationId xmlns:a16="http://schemas.microsoft.com/office/drawing/2014/main" id="{C8C06C37-DF23-F749-53E7-43DD5F9A34DA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3" name="Полилиния: фигура 18">
              <a:extLst>
                <a:ext uri="{FF2B5EF4-FFF2-40B4-BE49-F238E27FC236}">
                  <a16:creationId xmlns:a16="http://schemas.microsoft.com/office/drawing/2014/main" id="{18AB0B4B-8AF4-3CED-546E-8A0EDD0343AA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4" name="Полилиния: фигура 19">
              <a:extLst>
                <a:ext uri="{FF2B5EF4-FFF2-40B4-BE49-F238E27FC236}">
                  <a16:creationId xmlns:a16="http://schemas.microsoft.com/office/drawing/2014/main" id="{A09F4E37-B8CD-2EF9-2BDD-679C42F718DF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5" name="Полилиния: фигура 20">
              <a:extLst>
                <a:ext uri="{FF2B5EF4-FFF2-40B4-BE49-F238E27FC236}">
                  <a16:creationId xmlns:a16="http://schemas.microsoft.com/office/drawing/2014/main" id="{9D8C252F-C832-C60B-67B3-B6D013188DB3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6" name="Полилиния: фигура 21">
              <a:extLst>
                <a:ext uri="{FF2B5EF4-FFF2-40B4-BE49-F238E27FC236}">
                  <a16:creationId xmlns:a16="http://schemas.microsoft.com/office/drawing/2014/main" id="{FA7900B1-7A25-63CF-0588-70A25C00B663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7" name="Полилиния: фигура 22">
              <a:extLst>
                <a:ext uri="{FF2B5EF4-FFF2-40B4-BE49-F238E27FC236}">
                  <a16:creationId xmlns:a16="http://schemas.microsoft.com/office/drawing/2014/main" id="{EFB55E02-77C2-7DAA-FBBD-AAD9F92F0831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8" name="Полилиния: фигура 23">
              <a:extLst>
                <a:ext uri="{FF2B5EF4-FFF2-40B4-BE49-F238E27FC236}">
                  <a16:creationId xmlns:a16="http://schemas.microsoft.com/office/drawing/2014/main" id="{30535304-E628-32AB-C6BA-19E520C656BF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9" name="Полилиния: фигура 24">
              <a:extLst>
                <a:ext uri="{FF2B5EF4-FFF2-40B4-BE49-F238E27FC236}">
                  <a16:creationId xmlns:a16="http://schemas.microsoft.com/office/drawing/2014/main" id="{78104E2D-A620-47E2-40F3-A995004EE446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0" name="Полилиния: фигура 25">
              <a:extLst>
                <a:ext uri="{FF2B5EF4-FFF2-40B4-BE49-F238E27FC236}">
                  <a16:creationId xmlns:a16="http://schemas.microsoft.com/office/drawing/2014/main" id="{8EB92C67-7F68-803C-FB9E-2D13E650E6A1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1" name="Полилиния: фигура 26">
              <a:extLst>
                <a:ext uri="{FF2B5EF4-FFF2-40B4-BE49-F238E27FC236}">
                  <a16:creationId xmlns:a16="http://schemas.microsoft.com/office/drawing/2014/main" id="{3E0B4E90-F08C-B5ED-761E-838F2F9D531E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2" name="Полилиния: фигура 27">
              <a:extLst>
                <a:ext uri="{FF2B5EF4-FFF2-40B4-BE49-F238E27FC236}">
                  <a16:creationId xmlns:a16="http://schemas.microsoft.com/office/drawing/2014/main" id="{B6C8B631-B5E5-473B-FD01-2491F51BF4AA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3" name="Полилиния: фигура 28">
              <a:extLst>
                <a:ext uri="{FF2B5EF4-FFF2-40B4-BE49-F238E27FC236}">
                  <a16:creationId xmlns:a16="http://schemas.microsoft.com/office/drawing/2014/main" id="{380F7E94-40B3-49EA-38A2-A4683915276E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29">
              <a:extLst>
                <a:ext uri="{FF2B5EF4-FFF2-40B4-BE49-F238E27FC236}">
                  <a16:creationId xmlns:a16="http://schemas.microsoft.com/office/drawing/2014/main" id="{F9385ADB-6D1B-C79D-F5BB-B03F408AFC6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30">
              <a:extLst>
                <a:ext uri="{FF2B5EF4-FFF2-40B4-BE49-F238E27FC236}">
                  <a16:creationId xmlns:a16="http://schemas.microsoft.com/office/drawing/2014/main" id="{00D97A09-43D0-4152-831C-C7744B4FE7E6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31">
              <a:extLst>
                <a:ext uri="{FF2B5EF4-FFF2-40B4-BE49-F238E27FC236}">
                  <a16:creationId xmlns:a16="http://schemas.microsoft.com/office/drawing/2014/main" id="{83CFD5B5-DF45-F681-5596-E631C837531E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217" name="Рисунок 216">
              <a:extLst>
                <a:ext uri="{FF2B5EF4-FFF2-40B4-BE49-F238E27FC236}">
                  <a16:creationId xmlns:a16="http://schemas.microsoft.com/office/drawing/2014/main" id="{5AED15A4-4D29-1A14-4213-148543BBC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>
              <a:extLst>
                <a:ext uri="{FF2B5EF4-FFF2-40B4-BE49-F238E27FC236}">
                  <a16:creationId xmlns:a16="http://schemas.microsoft.com/office/drawing/2014/main" id="{D613CEB1-BB3C-206D-6D01-E1CB7887B429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9" name="Полилиния: фигура 34">
              <a:extLst>
                <a:ext uri="{FF2B5EF4-FFF2-40B4-BE49-F238E27FC236}">
                  <a16:creationId xmlns:a16="http://schemas.microsoft.com/office/drawing/2014/main" id="{69F35FD4-E9E3-2671-1E63-C0ECA01A6C97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0" name="Полилиния: фигура 35">
              <a:extLst>
                <a:ext uri="{FF2B5EF4-FFF2-40B4-BE49-F238E27FC236}">
                  <a16:creationId xmlns:a16="http://schemas.microsoft.com/office/drawing/2014/main" id="{6DDAF0B9-15C9-D0FE-7E34-9051A84DDBB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1" name="Полилиния: фигура 36">
              <a:extLst>
                <a:ext uri="{FF2B5EF4-FFF2-40B4-BE49-F238E27FC236}">
                  <a16:creationId xmlns:a16="http://schemas.microsoft.com/office/drawing/2014/main" id="{BB968C32-6E31-7C3C-54D5-B0EED92672B1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Демо: четыре экрана-победителя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17191" y="1346813"/>
            <a:ext cx="1581822" cy="3245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100">
                <a:solidFill>
                  <a:schemeClr val="lt1"/>
                </a:solidFill>
              </a:rPr>
              <a:t>Карточки кандидатов + раскрытая панель «Почему в подборке»: разложение score по факторам с цифрами; виджет «вилка vs рынок».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850724" y="1346813"/>
            <a:ext cx="1581822" cy="3245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100">
                <a:solidFill>
                  <a:schemeClr val="lt1"/>
                </a:solidFill>
              </a:rPr>
              <a:t>Прогресс «вопрос i из N», таймер, задание с подсветкой кода — ощущение живого адаптивного экзамена.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6819146" y="1346813"/>
            <a:ext cx="1581822" cy="3245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100">
                <a:solidFill>
                  <a:schemeClr val="lt1"/>
                </a:solidFill>
              </a:rPr>
              <a:t>Компания, текст и вилка ЗП крупно до ответа, кнопки «принять / отклонить» — отличие от hh одним экраном.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9695248" y="1326308"/>
            <a:ext cx="1581822" cy="3245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100">
                <a:solidFill>
                  <a:schemeClr val="lt1"/>
                </a:solidFill>
              </a:rPr>
              <a:t>spec × грейд, «подтверждено тестом от …», место в ранжировании категории, достижения ФСП.</a:t>
            </a:r>
          </a:p>
        </p:txBody>
      </p:sp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Спасибо!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1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piratehunter.fun — живой сервис</a:t>
            </a:r>
          </a:p>
          <a:p>
            <a:r>
              <a:t>вход по e-mail-коду или FSP ID · демо-аккаунты для жюри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
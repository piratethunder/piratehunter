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embeddedFontLst>
    <p:embeddedFont>
      <p:font typeface="Montserrat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597">
          <p15:clr>
            <a:srgbClr val="A4A3A4"/>
          </p15:clr>
        </p15:guide>
        <p15:guide id="2" pos="3591">
          <p15:clr>
            <a:srgbClr val="A4A3A4"/>
          </p15:clr>
        </p15:guide>
        <p15:guide id="3" pos="5496">
          <p15:clr>
            <a:srgbClr val="A4A3A4"/>
          </p15:clr>
        </p15:guide>
        <p15:guide id="4" pos="4112">
          <p15:clr>
            <a:srgbClr val="A4A3A4"/>
          </p15:clr>
        </p15:guide>
        <p15:guide id="5" pos="393">
          <p15:clr>
            <a:srgbClr val="A4A3A4"/>
          </p15:clr>
        </p15:guide>
        <p15:guide id="6" orient="horz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25" roundtripDataSignature="AMtx7mjUoDXiBaG3PK/etL0RobvZ7qzF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97"/>
        <p:guide pos="3591"/>
        <p:guide pos="5496"/>
        <p:guide pos="4112"/>
        <p:guide pos="393"/>
        <p:guide pos="2160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font" Target="fonts/Montserrat-regular.fntdata"/><Relationship Id="rId22" Type="http://schemas.openxmlformats.org/officeDocument/2006/relationships/font" Target="fonts/Montserrat-bold.fntdata"/><Relationship Id="rId23" Type="http://schemas.openxmlformats.org/officeDocument/2006/relationships/font" Target="fonts/Montserrat-italic.fntdata"/><Relationship Id="rId24" Type="http://schemas.openxmlformats.org/officeDocument/2006/relationships/font" Target="fonts/Montserrat-boldItalic.fntdata"/><Relationship Id="rId25" Type="http://customschemas.google.com/relationships/presentationmetadata" Target="metadata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353261129492993"/>
          <c:y val="0.12693525390367644"/>
          <c:w val="0.86424170750053264"/>
          <c:h val="0.66747142271661164"/>
        </c:manualLayout>
      </c:layout>
      <c:barChart>
        <c:barDir val="bar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Факт</c:v>
                </c:pt>
              </c:strCache>
            </c:strRef>
          </c:tx>
          <c:spPr>
            <a:solidFill>
              <a:schemeClr val="accent2"/>
            </a:solidFill>
            <a:ln w="63500">
              <a:solidFill>
                <a:schemeClr val="accent2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92C0-E743-BC6B-AB142BB83263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4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35E-4C45-8CA2-C11611997942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5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35E-4C45-8CA2-C11611997942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1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35E-4C45-8CA2-C11611997942}"/>
              </c:ext>
            </c:extLst>
          </c:dPt>
          <c:cat>
            <c:strRef>
              <c:f>Sheet1!$A$2:$A$4</c:f>
              <c:strCache>
                <c:ptCount val="3"/>
                <c:pt idx="0">
                  <c:v>Стабильность</c:v>
                </c:pt>
                <c:pt idx="1">
                  <c:v>Spearman</c:v>
                </c:pt>
                <c:pt idx="2">
                  <c:v>Precision@5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0.967</c:v>
                </c:pt>
                <c:pt idx="1">
                  <c:v>0.972</c:v>
                </c:pt>
                <c:pt idx="2">
                  <c:v>0.85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35E-4C45-8CA2-C11611997942}"/>
            </c:ext>
          </c:extLst>
        </c:ser>
        <c:ser>
          <c:idx val="2"/>
          <c:order val="1"/>
          <c:tx>
            <c:strRef>
              <c:f>Sheet1!$C$1</c:f>
              <c:strCache>
                <c:ptCount val="1"/>
                <c:pt idx="0">
                  <c:v>Порог приёмки</c:v>
                </c:pt>
              </c:strCache>
            </c:strRef>
          </c:tx>
          <c:spPr>
            <a:solidFill>
              <a:schemeClr val="accent2"/>
            </a:solidFill>
            <a:ln w="63500">
              <a:solidFill>
                <a:schemeClr val="accent2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92C0-E743-BC6B-AB142BB83263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4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35E-4C45-8CA2-C11611997942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5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35E-4C45-8CA2-C11611997942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1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35E-4C45-8CA2-C11611997942}"/>
              </c:ext>
            </c:extLst>
          </c:dPt>
          <c:cat>
            <c:strRef>
              <c:f>Sheet1!$A$2:$A$4</c:f>
              <c:strCache>
                <c:ptCount val="3"/>
                <c:pt idx="0">
                  <c:v>Стабильность</c:v>
                </c:pt>
                <c:pt idx="1">
                  <c:v>Spearman</c:v>
                </c:pt>
                <c:pt idx="2">
                  <c:v>Precision@5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0.8</c:v>
                </c:pt>
                <c:pt idx="1">
                  <c:v>0.85</c:v>
                </c:pt>
                <c:pt idx="2">
                  <c:v>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35E-4C45-8CA2-C116119979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688540351"/>
        <c:axId val="1173587135"/>
      </c:barChart>
      <c:catAx>
        <c:axId val="16885403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73587135"/>
        <c:crosses val="autoZero"/>
        <c:auto val="1"/>
        <c:lblAlgn val="ctr"/>
        <c:lblOffset val="100"/>
        <c:noMultiLvlLbl val="0"/>
      </c:catAx>
      <c:valAx>
        <c:axId val="1173587135"/>
        <c:scaling>
          <c:orientation val="minMax"/>
          <c:max val="1.0"/>
          <c:min val="0.0"/>
        </c:scaling>
        <c:delete val="0"/>
        <c:axPos val="b"/>
        <c:majorGridlines>
          <c:spPr>
            <a:ln w="9525" cap="flat" cmpd="sng" algn="ctr">
              <a:solidFill>
                <a:schemeClr val="tx1"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88540351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0:00–0:20 — Добрый день! Мы представляем PirateHunter — платформу-агрегатор ИТ-вакансий с верифицированным профилем достижений участников ФСП. Ключевая идея: развернуть рынок труда — не кандидат шлёт отклики, а работодатель находит и приглашает с честной зарплатной вилкой.</a:t>
            </a:r>
            <a:endParaRPr/>
          </a:p>
        </p:txBody>
      </p:sp>
      <p:sp>
        <p:nvSpPr>
          <p:cNvPr id="233" name="Google Shape;233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0:20–0:50 — Три боли классических агрегаторов. Первое: односторонний поток откликов. Второе: зарплата непрозрачна — вилку узнают на собеседовании. Третье: навыки берутся со слов резюме. Техзадание ФСП формулирует обратную механику, обязательную вилку и верификацию — именно так мы и построили сервис.</a:t>
            </a:r>
            <a:endParaRPr/>
          </a:p>
        </p:txBody>
      </p:sp>
      <p:sp>
        <p:nvSpPr>
          <p:cNvPr id="242" name="Google Shape;24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0:50–1:30 — Сквозной сценарий из пяти шагов. Работодатель описывает потребность свободным текстом — LLM превращает её в структуру, которую он подтверждает. Дальше поиск по категориям: семь специализаций на четыре грейда. Подборка с объяснением каждой цифры. Приглашение идёт с обязательной вилкой. И только когда кандидат принимает — контакты раскрываются обеим сторонам.</a:t>
            </a:r>
            <a:endParaRPr/>
          </a:p>
        </p:txBody>
      </p:sp>
      <p:sp>
        <p:nvSpPr>
          <p:cNvPr id="298" name="Google Shape;29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1:30–2:05 — Скоринг четырёхфакторный с фиксированными весами в конфиге: сорок процентов — подтверждённый тест, тридцать — совпадение стека, двадцать — достижения ФСП, десять — свежесть профиля. Каждый результат несёт панель «Почему в подборке» — разложение по факторам с цифрами, а рядом виджет «вилка против рынка по категории»: работодатель видит медиану до отправки приглашения.</a:t>
            </a:r>
            <a:endParaRPr/>
          </a:p>
        </p:txBody>
      </p:sp>
      <p:sp>
        <p:nvSpPr>
          <p:cNvPr id="335" name="Google Shape;33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2:05–2:35 — Грейд — это уровень навыков, а не стаж в годах, и присваивается он только тестом. Движок — CAT-lite на IRT-модели: оцениваем способность тета и сложность заданий бета, следующий вопрос подбираем максимально информативным. Останавливаемся при десяти вопросах или когда стандартная ошибка ниже ноль тридцати пяти сотых. Шаблоны параметризованные — уникальный экземпляр по сиду, банк пополняется генераторами. Для жюри — экспресс-режим на четыре вопроса.</a:t>
            </a:r>
            <a:endParaRPr/>
          </a:p>
        </p:txBody>
      </p:sp>
      <p:sp>
        <p:nvSpPr>
          <p:cNvPr id="359" name="Google Shape;35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2:35–3:00 — Валидация — собственная процедура с порогами, зафиксированными до прогона. Стабильность грейда при повторных тестах — девяносто шесть целых семь десятых процента при пороге восемьдесят. Разделяющая сила по Спирмену — ноль девятьсот семьдесят две сотых при пороге восемьдесят пять сотых. Точность топ-5 подборки — восемьдесят пять сотых при пороге восемь десятых. Плюс двести два автотеста, живой смоук на четырнадцать шагов, триста два сид-кандидата и ресед базы одной командой.</a:t>
            </a:r>
            <a:endParaRPr/>
          </a:p>
        </p:txBody>
      </p:sp>
      <p:sp>
        <p:nvSpPr>
          <p:cNvPr id="376" name="Google Shape;37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3:00–3:15 — С Федерацией спортивного программирования связались по всем правилам её же рекомендаций. Вход через FSP ID сейчас идёт через мок-OIDC реестр-адаптер — на боевой Keycloak меняется один конфиг. Дисциплины не ранжируем, набивание явками гасим затуханием. Нет истории — это нормальный первоклассный кейс: без штрафа, с подсказкой привязать идентификатор.</a:t>
            </a:r>
            <a:endParaRPr/>
          </a:p>
        </p:txBody>
      </p:sp>
      <p:sp>
        <p:nvSpPr>
          <p:cNvPr id="393" name="Google Shape;39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1" name="Google Shape;41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3:15–3:30 — Нас двое: капитан Илья Хакимов — полный цикл и ИИ-конвейеры, Денис Шайхльбарин — фронтенд и дизайн. Суть PirateHunter: работодатель ищет по категориям и приглашает с вилкой, кандидат выбирает. Уникальность: грейд подтверждается только тестом, достижения ФСП работают на ранжирование, а каждая цифра подборки объяснима.</a:t>
            </a:r>
            <a:endParaRPr/>
          </a:p>
        </p:txBody>
      </p:sp>
      <p:sp>
        <p:nvSpPr>
          <p:cNvPr id="412" name="Google Shape;41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9" name="Google Shape;42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3:30–3:38 — Илья — капитан, fullstack и ИИ-инженерия, PiratePress, ИТМО. Денис — фронтенд и дизайн, Яндекс, МАИ.</a:t>
            </a:r>
            <a:endParaRPr/>
          </a:p>
        </p:txBody>
      </p:sp>
      <p:sp>
        <p:nvSpPr>
          <p:cNvPr id="430" name="Google Shape;43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5" name="Google Shape;44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3:38–3:48 — Команда собралась на этом хакатоне, но пайплайн «запрос → структура → результат» нам знаком по видеопродукту. Главные вызовы: объективный грейд без эталонной разметки — закрыли IRT и синтетической валидацией; и приватность — персональные данные живут только в backend, ядро оперирует анонимными снапшотами.</a:t>
            </a:r>
            <a:endParaRPr/>
          </a:p>
        </p:txBody>
      </p:sp>
      <p:sp>
        <p:nvSpPr>
          <p:cNvPr id="446" name="Google Shape;44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5" name="Google Shape;46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3:48–4:05 — Коротко. Технически: три сервиса — backend с персональными данными, ядро с адаптивным тестом и скорингом, реестр-адаптер ФСП; фронт — Next.js. Весь контур в юрисдикции РФ: хостинг Selectel и LLM Cloud.ru — данные в ЦОДах РФ, обезличивание перед LLM, трансграничной передачи нет (152-ФЗ). Маркетингово: кандидат получает подтверждённый грейд и честные приглашения, работодатель — объяснимую подборку. Развитие: боевой ФСП, открытый ATS-API, MCP для агентов, пилот.</a:t>
            </a:r>
            <a:endParaRPr/>
          </a:p>
        </p:txBody>
      </p:sp>
      <p:sp>
        <p:nvSpPr>
          <p:cNvPr id="466" name="Google Shape;46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9" name="Google Shape;47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4:05–4:25 — Демо показываем на живом сервисе piratehunter.fun: вход по почтовому коду или через FSP ID, для жюри — готовые демо-аккаунты. Сценарий: работодатель описывает потребность и получает подборку с объяснением; кандидат проходит экспресс-тест на четыре вопроса и видит приглашение с вилкой; при принятии контакты раскрываются обеим сторонам. База перед защитой возвращается к эталону реседом одной командой.</a:t>
            </a:r>
            <a:endParaRPr/>
          </a:p>
        </p:txBody>
      </p:sp>
      <p:sp>
        <p:nvSpPr>
          <p:cNvPr id="480" name="Google Shape;48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3" name="Google Shape;49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4:25–4:40 — Четыре экрана, которые мы отполировали в первую очередь. Подборка работодателя с панелью «почему в подборке» и виджетом вилки против рынка. Адаптивный тест с таймером и подсветкой кода. Приглашение с вилкой крупно — принципиальное отличие от привычных агрегаторов. И категория кандидата: подтверждённый тестом грейд и место в ранжировании.</a:t>
            </a:r>
            <a:endParaRPr/>
          </a:p>
        </p:txBody>
      </p:sp>
      <p:sp>
        <p:nvSpPr>
          <p:cNvPr id="494" name="Google Shape;49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3" name="Google Shape;61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4:40–4:52 — Внедрение: отдельно подчеркнуть — 152-ФЗ из коробки: хостинг и LLM в ЦОДах РФ, ПДн в контуре, обезличивание перед LLM, согласия в онбординге. Боевой реестр ФСП подключается заменой конфига. Стенд поднимается одной командой docker compose, база реседится к эталону. Дальше — ATS-ready API, MCP для ИИ-агентов, регулярные задания и пилот верификации грейдов. Отдельно: антифрод — обязательная вилка, лимит 100 приглашений в час, модерация компаний в roadmap, контакты скрыты до accept. ATS — открытый API, вебхуки статусов, выгрузка верифицированного профиля. Мобильный адаптив: кабинеты работают с телефона (360px).</a:t>
            </a:r>
          </a:p>
        </p:txBody>
      </p:sp>
      <p:sp>
        <p:nvSpPr>
          <p:cNvPr id="614" name="Google Shape;61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3" name="Google Shape;63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4:52–5:00 — Спасибо за внимание! Сервис живёт на piratehunter.fun, демо-аккаунты для жюри готовы. Переходим к ответам на вопросы.</a:t>
            </a:r>
            <a:endParaRPr/>
          </a:p>
        </p:txBody>
      </p:sp>
      <p:sp>
        <p:nvSpPr>
          <p:cNvPr id="634" name="Google Shape;63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>
  <p:cSld name="Титульный слайд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/>
          <p:nvPr>
            <p:ph idx="2" type="pic"/>
          </p:nvPr>
        </p:nvSpPr>
        <p:spPr>
          <a:xfrm>
            <a:off x="6792000" y="395288"/>
            <a:ext cx="5400000" cy="5400000"/>
          </a:xfrm>
          <a:prstGeom prst="rect">
            <a:avLst/>
          </a:prstGeom>
          <a:noFill/>
          <a:ln>
            <a:noFill/>
          </a:ln>
        </p:spPr>
      </p:sp>
      <p:sp>
        <p:nvSpPr>
          <p:cNvPr id="17" name="Google Shape;17;p17"/>
          <p:cNvSpPr txBox="1"/>
          <p:nvPr>
            <p:ph type="ctrTitle"/>
          </p:nvPr>
        </p:nvSpPr>
        <p:spPr>
          <a:xfrm>
            <a:off x="0" y="4323440"/>
            <a:ext cx="8930641" cy="8270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800"/>
              <a:buFont typeface="Montserrat"/>
              <a:buNone/>
              <a:defRPr sz="2800">
                <a:solidFill>
                  <a:srgbClr val="F2F2F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7"/>
          <p:cNvSpPr/>
          <p:nvPr>
            <p:ph idx="3" type="pic"/>
          </p:nvPr>
        </p:nvSpPr>
        <p:spPr>
          <a:xfrm>
            <a:off x="802640" y="2911980"/>
            <a:ext cx="3386773" cy="1082589"/>
          </a:xfrm>
          <a:prstGeom prst="rect">
            <a:avLst/>
          </a:prstGeom>
          <a:noFill/>
          <a:ln>
            <a:noFill/>
          </a:ln>
        </p:spPr>
      </p:sp>
      <p:sp>
        <p:nvSpPr>
          <p:cNvPr id="19" name="Google Shape;19;p17"/>
          <p:cNvSpPr txBox="1"/>
          <p:nvPr>
            <p:ph idx="1" type="body"/>
          </p:nvPr>
        </p:nvSpPr>
        <p:spPr>
          <a:xfrm>
            <a:off x="0" y="5149851"/>
            <a:ext cx="8930641" cy="757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роблема и решение">
  <p:cSld name="Проблема и решение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8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8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4" name="Google Shape;24;p18"/>
          <p:cNvSpPr txBox="1"/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/>
          <p:nvPr>
            <p:ph idx="1" type="body"/>
          </p:nvPr>
        </p:nvSpPr>
        <p:spPr>
          <a:xfrm>
            <a:off x="517027" y="3810175"/>
            <a:ext cx="3264113" cy="2375115"/>
          </a:xfrm>
          <a:prstGeom prst="roundRect">
            <a:avLst>
              <a:gd fmla="val 101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49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8"/>
          <p:cNvSpPr/>
          <p:nvPr>
            <p:ph idx="2" type="body"/>
          </p:nvPr>
        </p:nvSpPr>
        <p:spPr>
          <a:xfrm>
            <a:off x="4464542" y="3810175"/>
            <a:ext cx="3264113" cy="2375115"/>
          </a:xfrm>
          <a:prstGeom prst="roundRect">
            <a:avLst>
              <a:gd fmla="val 101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49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18"/>
          <p:cNvSpPr/>
          <p:nvPr>
            <p:ph idx="3" type="body"/>
          </p:nvPr>
        </p:nvSpPr>
        <p:spPr>
          <a:xfrm>
            <a:off x="8385481" y="3810175"/>
            <a:ext cx="3264113" cy="2375115"/>
          </a:xfrm>
          <a:prstGeom prst="roundRect">
            <a:avLst>
              <a:gd fmla="val 101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49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8"/>
          <p:cNvSpPr/>
          <p:nvPr>
            <p:ph idx="4" type="body"/>
          </p:nvPr>
        </p:nvSpPr>
        <p:spPr>
          <a:xfrm>
            <a:off x="517027" y="3252336"/>
            <a:ext cx="3264113" cy="391783"/>
          </a:xfrm>
          <a:prstGeom prst="roundRect">
            <a:avLst>
              <a:gd fmla="val 10167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8"/>
          <p:cNvSpPr/>
          <p:nvPr>
            <p:ph idx="5" type="body"/>
          </p:nvPr>
        </p:nvSpPr>
        <p:spPr>
          <a:xfrm>
            <a:off x="4464542" y="3252336"/>
            <a:ext cx="3264113" cy="391783"/>
          </a:xfrm>
          <a:prstGeom prst="roundRect">
            <a:avLst>
              <a:gd fmla="val 10167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18"/>
          <p:cNvSpPr/>
          <p:nvPr>
            <p:ph idx="6" type="body"/>
          </p:nvPr>
        </p:nvSpPr>
        <p:spPr>
          <a:xfrm>
            <a:off x="8385481" y="3252336"/>
            <a:ext cx="3264113" cy="391783"/>
          </a:xfrm>
          <a:prstGeom prst="roundRect">
            <a:avLst>
              <a:gd fmla="val 10167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тадии">
  <p:cSld name="Стадии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9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5" name="Google Shape;35;p19"/>
          <p:cNvSpPr/>
          <p:nvPr>
            <p:ph idx="1" type="body"/>
          </p:nvPr>
        </p:nvSpPr>
        <p:spPr>
          <a:xfrm>
            <a:off x="346075" y="1024937"/>
            <a:ext cx="2526079" cy="1476687"/>
          </a:xfrm>
          <a:prstGeom prst="roundRect">
            <a:avLst>
              <a:gd fmla="val 1588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•"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idx="2" type="body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9"/>
          <p:cNvSpPr/>
          <p:nvPr>
            <p:ph idx="3" type="body"/>
          </p:nvPr>
        </p:nvSpPr>
        <p:spPr>
          <a:xfrm>
            <a:off x="4832960" y="1024937"/>
            <a:ext cx="2526079" cy="1476687"/>
          </a:xfrm>
          <a:prstGeom prst="roundRect">
            <a:avLst>
              <a:gd fmla="val 1588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•"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4" type="body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19"/>
          <p:cNvSpPr/>
          <p:nvPr>
            <p:ph idx="5" type="body"/>
          </p:nvPr>
        </p:nvSpPr>
        <p:spPr>
          <a:xfrm>
            <a:off x="9330862" y="1024937"/>
            <a:ext cx="2526079" cy="1476687"/>
          </a:xfrm>
          <a:prstGeom prst="roundRect">
            <a:avLst>
              <a:gd fmla="val 1588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•"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6" type="body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9"/>
          <p:cNvSpPr/>
          <p:nvPr>
            <p:ph idx="7" type="body"/>
          </p:nvPr>
        </p:nvSpPr>
        <p:spPr>
          <a:xfrm>
            <a:off x="2593517" y="4358152"/>
            <a:ext cx="2526079" cy="1476687"/>
          </a:xfrm>
          <a:prstGeom prst="roundRect">
            <a:avLst>
              <a:gd fmla="val 1588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•"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8" type="body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19"/>
          <p:cNvSpPr/>
          <p:nvPr>
            <p:ph idx="9" type="body"/>
          </p:nvPr>
        </p:nvSpPr>
        <p:spPr>
          <a:xfrm>
            <a:off x="7080402" y="4358152"/>
            <a:ext cx="2526079" cy="1476687"/>
          </a:xfrm>
          <a:prstGeom prst="roundRect">
            <a:avLst>
              <a:gd fmla="val 1588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•"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9"/>
          <p:cNvSpPr txBox="1"/>
          <p:nvPr>
            <p:ph idx="13" type="body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9"/>
          <p:cNvSpPr txBox="1"/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одержание_1">
  <p:cSld name="Содержание_1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0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50" name="Google Shape;50;p20"/>
          <p:cNvSpPr txBox="1"/>
          <p:nvPr>
            <p:ph idx="1" type="body"/>
          </p:nvPr>
        </p:nvSpPr>
        <p:spPr>
          <a:xfrm>
            <a:off x="1873541" y="1222713"/>
            <a:ext cx="3866856" cy="4236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2" type="body"/>
          </p:nvPr>
        </p:nvSpPr>
        <p:spPr>
          <a:xfrm>
            <a:off x="1873544" y="1790324"/>
            <a:ext cx="3866856" cy="67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3" type="body"/>
          </p:nvPr>
        </p:nvSpPr>
        <p:spPr>
          <a:xfrm>
            <a:off x="1854185" y="2826697"/>
            <a:ext cx="3866856" cy="403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4" type="body"/>
          </p:nvPr>
        </p:nvSpPr>
        <p:spPr>
          <a:xfrm>
            <a:off x="1854185" y="3374436"/>
            <a:ext cx="3866856" cy="67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20"/>
          <p:cNvSpPr txBox="1"/>
          <p:nvPr>
            <p:ph idx="5" type="body"/>
          </p:nvPr>
        </p:nvSpPr>
        <p:spPr>
          <a:xfrm>
            <a:off x="1854185" y="4410809"/>
            <a:ext cx="3866856" cy="403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20"/>
          <p:cNvSpPr txBox="1"/>
          <p:nvPr>
            <p:ph idx="6" type="body"/>
          </p:nvPr>
        </p:nvSpPr>
        <p:spPr>
          <a:xfrm>
            <a:off x="1854185" y="4958548"/>
            <a:ext cx="3866856" cy="67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7" type="body"/>
          </p:nvPr>
        </p:nvSpPr>
        <p:spPr>
          <a:xfrm>
            <a:off x="7546648" y="1222713"/>
            <a:ext cx="3866856" cy="4236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20"/>
          <p:cNvSpPr txBox="1"/>
          <p:nvPr>
            <p:ph idx="8" type="body"/>
          </p:nvPr>
        </p:nvSpPr>
        <p:spPr>
          <a:xfrm>
            <a:off x="7546651" y="1790324"/>
            <a:ext cx="3866856" cy="67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20"/>
          <p:cNvSpPr txBox="1"/>
          <p:nvPr>
            <p:ph idx="9" type="body"/>
          </p:nvPr>
        </p:nvSpPr>
        <p:spPr>
          <a:xfrm>
            <a:off x="7527292" y="2826697"/>
            <a:ext cx="3866856" cy="403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3" type="body"/>
          </p:nvPr>
        </p:nvSpPr>
        <p:spPr>
          <a:xfrm>
            <a:off x="7527292" y="3374436"/>
            <a:ext cx="3866856" cy="67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4" type="body"/>
          </p:nvPr>
        </p:nvSpPr>
        <p:spPr>
          <a:xfrm>
            <a:off x="7527292" y="4410809"/>
            <a:ext cx="3866856" cy="403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20"/>
          <p:cNvSpPr txBox="1"/>
          <p:nvPr>
            <p:ph idx="15" type="body"/>
          </p:nvPr>
        </p:nvSpPr>
        <p:spPr>
          <a:xfrm>
            <a:off x="7527292" y="4958548"/>
            <a:ext cx="3866856" cy="67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20"/>
          <p:cNvSpPr txBox="1"/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 txBox="1"/>
          <p:nvPr>
            <p:ph idx="16" type="body"/>
          </p:nvPr>
        </p:nvSpPr>
        <p:spPr>
          <a:xfrm>
            <a:off x="778493" y="1187988"/>
            <a:ext cx="771003" cy="4236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0" sz="2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20"/>
          <p:cNvSpPr txBox="1"/>
          <p:nvPr>
            <p:ph idx="17" type="body"/>
          </p:nvPr>
        </p:nvSpPr>
        <p:spPr>
          <a:xfrm>
            <a:off x="759137" y="2791972"/>
            <a:ext cx="771003" cy="403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0" sz="2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20"/>
          <p:cNvSpPr txBox="1"/>
          <p:nvPr>
            <p:ph idx="18" type="body"/>
          </p:nvPr>
        </p:nvSpPr>
        <p:spPr>
          <a:xfrm>
            <a:off x="759137" y="4376084"/>
            <a:ext cx="771003" cy="403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0" sz="2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9" type="body"/>
          </p:nvPr>
        </p:nvSpPr>
        <p:spPr>
          <a:xfrm>
            <a:off x="6451600" y="1187988"/>
            <a:ext cx="771003" cy="4236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0" sz="2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20" type="body"/>
          </p:nvPr>
        </p:nvSpPr>
        <p:spPr>
          <a:xfrm>
            <a:off x="6432244" y="2791972"/>
            <a:ext cx="771003" cy="403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0" sz="2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20"/>
          <p:cNvSpPr txBox="1"/>
          <p:nvPr>
            <p:ph idx="21" type="body"/>
          </p:nvPr>
        </p:nvSpPr>
        <p:spPr>
          <a:xfrm>
            <a:off x="6432244" y="4376084"/>
            <a:ext cx="771003" cy="403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0" sz="2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нкты">
  <p:cSld name="Пункты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1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" type="body"/>
          </p:nvPr>
        </p:nvSpPr>
        <p:spPr>
          <a:xfrm>
            <a:off x="1994303" y="2973742"/>
            <a:ext cx="2190810" cy="9105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52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21"/>
          <p:cNvSpPr txBox="1"/>
          <p:nvPr>
            <p:ph idx="2" type="body"/>
          </p:nvPr>
        </p:nvSpPr>
        <p:spPr>
          <a:xfrm>
            <a:off x="6662924" y="1588128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52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1"/>
          <p:cNvSpPr txBox="1"/>
          <p:nvPr>
            <p:ph idx="3" type="body"/>
          </p:nvPr>
        </p:nvSpPr>
        <p:spPr>
          <a:xfrm>
            <a:off x="6662924" y="2445138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52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4" type="body"/>
          </p:nvPr>
        </p:nvSpPr>
        <p:spPr>
          <a:xfrm>
            <a:off x="6662924" y="3302147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52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5" type="body"/>
          </p:nvPr>
        </p:nvSpPr>
        <p:spPr>
          <a:xfrm>
            <a:off x="6662924" y="4159156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52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6" type="body"/>
          </p:nvPr>
        </p:nvSpPr>
        <p:spPr>
          <a:xfrm>
            <a:off x="6662924" y="5016166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52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татистика">
  <p:cSld name="2_Статистика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2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2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2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83" name="Google Shape;83;p22"/>
          <p:cNvSpPr txBox="1"/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2"/>
          <p:cNvSpPr/>
          <p:nvPr>
            <p:ph idx="1" type="body"/>
          </p:nvPr>
        </p:nvSpPr>
        <p:spPr>
          <a:xfrm>
            <a:off x="6683077" y="1016000"/>
            <a:ext cx="4790314" cy="102170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 sz="18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22"/>
          <p:cNvSpPr txBox="1"/>
          <p:nvPr>
            <p:ph idx="2" type="body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22"/>
          <p:cNvSpPr/>
          <p:nvPr>
            <p:ph idx="3" type="body"/>
          </p:nvPr>
        </p:nvSpPr>
        <p:spPr>
          <a:xfrm>
            <a:off x="6683077" y="2284561"/>
            <a:ext cx="4790314" cy="102170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AD28EF"/>
              </a:buClr>
              <a:buSzPts val="1800"/>
              <a:buChar char="•"/>
              <a:defRPr b="1" sz="1800">
                <a:solidFill>
                  <a:srgbClr val="AD28EF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22"/>
          <p:cNvSpPr txBox="1"/>
          <p:nvPr>
            <p:ph idx="4" type="body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22"/>
          <p:cNvSpPr/>
          <p:nvPr>
            <p:ph idx="5" type="body"/>
          </p:nvPr>
        </p:nvSpPr>
        <p:spPr>
          <a:xfrm>
            <a:off x="6683077" y="3553122"/>
            <a:ext cx="4790314" cy="102170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 b="1" sz="1800">
                <a:solidFill>
                  <a:schemeClr val="accent4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22"/>
          <p:cNvSpPr txBox="1"/>
          <p:nvPr>
            <p:ph idx="6" type="body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22"/>
          <p:cNvSpPr/>
          <p:nvPr>
            <p:ph idx="7" type="body"/>
          </p:nvPr>
        </p:nvSpPr>
        <p:spPr>
          <a:xfrm>
            <a:off x="6683077" y="4821684"/>
            <a:ext cx="4790314" cy="102170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 b="1" sz="1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22"/>
          <p:cNvSpPr txBox="1"/>
          <p:nvPr>
            <p:ph idx="8" type="body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Описание команды">
  <p:cSld name="1_Описание команды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3"/>
          <p:cNvSpPr/>
          <p:nvPr>
            <p:ph idx="2" type="pic"/>
          </p:nvPr>
        </p:nvSpPr>
        <p:spPr>
          <a:xfrm>
            <a:off x="6894095" y="1044081"/>
            <a:ext cx="4962943" cy="2221824"/>
          </a:xfrm>
          <a:prstGeom prst="rect">
            <a:avLst/>
          </a:prstGeom>
          <a:noFill/>
          <a:ln>
            <a:noFill/>
          </a:ln>
        </p:spPr>
      </p:sp>
      <p:sp>
        <p:nvSpPr>
          <p:cNvPr id="94" name="Google Shape;94;p23"/>
          <p:cNvSpPr txBox="1"/>
          <p:nvPr>
            <p:ph type="title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97"/>
              <a:buFont typeface="Montserra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Команда">
  <p:cSld name="Команда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4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4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4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99" name="Google Shape;99;p24"/>
          <p:cNvSpPr txBox="1"/>
          <p:nvPr>
            <p:ph type="title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97"/>
              <a:buFont typeface="Montserra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4"/>
          <p:cNvSpPr txBox="1"/>
          <p:nvPr>
            <p:ph idx="1" type="body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24"/>
          <p:cNvSpPr txBox="1"/>
          <p:nvPr>
            <p:ph idx="2" type="body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24"/>
          <p:cNvSpPr txBox="1"/>
          <p:nvPr>
            <p:ph idx="3" type="body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24"/>
          <p:cNvSpPr txBox="1"/>
          <p:nvPr>
            <p:ph idx="4" type="body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24"/>
          <p:cNvSpPr txBox="1"/>
          <p:nvPr>
            <p:ph idx="5" type="body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емо_1">
  <p:cSld name="Демо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5"/>
          <p:cNvSpPr/>
          <p:nvPr>
            <p:ph idx="2" type="pic"/>
          </p:nvPr>
        </p:nvSpPr>
        <p:spPr>
          <a:xfrm>
            <a:off x="4162940" y="1264478"/>
            <a:ext cx="3866121" cy="2436377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25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5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5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10" name="Google Shape;110;p25"/>
          <p:cNvSpPr txBox="1"/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5"/>
          <p:cNvSpPr txBox="1"/>
          <p:nvPr>
            <p:ph idx="1" type="body"/>
          </p:nvPr>
        </p:nvSpPr>
        <p:spPr>
          <a:xfrm>
            <a:off x="346075" y="4656083"/>
            <a:ext cx="3626835" cy="1544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p25"/>
          <p:cNvSpPr txBox="1"/>
          <p:nvPr>
            <p:ph idx="3" type="body"/>
          </p:nvPr>
        </p:nvSpPr>
        <p:spPr>
          <a:xfrm>
            <a:off x="4240502" y="4656083"/>
            <a:ext cx="3626835" cy="1544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25"/>
          <p:cNvSpPr txBox="1"/>
          <p:nvPr>
            <p:ph idx="4" type="body"/>
          </p:nvPr>
        </p:nvSpPr>
        <p:spPr>
          <a:xfrm>
            <a:off x="8230203" y="4656083"/>
            <a:ext cx="3626835" cy="1544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Демо_1">
  <p:cSld name="3_Демо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6"/>
          <p:cNvSpPr/>
          <p:nvPr>
            <p:ph idx="2" type="pic"/>
          </p:nvPr>
        </p:nvSpPr>
        <p:spPr>
          <a:xfrm>
            <a:off x="1001460" y="1038224"/>
            <a:ext cx="1726214" cy="3657600"/>
          </a:xfrm>
          <a:prstGeom prst="roundRect">
            <a:avLst>
              <a:gd fmla="val 12528" name="adj"/>
            </a:avLst>
          </a:prstGeom>
          <a:noFill/>
          <a:ln>
            <a:noFill/>
          </a:ln>
        </p:spPr>
      </p:sp>
      <p:sp>
        <p:nvSpPr>
          <p:cNvPr id="116" name="Google Shape;116;p26"/>
          <p:cNvSpPr/>
          <p:nvPr>
            <p:ph idx="3" type="pic"/>
          </p:nvPr>
        </p:nvSpPr>
        <p:spPr>
          <a:xfrm>
            <a:off x="3831097" y="1038224"/>
            <a:ext cx="1726214" cy="3657600"/>
          </a:xfrm>
          <a:prstGeom prst="roundRect">
            <a:avLst>
              <a:gd fmla="val 12528" name="adj"/>
            </a:avLst>
          </a:prstGeom>
          <a:noFill/>
          <a:ln>
            <a:noFill/>
          </a:ln>
        </p:spPr>
      </p:sp>
      <p:sp>
        <p:nvSpPr>
          <p:cNvPr id="117" name="Google Shape;117;p26"/>
          <p:cNvSpPr/>
          <p:nvPr>
            <p:ph idx="4" type="pic"/>
          </p:nvPr>
        </p:nvSpPr>
        <p:spPr>
          <a:xfrm>
            <a:off x="6660734" y="1038224"/>
            <a:ext cx="1726214" cy="3657600"/>
          </a:xfrm>
          <a:prstGeom prst="roundRect">
            <a:avLst>
              <a:gd fmla="val 12528" name="adj"/>
            </a:avLst>
          </a:prstGeom>
          <a:noFill/>
          <a:ln>
            <a:noFill/>
          </a:ln>
        </p:spPr>
      </p:sp>
      <p:sp>
        <p:nvSpPr>
          <p:cNvPr id="118" name="Google Shape;118;p26"/>
          <p:cNvSpPr/>
          <p:nvPr>
            <p:ph idx="5" type="pic"/>
          </p:nvPr>
        </p:nvSpPr>
        <p:spPr>
          <a:xfrm>
            <a:off x="9490368" y="1038224"/>
            <a:ext cx="1726214" cy="3657600"/>
          </a:xfrm>
          <a:prstGeom prst="roundRect">
            <a:avLst>
              <a:gd fmla="val 12528" name="adj"/>
            </a:avLst>
          </a:prstGeom>
          <a:noFill/>
          <a:ln>
            <a:noFill/>
          </a:ln>
        </p:spPr>
      </p:sp>
      <p:sp>
        <p:nvSpPr>
          <p:cNvPr id="119" name="Google Shape;119;p26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26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6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22" name="Google Shape;122;p26"/>
          <p:cNvSpPr txBox="1"/>
          <p:nvPr>
            <p:ph idx="1" type="body"/>
          </p:nvPr>
        </p:nvSpPr>
        <p:spPr>
          <a:xfrm>
            <a:off x="346076" y="4929435"/>
            <a:ext cx="2739248" cy="1271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26"/>
          <p:cNvSpPr txBox="1"/>
          <p:nvPr>
            <p:ph idx="6" type="body"/>
          </p:nvPr>
        </p:nvSpPr>
        <p:spPr>
          <a:xfrm>
            <a:off x="3269562" y="4929435"/>
            <a:ext cx="2739248" cy="1271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" name="Google Shape;124;p26"/>
          <p:cNvSpPr txBox="1"/>
          <p:nvPr>
            <p:ph idx="7" type="body"/>
          </p:nvPr>
        </p:nvSpPr>
        <p:spPr>
          <a:xfrm>
            <a:off x="6193048" y="4929435"/>
            <a:ext cx="2739248" cy="1271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26"/>
          <p:cNvSpPr txBox="1"/>
          <p:nvPr>
            <p:ph idx="8" type="body"/>
          </p:nvPr>
        </p:nvSpPr>
        <p:spPr>
          <a:xfrm>
            <a:off x="9116535" y="4929435"/>
            <a:ext cx="2739248" cy="1271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26"/>
          <p:cNvSpPr txBox="1"/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 заголовком">
  <p:cSld name="Пустой с заголовком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7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7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7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>
  <p:cSld name="Заголовок и объект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8"/>
          <p:cNvSpPr txBox="1"/>
          <p:nvPr>
            <p:ph idx="1" type="body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802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52"/>
              <a:buChar char="•"/>
              <a:defRPr>
                <a:solidFill>
                  <a:srgbClr val="F2F2F2"/>
                </a:solidFill>
              </a:defRPr>
            </a:lvl1pPr>
            <a:lvl2pPr indent="-309309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271"/>
              <a:buChar char="•"/>
              <a:defRPr>
                <a:solidFill>
                  <a:srgbClr val="F2F2F2"/>
                </a:solidFill>
              </a:defRPr>
            </a:lvl2pPr>
            <a:lvl3pPr indent="-29191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997"/>
              <a:buChar char="•"/>
              <a:defRPr>
                <a:solidFill>
                  <a:srgbClr val="F2F2F2"/>
                </a:solidFill>
              </a:defRPr>
            </a:lvl3pPr>
            <a:lvl4pPr indent="-286195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907"/>
              <a:buChar char="•"/>
              <a:defRPr>
                <a:solidFill>
                  <a:srgbClr val="F2F2F2"/>
                </a:solidFill>
              </a:defRPr>
            </a:lvl4pPr>
            <a:lvl5pPr indent="-286195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907"/>
              <a:buChar char="•"/>
              <a:defRPr>
                <a:solidFill>
                  <a:srgbClr val="F2F2F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3" name="Google Shape;133;p28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8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8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36" name="Google Shape;136;p28"/>
          <p:cNvSpPr txBox="1"/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97"/>
              <a:buFont typeface="Montserrat"/>
              <a:buNone/>
              <a:defRPr>
                <a:solidFill>
                  <a:srgbClr val="F2F2F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>
  <p:cSld name="Два объекта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9"/>
          <p:cNvSpPr txBox="1"/>
          <p:nvPr>
            <p:ph idx="1" type="body"/>
          </p:nvPr>
        </p:nvSpPr>
        <p:spPr>
          <a:xfrm>
            <a:off x="315387" y="1016001"/>
            <a:ext cx="5704418" cy="5184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9" name="Google Shape;139;p29"/>
          <p:cNvSpPr txBox="1"/>
          <p:nvPr>
            <p:ph idx="2" type="body"/>
          </p:nvPr>
        </p:nvSpPr>
        <p:spPr>
          <a:xfrm>
            <a:off x="6172206" y="1016001"/>
            <a:ext cx="5670473" cy="5184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0" name="Google Shape;140;p29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9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9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43" name="Google Shape;143;p29"/>
          <p:cNvSpPr txBox="1"/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>
  <p:cSld name="Сравнение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0"/>
          <p:cNvSpPr txBox="1"/>
          <p:nvPr>
            <p:ph idx="1" type="body"/>
          </p:nvPr>
        </p:nvSpPr>
        <p:spPr>
          <a:xfrm>
            <a:off x="315386" y="1015427"/>
            <a:ext cx="56821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None/>
              <a:defRPr b="1" sz="1400"/>
            </a:lvl1pPr>
            <a:lvl2pPr indent="-2286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266"/>
              <a:buNone/>
              <a:defRPr b="1" sz="1266"/>
            </a:lvl2pPr>
            <a:lvl3pPr indent="-2286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141"/>
              <a:buNone/>
              <a:defRPr b="1" sz="1141"/>
            </a:lvl3pPr>
            <a:lvl4pPr indent="-2286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013"/>
              <a:buNone/>
              <a:defRPr b="1" sz="1013"/>
            </a:lvl4pPr>
            <a:lvl5pPr indent="-2286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013"/>
              <a:buNone/>
              <a:defRPr b="1" sz="1013"/>
            </a:lvl5pPr>
            <a:lvl6pPr indent="-2286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6pPr>
            <a:lvl7pPr indent="-2286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7pPr>
            <a:lvl8pPr indent="-2286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8pPr>
            <a:lvl9pPr indent="-2286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9pPr>
          </a:lstStyle>
          <a:p/>
        </p:txBody>
      </p:sp>
      <p:sp>
        <p:nvSpPr>
          <p:cNvPr id="146" name="Google Shape;146;p30"/>
          <p:cNvSpPr txBox="1"/>
          <p:nvPr>
            <p:ph idx="2" type="body"/>
          </p:nvPr>
        </p:nvSpPr>
        <p:spPr>
          <a:xfrm>
            <a:off x="349334" y="1598615"/>
            <a:ext cx="5648250" cy="4602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7" name="Google Shape;147;p30"/>
          <p:cNvSpPr txBox="1"/>
          <p:nvPr>
            <p:ph idx="3" type="body"/>
          </p:nvPr>
        </p:nvSpPr>
        <p:spPr>
          <a:xfrm>
            <a:off x="6172205" y="1015427"/>
            <a:ext cx="5684841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None/>
              <a:defRPr b="1" sz="1400"/>
            </a:lvl1pPr>
            <a:lvl2pPr indent="-2286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266"/>
              <a:buNone/>
              <a:defRPr b="1" sz="1266"/>
            </a:lvl2pPr>
            <a:lvl3pPr indent="-2286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141"/>
              <a:buNone/>
              <a:defRPr b="1" sz="1141"/>
            </a:lvl3pPr>
            <a:lvl4pPr indent="-2286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013"/>
              <a:buNone/>
              <a:defRPr b="1" sz="1013"/>
            </a:lvl4pPr>
            <a:lvl5pPr indent="-2286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013"/>
              <a:buNone/>
              <a:defRPr b="1" sz="1013"/>
            </a:lvl5pPr>
            <a:lvl6pPr indent="-2286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6pPr>
            <a:lvl7pPr indent="-2286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7pPr>
            <a:lvl8pPr indent="-2286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8pPr>
            <a:lvl9pPr indent="-2286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9pPr>
          </a:lstStyle>
          <a:p/>
        </p:txBody>
      </p:sp>
      <p:sp>
        <p:nvSpPr>
          <p:cNvPr id="148" name="Google Shape;148;p30"/>
          <p:cNvSpPr txBox="1"/>
          <p:nvPr>
            <p:ph idx="4" type="body"/>
          </p:nvPr>
        </p:nvSpPr>
        <p:spPr>
          <a:xfrm>
            <a:off x="6172202" y="1598615"/>
            <a:ext cx="5670473" cy="4602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9" name="Google Shape;149;p30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30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30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52" name="Google Shape;152;p30"/>
          <p:cNvSpPr txBox="1"/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1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31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31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2"/>
          <p:cNvSpPr txBox="1"/>
          <p:nvPr>
            <p:ph type="title"/>
          </p:nvPr>
        </p:nvSpPr>
        <p:spPr>
          <a:xfrm>
            <a:off x="334966" y="1015999"/>
            <a:ext cx="4437062" cy="121341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400"/>
              <a:buFont typeface="Montserrat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32"/>
          <p:cNvSpPr txBox="1"/>
          <p:nvPr>
            <p:ph idx="1" type="body"/>
          </p:nvPr>
        </p:nvSpPr>
        <p:spPr>
          <a:xfrm>
            <a:off x="5183194" y="1015999"/>
            <a:ext cx="6673847" cy="50495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1186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773"/>
              <a:buChar char="•"/>
              <a:defRPr sz="1773"/>
            </a:lvl1pPr>
            <a:lvl2pPr indent="-32512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520"/>
              <a:buChar char="•"/>
              <a:defRPr sz="1520"/>
            </a:lvl2pPr>
            <a:lvl3pPr indent="-308991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266"/>
              <a:buChar char="•"/>
              <a:defRPr sz="1266"/>
            </a:lvl3pPr>
            <a:lvl4pPr indent="-301054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141"/>
              <a:buChar char="•"/>
              <a:defRPr sz="1141"/>
            </a:lvl4pPr>
            <a:lvl5pPr indent="-301054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141"/>
              <a:buChar char="•"/>
              <a:defRPr sz="1141"/>
            </a:lvl5pPr>
            <a:lvl6pPr indent="-308991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266"/>
              <a:buChar char="•"/>
              <a:defRPr sz="1266"/>
            </a:lvl6pPr>
            <a:lvl7pPr indent="-308991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266"/>
              <a:buChar char="•"/>
              <a:defRPr sz="1266"/>
            </a:lvl7pPr>
            <a:lvl8pPr indent="-308991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266"/>
              <a:buChar char="•"/>
              <a:defRPr sz="1266"/>
            </a:lvl8pPr>
            <a:lvl9pPr indent="-308991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266"/>
              <a:buChar char="•"/>
              <a:defRPr sz="1266"/>
            </a:lvl9pPr>
          </a:lstStyle>
          <a:p/>
        </p:txBody>
      </p:sp>
      <p:sp>
        <p:nvSpPr>
          <p:cNvPr id="160" name="Google Shape;160;p32"/>
          <p:cNvSpPr txBox="1"/>
          <p:nvPr>
            <p:ph idx="2" type="body"/>
          </p:nvPr>
        </p:nvSpPr>
        <p:spPr>
          <a:xfrm>
            <a:off x="334966" y="2428239"/>
            <a:ext cx="4437062" cy="3637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886"/>
              <a:buNone/>
              <a:defRPr sz="886"/>
            </a:lvl2pPr>
            <a:lvl3pPr indent="-2286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760"/>
              <a:buNone/>
              <a:defRPr sz="760"/>
            </a:lvl3pPr>
            <a:lvl4pPr indent="-2286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631"/>
              <a:buNone/>
              <a:defRPr sz="631"/>
            </a:lvl4pPr>
            <a:lvl5pPr indent="-2286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631"/>
              <a:buNone/>
              <a:defRPr sz="631"/>
            </a:lvl5pPr>
            <a:lvl6pPr indent="-2286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631"/>
              <a:buNone/>
              <a:defRPr sz="631"/>
            </a:lvl6pPr>
            <a:lvl7pPr indent="-2286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631"/>
              <a:buNone/>
              <a:defRPr sz="631"/>
            </a:lvl7pPr>
            <a:lvl8pPr indent="-2286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631"/>
              <a:buNone/>
              <a:defRPr sz="631"/>
            </a:lvl8pPr>
            <a:lvl9pPr indent="-2286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631"/>
              <a:buNone/>
              <a:defRPr sz="631"/>
            </a:lvl9pPr>
          </a:lstStyle>
          <a:p/>
        </p:txBody>
      </p:sp>
      <p:sp>
        <p:nvSpPr>
          <p:cNvPr id="161" name="Google Shape;161;p32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32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32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>
  <p:cSld name="Рисунок с подписью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3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33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33"/>
          <p:cNvSpPr txBox="1"/>
          <p:nvPr>
            <p:ph type="ctrTitle"/>
          </p:nvPr>
        </p:nvSpPr>
        <p:spPr>
          <a:xfrm>
            <a:off x="802640" y="3922529"/>
            <a:ext cx="5293359" cy="16545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800"/>
              <a:buFont typeface="Montserrat"/>
              <a:buNone/>
              <a:defRPr sz="2800">
                <a:solidFill>
                  <a:srgbClr val="F2F2F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33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графии">
  <p:cSld name="Фотографии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4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34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34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73" name="Google Shape;173;p34"/>
          <p:cNvSpPr txBox="1"/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34"/>
          <p:cNvSpPr/>
          <p:nvPr>
            <p:ph idx="2" type="pic"/>
          </p:nvPr>
        </p:nvSpPr>
        <p:spPr>
          <a:xfrm>
            <a:off x="7440147" y="1016001"/>
            <a:ext cx="4405777" cy="3078479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34"/>
          <p:cNvSpPr/>
          <p:nvPr>
            <p:ph idx="3" type="pic"/>
          </p:nvPr>
        </p:nvSpPr>
        <p:spPr>
          <a:xfrm>
            <a:off x="7440149" y="4389108"/>
            <a:ext cx="4405775" cy="1811668"/>
          </a:xfrm>
          <a:prstGeom prst="rect">
            <a:avLst/>
          </a:prstGeom>
          <a:noFill/>
          <a:ln>
            <a:noFill/>
          </a:ln>
        </p:spPr>
      </p:sp>
      <p:sp>
        <p:nvSpPr>
          <p:cNvPr id="176" name="Google Shape;176;p34"/>
          <p:cNvSpPr/>
          <p:nvPr>
            <p:ph idx="4" type="pic"/>
          </p:nvPr>
        </p:nvSpPr>
        <p:spPr>
          <a:xfrm>
            <a:off x="346075" y="3223948"/>
            <a:ext cx="6806142" cy="2976827"/>
          </a:xfrm>
          <a:prstGeom prst="rect">
            <a:avLst/>
          </a:prstGeom>
          <a:noFill/>
          <a:ln>
            <a:noFill/>
          </a:ln>
        </p:spPr>
      </p:sp>
      <p:sp>
        <p:nvSpPr>
          <p:cNvPr id="177" name="Google Shape;177;p34"/>
          <p:cNvSpPr txBox="1"/>
          <p:nvPr>
            <p:ph idx="1" type="body"/>
          </p:nvPr>
        </p:nvSpPr>
        <p:spPr>
          <a:xfrm>
            <a:off x="346075" y="1016001"/>
            <a:ext cx="6806142" cy="2029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татистика">
  <p:cSld name="Статистика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5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35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35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82" name="Google Shape;182;p35"/>
          <p:cNvSpPr txBox="1"/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35"/>
          <p:cNvSpPr/>
          <p:nvPr>
            <p:ph idx="1" type="body"/>
          </p:nvPr>
        </p:nvSpPr>
        <p:spPr>
          <a:xfrm>
            <a:off x="6683077" y="1026867"/>
            <a:ext cx="4790314" cy="1615356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 b="1" sz="1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4" name="Google Shape;184;p35"/>
          <p:cNvSpPr txBox="1"/>
          <p:nvPr>
            <p:ph idx="2" type="body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5" name="Google Shape;185;p35"/>
          <p:cNvSpPr/>
          <p:nvPr>
            <p:ph idx="3" type="body"/>
          </p:nvPr>
        </p:nvSpPr>
        <p:spPr>
          <a:xfrm>
            <a:off x="6683077" y="2807582"/>
            <a:ext cx="4790314" cy="1615356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 b="1" sz="1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6" name="Google Shape;186;p35"/>
          <p:cNvSpPr txBox="1"/>
          <p:nvPr>
            <p:ph idx="4" type="body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7" name="Google Shape;187;p35"/>
          <p:cNvSpPr/>
          <p:nvPr>
            <p:ph idx="5" type="body"/>
          </p:nvPr>
        </p:nvSpPr>
        <p:spPr>
          <a:xfrm>
            <a:off x="6683077" y="4584029"/>
            <a:ext cx="4790314" cy="1615356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 b="1" sz="1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8" name="Google Shape;188;p35"/>
          <p:cNvSpPr txBox="1"/>
          <p:nvPr>
            <p:ph idx="6" type="body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татистика">
  <p:cSld name="1_Статистика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6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36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36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93" name="Google Shape;193;p36"/>
          <p:cNvSpPr txBox="1"/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36"/>
          <p:cNvSpPr/>
          <p:nvPr>
            <p:ph idx="1" type="body"/>
          </p:nvPr>
        </p:nvSpPr>
        <p:spPr>
          <a:xfrm>
            <a:off x="6683077" y="1016000"/>
            <a:ext cx="4790314" cy="102170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 sz="18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5" name="Google Shape;195;p36"/>
          <p:cNvSpPr txBox="1"/>
          <p:nvPr>
            <p:ph idx="2" type="body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6" name="Google Shape;196;p36"/>
          <p:cNvSpPr/>
          <p:nvPr>
            <p:ph idx="3" type="body"/>
          </p:nvPr>
        </p:nvSpPr>
        <p:spPr>
          <a:xfrm>
            <a:off x="6683077" y="2284561"/>
            <a:ext cx="4790314" cy="102170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AD28EF"/>
              </a:buClr>
              <a:buSzPts val="1800"/>
              <a:buChar char="•"/>
              <a:defRPr b="1" sz="1800">
                <a:solidFill>
                  <a:srgbClr val="AD28EF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7" name="Google Shape;197;p36"/>
          <p:cNvSpPr txBox="1"/>
          <p:nvPr>
            <p:ph idx="4" type="body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8" name="Google Shape;198;p36"/>
          <p:cNvSpPr/>
          <p:nvPr>
            <p:ph idx="5" type="body"/>
          </p:nvPr>
        </p:nvSpPr>
        <p:spPr>
          <a:xfrm>
            <a:off x="6683077" y="3553122"/>
            <a:ext cx="4790314" cy="102170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 b="1" sz="1800">
                <a:solidFill>
                  <a:schemeClr val="accent4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9" name="Google Shape;199;p36"/>
          <p:cNvSpPr txBox="1"/>
          <p:nvPr>
            <p:ph idx="6" type="body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0" name="Google Shape;200;p36"/>
          <p:cNvSpPr/>
          <p:nvPr>
            <p:ph idx="7" type="body"/>
          </p:nvPr>
        </p:nvSpPr>
        <p:spPr>
          <a:xfrm>
            <a:off x="6683077" y="4821684"/>
            <a:ext cx="4790314" cy="102170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 b="1" sz="1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1" name="Google Shape;201;p36"/>
          <p:cNvSpPr txBox="1"/>
          <p:nvPr>
            <p:ph idx="8" type="body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Демо_1">
  <p:cSld name="1_Демо_1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7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37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37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06" name="Google Shape;206;p37"/>
          <p:cNvSpPr txBox="1"/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37"/>
          <p:cNvSpPr txBox="1"/>
          <p:nvPr>
            <p:ph idx="1" type="body"/>
          </p:nvPr>
        </p:nvSpPr>
        <p:spPr>
          <a:xfrm>
            <a:off x="1210643" y="4324451"/>
            <a:ext cx="4121687" cy="1612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8" name="Google Shape;208;p37"/>
          <p:cNvSpPr txBox="1"/>
          <p:nvPr>
            <p:ph idx="2" type="body"/>
          </p:nvPr>
        </p:nvSpPr>
        <p:spPr>
          <a:xfrm>
            <a:off x="6857950" y="4324451"/>
            <a:ext cx="4121687" cy="1612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9" name="Google Shape;209;p37"/>
          <p:cNvSpPr/>
          <p:nvPr>
            <p:ph idx="3" type="pic"/>
          </p:nvPr>
        </p:nvSpPr>
        <p:spPr>
          <a:xfrm>
            <a:off x="1210642" y="1577998"/>
            <a:ext cx="4121688" cy="2283975"/>
          </a:xfrm>
          <a:prstGeom prst="rect">
            <a:avLst/>
          </a:prstGeom>
          <a:noFill/>
          <a:ln>
            <a:noFill/>
          </a:ln>
        </p:spPr>
      </p:sp>
      <p:sp>
        <p:nvSpPr>
          <p:cNvPr id="210" name="Google Shape;210;p37"/>
          <p:cNvSpPr/>
          <p:nvPr>
            <p:ph idx="4" type="pic"/>
          </p:nvPr>
        </p:nvSpPr>
        <p:spPr>
          <a:xfrm>
            <a:off x="6855540" y="1577998"/>
            <a:ext cx="4121688" cy="228397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Демо_1">
  <p:cSld name="2_Демо_1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8"/>
          <p:cNvSpPr/>
          <p:nvPr>
            <p:ph idx="2" type="pic"/>
          </p:nvPr>
        </p:nvSpPr>
        <p:spPr>
          <a:xfrm>
            <a:off x="5009872" y="1235915"/>
            <a:ext cx="2172255" cy="4602697"/>
          </a:xfrm>
          <a:prstGeom prst="roundRect">
            <a:avLst>
              <a:gd fmla="val 12528" name="adj"/>
            </a:avLst>
          </a:prstGeom>
          <a:noFill/>
          <a:ln>
            <a:noFill/>
          </a:ln>
        </p:spPr>
      </p:sp>
      <p:sp>
        <p:nvSpPr>
          <p:cNvPr id="213" name="Google Shape;213;p38"/>
          <p:cNvSpPr/>
          <p:nvPr>
            <p:ph idx="1" type="body"/>
          </p:nvPr>
        </p:nvSpPr>
        <p:spPr>
          <a:xfrm>
            <a:off x="356349" y="1641283"/>
            <a:ext cx="3812931" cy="102170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65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 sz="18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4" name="Google Shape;214;p38"/>
          <p:cNvSpPr txBox="1"/>
          <p:nvPr>
            <p:ph idx="3" type="body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5" name="Google Shape;215;p38"/>
          <p:cNvSpPr/>
          <p:nvPr>
            <p:ph idx="4" type="body"/>
          </p:nvPr>
        </p:nvSpPr>
        <p:spPr>
          <a:xfrm>
            <a:off x="8040021" y="1641283"/>
            <a:ext cx="3812931" cy="102170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65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E4B4FB"/>
              </a:buClr>
              <a:buSzPts val="1800"/>
              <a:buChar char="•"/>
              <a:defRPr b="1" sz="1800">
                <a:solidFill>
                  <a:srgbClr val="E4B4FB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6" name="Google Shape;216;p38"/>
          <p:cNvSpPr txBox="1"/>
          <p:nvPr>
            <p:ph idx="5" type="body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7" name="Google Shape;217;p38"/>
          <p:cNvSpPr/>
          <p:nvPr>
            <p:ph idx="6" type="body"/>
          </p:nvPr>
        </p:nvSpPr>
        <p:spPr>
          <a:xfrm>
            <a:off x="356349" y="3864598"/>
            <a:ext cx="3812931" cy="102170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65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 b="1" sz="1800">
                <a:solidFill>
                  <a:schemeClr val="accent4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8" name="Google Shape;218;p38"/>
          <p:cNvSpPr txBox="1"/>
          <p:nvPr>
            <p:ph idx="7" type="body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9" name="Google Shape;219;p38"/>
          <p:cNvSpPr/>
          <p:nvPr>
            <p:ph idx="8" type="body"/>
          </p:nvPr>
        </p:nvSpPr>
        <p:spPr>
          <a:xfrm>
            <a:off x="8040021" y="3864598"/>
            <a:ext cx="3812931" cy="102170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65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 b="1" sz="1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0" name="Google Shape;220;p38"/>
          <p:cNvSpPr txBox="1"/>
          <p:nvPr>
            <p:ph idx="9" type="body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221" name="Google Shape;221;p38"/>
          <p:cNvCxnSpPr/>
          <p:nvPr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2" name="Google Shape;222;p38"/>
          <p:cNvCxnSpPr/>
          <p:nvPr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3" name="Google Shape;223;p38"/>
          <p:cNvCxnSpPr/>
          <p:nvPr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cap="flat" cmpd="sng" w="25400">
            <a:solidFill>
              <a:srgbClr val="E4B4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4" name="Google Shape;224;p38"/>
          <p:cNvCxnSpPr/>
          <p:nvPr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cap="flat" cmpd="sng" w="254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5" name="Google Shape;225;p38"/>
          <p:cNvSpPr txBox="1"/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38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38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38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">
  <p:cSld name="Пустой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97"/>
              <a:buFont typeface="Montserrat"/>
              <a:buNone/>
              <a:defRPr b="1" i="0" sz="1997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6"/>
          <p:cNvSpPr txBox="1"/>
          <p:nvPr>
            <p:ph idx="1" type="body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802" lvl="0" marL="457200" marR="0" rtl="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52"/>
              <a:buFont typeface="Arial"/>
              <a:buChar char="•"/>
              <a:defRPr b="0" i="0" sz="1452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09309" lvl="1" marL="914400" marR="0" rtl="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271"/>
              <a:buFont typeface="Arial"/>
              <a:buChar char="•"/>
              <a:defRPr b="0" i="0" sz="1271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91910" lvl="2" marL="1371600" marR="0" rtl="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997"/>
              <a:buFont typeface="Arial"/>
              <a:buChar char="•"/>
              <a:defRPr b="0" i="0" sz="997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86195" lvl="3" marL="1828800" marR="0" rtl="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907"/>
              <a:buFont typeface="Arial"/>
              <a:buChar char="•"/>
              <a:defRPr b="0" i="0" sz="907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86195" lvl="4" marL="2286000" marR="0" rtl="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907"/>
              <a:buFont typeface="Arial"/>
              <a:buChar char="•"/>
              <a:defRPr b="0" i="0" sz="907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01054" lvl="5" marL="2743200" marR="0" rtl="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141"/>
              <a:buFont typeface="Arial"/>
              <a:buChar char="•"/>
              <a:defRPr b="0" i="0" sz="1141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01054" lvl="6" marL="3200400" marR="0" rtl="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141"/>
              <a:buFont typeface="Arial"/>
              <a:buChar char="•"/>
              <a:defRPr b="0" i="0" sz="1141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01053" lvl="7" marL="3657600" marR="0" rtl="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141"/>
              <a:buFont typeface="Arial"/>
              <a:buChar char="•"/>
              <a:defRPr b="0" i="0" sz="1141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01053" lvl="8" marL="4114800" marR="0" rtl="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141"/>
              <a:buFont typeface="Arial"/>
              <a:buChar char="•"/>
              <a:defRPr b="0" i="0" sz="1141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2" name="Google Shape;12;p16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6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3" name="Google Shape;13;p16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6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4156">
          <p15:clr>
            <a:srgbClr val="F26B43"/>
          </p15:clr>
        </p15:guide>
        <p15:guide id="2" orient="horz" pos="482">
          <p15:clr>
            <a:srgbClr val="F26B43"/>
          </p15:clr>
        </p15:guide>
        <p15:guide id="3" pos="218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249">
          <p15:clr>
            <a:srgbClr val="F26B43"/>
          </p15:clr>
        </p15:guide>
        <p15:guide id="6" orient="horz" pos="4042">
          <p15:clr>
            <a:srgbClr val="F26B43"/>
          </p15:clr>
        </p15:guide>
        <p15:guide id="7" orient="horz" pos="3906">
          <p15:clr>
            <a:srgbClr val="F26B43"/>
          </p15:clr>
        </p15:guide>
        <p15:guide id="8" orient="horz" pos="640">
          <p15:clr>
            <a:srgbClr val="F26B43"/>
          </p15:clr>
        </p15:guide>
        <p15:guide id="9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0.jpg"/><Relationship Id="rId5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"/>
          <p:cNvSpPr txBox="1"/>
          <p:nvPr>
            <p:ph type="ctrTitle"/>
          </p:nvPr>
        </p:nvSpPr>
        <p:spPr>
          <a:xfrm>
            <a:off x="1" y="3894513"/>
            <a:ext cx="6271845" cy="17067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712788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800"/>
              <a:buFont typeface="Montserrat"/>
              <a:buNone/>
            </a:pPr>
            <a:r>
              <a:rPr lang="ru-RU" sz="2800">
                <a:solidFill>
                  <a:srgbClr val="F2F2F2"/>
                </a:solidFill>
              </a:rPr>
              <a:t>PirateHunter</a:t>
            </a:r>
            <a:endParaRPr/>
          </a:p>
        </p:txBody>
      </p:sp>
      <p:sp>
        <p:nvSpPr>
          <p:cNvPr id="236" name="Google Shape;236;p1"/>
          <p:cNvSpPr txBox="1"/>
          <p:nvPr>
            <p:ph idx="1" type="body"/>
          </p:nvPr>
        </p:nvSpPr>
        <p:spPr>
          <a:xfrm>
            <a:off x="0" y="5659500"/>
            <a:ext cx="91386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-3175" lvl="0" marL="27146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ct val="100000"/>
              <a:buNone/>
            </a:pPr>
            <a:r>
              <a:rPr lang="ru-RU"/>
              <a:t>Цифровая платформа-агрегатор ИТ-вакансий </a:t>
            </a:r>
            <a:br>
              <a:rPr lang="ru-RU"/>
            </a:br>
            <a:r>
              <a:rPr lang="ru-RU"/>
              <a:t>с верифицированным профилем достижений </a:t>
            </a:r>
            <a:br>
              <a:rPr lang="ru-RU"/>
            </a:br>
            <a:r>
              <a:rPr lang="ru-RU"/>
              <a:t>участника Федерации спортивного программирования (ФСП)</a:t>
            </a:r>
            <a:endParaRPr/>
          </a:p>
          <a:p>
            <a:pPr indent="712788" lvl="0" marL="0" rtl="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ru-RU">
                <a:solidFill>
                  <a:schemeClr val="lt1"/>
                </a:solidFill>
              </a:rPr>
              <a:t>Обратная механика подбора: работодатель ищет, кандидат выбирает</a:t>
            </a:r>
            <a:endParaRPr/>
          </a:p>
        </p:txBody>
      </p:sp>
      <p:sp>
        <p:nvSpPr>
          <p:cNvPr id="237" name="Google Shape;237;p1"/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fmla="val 9821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38" name="Google Shape;23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6075" y="631174"/>
            <a:ext cx="4905194" cy="6200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"/>
          <p:cNvSpPr/>
          <p:nvPr/>
        </p:nvSpPr>
        <p:spPr>
          <a:xfrm>
            <a:off x="429141" y="3008209"/>
            <a:ext cx="3728347" cy="3656826"/>
          </a:xfrm>
          <a:prstGeom prst="roundRect">
            <a:avLst>
              <a:gd fmla="val 515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5" name="Google Shape;245;p2"/>
          <p:cNvSpPr/>
          <p:nvPr/>
        </p:nvSpPr>
        <p:spPr>
          <a:xfrm>
            <a:off x="4327137" y="3008209"/>
            <a:ext cx="3728347" cy="3656826"/>
          </a:xfrm>
          <a:prstGeom prst="roundRect">
            <a:avLst>
              <a:gd fmla="val 515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6" name="Google Shape;246;p2"/>
          <p:cNvSpPr/>
          <p:nvPr/>
        </p:nvSpPr>
        <p:spPr>
          <a:xfrm>
            <a:off x="8225133" y="3008209"/>
            <a:ext cx="3728347" cy="3656826"/>
          </a:xfrm>
          <a:prstGeom prst="roundRect">
            <a:avLst>
              <a:gd fmla="val 515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7" name="Google Shape;247;p2"/>
          <p:cNvSpPr/>
          <p:nvPr/>
        </p:nvSpPr>
        <p:spPr>
          <a:xfrm>
            <a:off x="346075" y="324550"/>
            <a:ext cx="3534300" cy="621000"/>
          </a:xfrm>
          <a:prstGeom prst="roundRect">
            <a:avLst>
              <a:gd fmla="val 1870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8" name="Google Shape;248;p2"/>
          <p:cNvSpPr/>
          <p:nvPr/>
        </p:nvSpPr>
        <p:spPr>
          <a:xfrm>
            <a:off x="5340262" y="1366572"/>
            <a:ext cx="1504594" cy="1401168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9" name="Google Shape;249;p2"/>
          <p:cNvSpPr/>
          <p:nvPr/>
        </p:nvSpPr>
        <p:spPr>
          <a:xfrm>
            <a:off x="1541018" y="1366572"/>
            <a:ext cx="1504594" cy="1401168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0" name="Google Shape;250;p2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accent5"/>
                </a:solidFill>
              </a:rPr>
              <a:t>‹#›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251" name="Google Shape;251;p2"/>
          <p:cNvSpPr/>
          <p:nvPr>
            <p:ph idx="1" type="body"/>
          </p:nvPr>
        </p:nvSpPr>
        <p:spPr>
          <a:xfrm>
            <a:off x="616304" y="3286814"/>
            <a:ext cx="3264113" cy="2375115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</a:pPr>
            <a:r>
              <a:rPr b="1" lang="ru-RU">
                <a:solidFill>
                  <a:schemeClr val="accent5"/>
                </a:solidFill>
              </a:rPr>
              <a:t>Односторонний поток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ru-RU">
                <a:solidFill>
                  <a:schemeClr val="dk1"/>
                </a:solidFill>
              </a:rPr>
              <a:t>Кандидат шлёт отклики в никуда, работодатель тонет в нерелевантных резюме. ТЗ ФСП требует обратную механику: приглашать, а не откликаться.</a:t>
            </a:r>
            <a:endParaRPr/>
          </a:p>
        </p:txBody>
      </p:sp>
      <p:sp>
        <p:nvSpPr>
          <p:cNvPr id="252" name="Google Shape;252;p2"/>
          <p:cNvSpPr/>
          <p:nvPr>
            <p:ph idx="2" type="body"/>
          </p:nvPr>
        </p:nvSpPr>
        <p:spPr>
          <a:xfrm>
            <a:off x="4569890" y="3264544"/>
            <a:ext cx="3264113" cy="2375115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</a:pPr>
            <a:r>
              <a:rPr b="1" lang="ru-RU">
                <a:solidFill>
                  <a:schemeClr val="accent5"/>
                </a:solidFill>
              </a:rPr>
              <a:t>Зарплата непрозрачна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ru-RU">
                <a:solidFill>
                  <a:schemeClr val="dk1"/>
                </a:solidFill>
              </a:rPr>
              <a:t>Вилку узнают на собеседовании — обе стороны теряют время. ТЗ требует: вилка обязательна и видна кандидату до ответа.</a:t>
            </a:r>
            <a:endParaRPr/>
          </a:p>
        </p:txBody>
      </p:sp>
      <p:sp>
        <p:nvSpPr>
          <p:cNvPr id="253" name="Google Shape;253;p2"/>
          <p:cNvSpPr/>
          <p:nvPr>
            <p:ph idx="3" type="body"/>
          </p:nvPr>
        </p:nvSpPr>
        <p:spPr>
          <a:xfrm>
            <a:off x="8405081" y="3277471"/>
            <a:ext cx="3264113" cy="2375115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</a:pPr>
            <a:r>
              <a:rPr b="1" lang="ru-RU">
                <a:solidFill>
                  <a:schemeClr val="accent5"/>
                </a:solidFill>
              </a:rPr>
              <a:t>Навыки по словам резюме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ru-RU">
                <a:solidFill>
                  <a:schemeClr val="dk1"/>
                </a:solidFill>
              </a:rPr>
              <a:t>Стаж в годах не равен уровню: заявленный грейд никто не проверяет. Нужна объективная верификация навыков тестом.</a:t>
            </a:r>
            <a:endParaRPr/>
          </a:p>
        </p:txBody>
      </p:sp>
      <p:cxnSp>
        <p:nvCxnSpPr>
          <p:cNvPr id="254" name="Google Shape;254;p2"/>
          <p:cNvCxnSpPr/>
          <p:nvPr/>
        </p:nvCxnSpPr>
        <p:spPr>
          <a:xfrm flipH="1" rot="10800000">
            <a:off x="3041995" y="2120995"/>
            <a:ext cx="2288595" cy="11479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grpSp>
        <p:nvGrpSpPr>
          <p:cNvPr id="255" name="Google Shape;255;p2"/>
          <p:cNvGrpSpPr/>
          <p:nvPr/>
        </p:nvGrpSpPr>
        <p:grpSpPr>
          <a:xfrm>
            <a:off x="1899087" y="1753233"/>
            <a:ext cx="738531" cy="687909"/>
            <a:chOff x="3385734" y="2233242"/>
            <a:chExt cx="340504" cy="319542"/>
          </a:xfrm>
        </p:grpSpPr>
        <p:sp>
          <p:nvSpPr>
            <p:cNvPr id="256" name="Google Shape;256;p2"/>
            <p:cNvSpPr/>
            <p:nvPr/>
          </p:nvSpPr>
          <p:spPr>
            <a:xfrm>
              <a:off x="3385734" y="2233242"/>
              <a:ext cx="340504" cy="319542"/>
            </a:xfrm>
            <a:custGeom>
              <a:rect b="b" l="l" r="r" t="t"/>
              <a:pathLst>
                <a:path extrusionOk="0" h="9289" w="10122">
                  <a:moveTo>
                    <a:pt x="9574" y="310"/>
                  </a:moveTo>
                  <a:cubicBezTo>
                    <a:pt x="9717" y="310"/>
                    <a:pt x="9812" y="406"/>
                    <a:pt x="9812" y="549"/>
                  </a:cubicBezTo>
                  <a:lnTo>
                    <a:pt x="9812" y="5669"/>
                  </a:lnTo>
                  <a:lnTo>
                    <a:pt x="8622" y="5669"/>
                  </a:lnTo>
                  <a:cubicBezTo>
                    <a:pt x="8550" y="5669"/>
                    <a:pt x="8479" y="5740"/>
                    <a:pt x="8479" y="5812"/>
                  </a:cubicBezTo>
                  <a:cubicBezTo>
                    <a:pt x="8479" y="5907"/>
                    <a:pt x="8550" y="5978"/>
                    <a:pt x="8622" y="5978"/>
                  </a:cubicBezTo>
                  <a:lnTo>
                    <a:pt x="9812" y="5978"/>
                  </a:lnTo>
                  <a:lnTo>
                    <a:pt x="9812" y="6455"/>
                  </a:lnTo>
                  <a:cubicBezTo>
                    <a:pt x="9812" y="6597"/>
                    <a:pt x="9717" y="6717"/>
                    <a:pt x="9574" y="6717"/>
                  </a:cubicBezTo>
                  <a:lnTo>
                    <a:pt x="549" y="6717"/>
                  </a:lnTo>
                  <a:cubicBezTo>
                    <a:pt x="406" y="6717"/>
                    <a:pt x="287" y="6597"/>
                    <a:pt x="287" y="6455"/>
                  </a:cubicBezTo>
                  <a:lnTo>
                    <a:pt x="287" y="5978"/>
                  </a:lnTo>
                  <a:lnTo>
                    <a:pt x="7979" y="5978"/>
                  </a:lnTo>
                  <a:cubicBezTo>
                    <a:pt x="8050" y="5978"/>
                    <a:pt x="8122" y="5907"/>
                    <a:pt x="8122" y="5812"/>
                  </a:cubicBezTo>
                  <a:cubicBezTo>
                    <a:pt x="8122" y="5740"/>
                    <a:pt x="8050" y="5669"/>
                    <a:pt x="7979" y="5669"/>
                  </a:cubicBezTo>
                  <a:lnTo>
                    <a:pt x="6216" y="5669"/>
                  </a:lnTo>
                  <a:lnTo>
                    <a:pt x="6216" y="310"/>
                  </a:lnTo>
                  <a:close/>
                  <a:moveTo>
                    <a:pt x="5335" y="7002"/>
                  </a:moveTo>
                  <a:lnTo>
                    <a:pt x="5335" y="7193"/>
                  </a:lnTo>
                  <a:cubicBezTo>
                    <a:pt x="5335" y="7360"/>
                    <a:pt x="5216" y="7479"/>
                    <a:pt x="5049" y="7479"/>
                  </a:cubicBezTo>
                  <a:cubicBezTo>
                    <a:pt x="4907" y="7479"/>
                    <a:pt x="4764" y="7360"/>
                    <a:pt x="4764" y="7193"/>
                  </a:cubicBezTo>
                  <a:lnTo>
                    <a:pt x="4764" y="7002"/>
                  </a:lnTo>
                  <a:close/>
                  <a:moveTo>
                    <a:pt x="6073" y="7002"/>
                  </a:moveTo>
                  <a:lnTo>
                    <a:pt x="6169" y="8241"/>
                  </a:lnTo>
                  <a:lnTo>
                    <a:pt x="3954" y="8241"/>
                  </a:lnTo>
                  <a:lnTo>
                    <a:pt x="4049" y="7002"/>
                  </a:lnTo>
                  <a:lnTo>
                    <a:pt x="4478" y="7002"/>
                  </a:lnTo>
                  <a:lnTo>
                    <a:pt x="4478" y="7193"/>
                  </a:lnTo>
                  <a:cubicBezTo>
                    <a:pt x="4478" y="7526"/>
                    <a:pt x="4740" y="7788"/>
                    <a:pt x="5049" y="7788"/>
                  </a:cubicBezTo>
                  <a:cubicBezTo>
                    <a:pt x="5383" y="7788"/>
                    <a:pt x="5645" y="7526"/>
                    <a:pt x="5645" y="7193"/>
                  </a:cubicBezTo>
                  <a:lnTo>
                    <a:pt x="5645" y="7002"/>
                  </a:lnTo>
                  <a:close/>
                  <a:moveTo>
                    <a:pt x="6859" y="8526"/>
                  </a:moveTo>
                  <a:cubicBezTo>
                    <a:pt x="6883" y="8526"/>
                    <a:pt x="6907" y="8550"/>
                    <a:pt x="6907" y="8574"/>
                  </a:cubicBezTo>
                  <a:lnTo>
                    <a:pt x="6907" y="8955"/>
                  </a:lnTo>
                  <a:cubicBezTo>
                    <a:pt x="6907" y="8979"/>
                    <a:pt x="6883" y="9003"/>
                    <a:pt x="6859" y="9003"/>
                  </a:cubicBezTo>
                  <a:lnTo>
                    <a:pt x="3263" y="9003"/>
                  </a:lnTo>
                  <a:cubicBezTo>
                    <a:pt x="3240" y="9003"/>
                    <a:pt x="3216" y="8979"/>
                    <a:pt x="3216" y="8955"/>
                  </a:cubicBezTo>
                  <a:lnTo>
                    <a:pt x="3216" y="8574"/>
                  </a:lnTo>
                  <a:cubicBezTo>
                    <a:pt x="3216" y="8550"/>
                    <a:pt x="3240" y="8526"/>
                    <a:pt x="3263" y="8526"/>
                  </a:cubicBezTo>
                  <a:close/>
                  <a:moveTo>
                    <a:pt x="549" y="1"/>
                  </a:moveTo>
                  <a:cubicBezTo>
                    <a:pt x="239" y="1"/>
                    <a:pt x="1" y="239"/>
                    <a:pt x="1" y="549"/>
                  </a:cubicBezTo>
                  <a:lnTo>
                    <a:pt x="1" y="1477"/>
                  </a:lnTo>
                  <a:cubicBezTo>
                    <a:pt x="1" y="1573"/>
                    <a:pt x="72" y="1644"/>
                    <a:pt x="144" y="1644"/>
                  </a:cubicBezTo>
                  <a:cubicBezTo>
                    <a:pt x="215" y="1644"/>
                    <a:pt x="287" y="1573"/>
                    <a:pt x="287" y="1477"/>
                  </a:cubicBezTo>
                  <a:lnTo>
                    <a:pt x="287" y="549"/>
                  </a:lnTo>
                  <a:cubicBezTo>
                    <a:pt x="287" y="406"/>
                    <a:pt x="406" y="310"/>
                    <a:pt x="549" y="310"/>
                  </a:cubicBezTo>
                  <a:lnTo>
                    <a:pt x="5907" y="310"/>
                  </a:lnTo>
                  <a:lnTo>
                    <a:pt x="5907" y="5669"/>
                  </a:lnTo>
                  <a:lnTo>
                    <a:pt x="287" y="5669"/>
                  </a:lnTo>
                  <a:lnTo>
                    <a:pt x="287" y="2144"/>
                  </a:lnTo>
                  <a:cubicBezTo>
                    <a:pt x="287" y="2049"/>
                    <a:pt x="239" y="2001"/>
                    <a:pt x="144" y="2001"/>
                  </a:cubicBezTo>
                  <a:cubicBezTo>
                    <a:pt x="72" y="2001"/>
                    <a:pt x="1" y="2049"/>
                    <a:pt x="1" y="2144"/>
                  </a:cubicBezTo>
                  <a:lnTo>
                    <a:pt x="1" y="6455"/>
                  </a:lnTo>
                  <a:cubicBezTo>
                    <a:pt x="1" y="6764"/>
                    <a:pt x="239" y="7002"/>
                    <a:pt x="549" y="7002"/>
                  </a:cubicBezTo>
                  <a:lnTo>
                    <a:pt x="3763" y="7002"/>
                  </a:lnTo>
                  <a:lnTo>
                    <a:pt x="3644" y="8241"/>
                  </a:lnTo>
                  <a:lnTo>
                    <a:pt x="3263" y="8241"/>
                  </a:lnTo>
                  <a:cubicBezTo>
                    <a:pt x="3073" y="8241"/>
                    <a:pt x="2930" y="8384"/>
                    <a:pt x="2930" y="8574"/>
                  </a:cubicBezTo>
                  <a:lnTo>
                    <a:pt x="2930" y="8955"/>
                  </a:lnTo>
                  <a:cubicBezTo>
                    <a:pt x="2930" y="9146"/>
                    <a:pt x="3073" y="9288"/>
                    <a:pt x="3263" y="9288"/>
                  </a:cubicBezTo>
                  <a:lnTo>
                    <a:pt x="6859" y="9288"/>
                  </a:lnTo>
                  <a:cubicBezTo>
                    <a:pt x="7050" y="9288"/>
                    <a:pt x="7193" y="9146"/>
                    <a:pt x="7193" y="8955"/>
                  </a:cubicBezTo>
                  <a:lnTo>
                    <a:pt x="7193" y="8574"/>
                  </a:lnTo>
                  <a:cubicBezTo>
                    <a:pt x="7193" y="8384"/>
                    <a:pt x="7050" y="8241"/>
                    <a:pt x="6859" y="8241"/>
                  </a:cubicBezTo>
                  <a:lnTo>
                    <a:pt x="6478" y="8241"/>
                  </a:lnTo>
                  <a:lnTo>
                    <a:pt x="6359" y="7002"/>
                  </a:lnTo>
                  <a:lnTo>
                    <a:pt x="9574" y="7002"/>
                  </a:lnTo>
                  <a:cubicBezTo>
                    <a:pt x="9860" y="7002"/>
                    <a:pt x="10122" y="6764"/>
                    <a:pt x="10122" y="6455"/>
                  </a:cubicBezTo>
                  <a:lnTo>
                    <a:pt x="10122" y="549"/>
                  </a:lnTo>
                  <a:cubicBezTo>
                    <a:pt x="10122" y="239"/>
                    <a:pt x="9884" y="1"/>
                    <a:pt x="9574" y="1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57" name="Google Shape;257;p2"/>
            <p:cNvSpPr/>
            <p:nvPr/>
          </p:nvSpPr>
          <p:spPr>
            <a:xfrm>
              <a:off x="3420989" y="2296022"/>
              <a:ext cx="143441" cy="113382"/>
            </a:xfrm>
            <a:custGeom>
              <a:rect b="b" l="l" r="r" t="t"/>
              <a:pathLst>
                <a:path extrusionOk="0" h="3296" w="4264">
                  <a:moveTo>
                    <a:pt x="3897" y="0"/>
                  </a:moveTo>
                  <a:cubicBezTo>
                    <a:pt x="3848" y="0"/>
                    <a:pt x="3805" y="22"/>
                    <a:pt x="3787" y="57"/>
                  </a:cubicBezTo>
                  <a:lnTo>
                    <a:pt x="2835" y="1176"/>
                  </a:lnTo>
                  <a:lnTo>
                    <a:pt x="2596" y="986"/>
                  </a:lnTo>
                  <a:cubicBezTo>
                    <a:pt x="2573" y="962"/>
                    <a:pt x="2537" y="950"/>
                    <a:pt x="2501" y="950"/>
                  </a:cubicBezTo>
                  <a:cubicBezTo>
                    <a:pt x="2465" y="950"/>
                    <a:pt x="2430" y="962"/>
                    <a:pt x="2406" y="986"/>
                  </a:cubicBezTo>
                  <a:lnTo>
                    <a:pt x="1811" y="1629"/>
                  </a:lnTo>
                  <a:lnTo>
                    <a:pt x="1096" y="1367"/>
                  </a:lnTo>
                  <a:cubicBezTo>
                    <a:pt x="1084" y="1355"/>
                    <a:pt x="1066" y="1349"/>
                    <a:pt x="1045" y="1349"/>
                  </a:cubicBezTo>
                  <a:cubicBezTo>
                    <a:pt x="1025" y="1349"/>
                    <a:pt x="1001" y="1355"/>
                    <a:pt x="977" y="1367"/>
                  </a:cubicBezTo>
                  <a:lnTo>
                    <a:pt x="286" y="1772"/>
                  </a:lnTo>
                  <a:lnTo>
                    <a:pt x="286" y="462"/>
                  </a:lnTo>
                  <a:cubicBezTo>
                    <a:pt x="286" y="391"/>
                    <a:pt x="239" y="319"/>
                    <a:pt x="144" y="319"/>
                  </a:cubicBezTo>
                  <a:cubicBezTo>
                    <a:pt x="72" y="319"/>
                    <a:pt x="1" y="391"/>
                    <a:pt x="1" y="462"/>
                  </a:cubicBezTo>
                  <a:lnTo>
                    <a:pt x="1" y="3153"/>
                  </a:lnTo>
                  <a:cubicBezTo>
                    <a:pt x="1" y="3225"/>
                    <a:pt x="72" y="3296"/>
                    <a:pt x="144" y="3296"/>
                  </a:cubicBezTo>
                  <a:lnTo>
                    <a:pt x="4121" y="3296"/>
                  </a:lnTo>
                  <a:cubicBezTo>
                    <a:pt x="4192" y="3296"/>
                    <a:pt x="4263" y="3225"/>
                    <a:pt x="4263" y="3153"/>
                  </a:cubicBezTo>
                  <a:cubicBezTo>
                    <a:pt x="4263" y="3082"/>
                    <a:pt x="4216" y="3010"/>
                    <a:pt x="4121" y="3010"/>
                  </a:cubicBezTo>
                  <a:lnTo>
                    <a:pt x="4049" y="3010"/>
                  </a:lnTo>
                  <a:lnTo>
                    <a:pt x="4049" y="2200"/>
                  </a:lnTo>
                  <a:cubicBezTo>
                    <a:pt x="4049" y="2105"/>
                    <a:pt x="3978" y="2034"/>
                    <a:pt x="3906" y="2034"/>
                  </a:cubicBezTo>
                  <a:cubicBezTo>
                    <a:pt x="3811" y="2034"/>
                    <a:pt x="3739" y="2105"/>
                    <a:pt x="3739" y="2200"/>
                  </a:cubicBezTo>
                  <a:lnTo>
                    <a:pt x="3739" y="3010"/>
                  </a:lnTo>
                  <a:lnTo>
                    <a:pt x="3382" y="3010"/>
                  </a:lnTo>
                  <a:lnTo>
                    <a:pt x="3382" y="2891"/>
                  </a:lnTo>
                  <a:cubicBezTo>
                    <a:pt x="3382" y="2820"/>
                    <a:pt x="3311" y="2748"/>
                    <a:pt x="3239" y="2748"/>
                  </a:cubicBezTo>
                  <a:cubicBezTo>
                    <a:pt x="3144" y="2748"/>
                    <a:pt x="3073" y="2796"/>
                    <a:pt x="3073" y="2891"/>
                  </a:cubicBezTo>
                  <a:lnTo>
                    <a:pt x="3073" y="3010"/>
                  </a:lnTo>
                  <a:lnTo>
                    <a:pt x="2573" y="3010"/>
                  </a:lnTo>
                  <a:lnTo>
                    <a:pt x="2573" y="2891"/>
                  </a:lnTo>
                  <a:cubicBezTo>
                    <a:pt x="2573" y="2820"/>
                    <a:pt x="2525" y="2748"/>
                    <a:pt x="2430" y="2748"/>
                  </a:cubicBezTo>
                  <a:cubicBezTo>
                    <a:pt x="2358" y="2748"/>
                    <a:pt x="2287" y="2796"/>
                    <a:pt x="2287" y="2891"/>
                  </a:cubicBezTo>
                  <a:lnTo>
                    <a:pt x="2287" y="3010"/>
                  </a:lnTo>
                  <a:lnTo>
                    <a:pt x="1787" y="3010"/>
                  </a:lnTo>
                  <a:lnTo>
                    <a:pt x="1787" y="2891"/>
                  </a:lnTo>
                  <a:cubicBezTo>
                    <a:pt x="1787" y="2820"/>
                    <a:pt x="1715" y="2748"/>
                    <a:pt x="1644" y="2748"/>
                  </a:cubicBezTo>
                  <a:cubicBezTo>
                    <a:pt x="1549" y="2748"/>
                    <a:pt x="1501" y="2796"/>
                    <a:pt x="1501" y="2891"/>
                  </a:cubicBezTo>
                  <a:lnTo>
                    <a:pt x="1501" y="3010"/>
                  </a:lnTo>
                  <a:lnTo>
                    <a:pt x="1001" y="3010"/>
                  </a:lnTo>
                  <a:lnTo>
                    <a:pt x="1001" y="2891"/>
                  </a:lnTo>
                  <a:cubicBezTo>
                    <a:pt x="1001" y="2820"/>
                    <a:pt x="929" y="2748"/>
                    <a:pt x="834" y="2748"/>
                  </a:cubicBezTo>
                  <a:cubicBezTo>
                    <a:pt x="763" y="2748"/>
                    <a:pt x="691" y="2796"/>
                    <a:pt x="691" y="2891"/>
                  </a:cubicBezTo>
                  <a:lnTo>
                    <a:pt x="691" y="3010"/>
                  </a:lnTo>
                  <a:lnTo>
                    <a:pt x="286" y="3010"/>
                  </a:lnTo>
                  <a:lnTo>
                    <a:pt x="286" y="2105"/>
                  </a:lnTo>
                  <a:lnTo>
                    <a:pt x="1048" y="1653"/>
                  </a:lnTo>
                  <a:lnTo>
                    <a:pt x="1811" y="1962"/>
                  </a:lnTo>
                  <a:cubicBezTo>
                    <a:pt x="1823" y="1969"/>
                    <a:pt x="1838" y="1972"/>
                    <a:pt x="1853" y="1972"/>
                  </a:cubicBezTo>
                  <a:cubicBezTo>
                    <a:pt x="1893" y="1972"/>
                    <a:pt x="1936" y="1950"/>
                    <a:pt x="1953" y="1915"/>
                  </a:cubicBezTo>
                  <a:lnTo>
                    <a:pt x="2525" y="1296"/>
                  </a:lnTo>
                  <a:lnTo>
                    <a:pt x="2763" y="1486"/>
                  </a:lnTo>
                  <a:cubicBezTo>
                    <a:pt x="2795" y="1518"/>
                    <a:pt x="2828" y="1531"/>
                    <a:pt x="2860" y="1531"/>
                  </a:cubicBezTo>
                  <a:cubicBezTo>
                    <a:pt x="2899" y="1531"/>
                    <a:pt x="2938" y="1512"/>
                    <a:pt x="2977" y="1486"/>
                  </a:cubicBezTo>
                  <a:lnTo>
                    <a:pt x="3739" y="557"/>
                  </a:lnTo>
                  <a:lnTo>
                    <a:pt x="3739" y="1534"/>
                  </a:lnTo>
                  <a:cubicBezTo>
                    <a:pt x="3739" y="1629"/>
                    <a:pt x="3811" y="1677"/>
                    <a:pt x="3882" y="1677"/>
                  </a:cubicBezTo>
                  <a:cubicBezTo>
                    <a:pt x="3978" y="1677"/>
                    <a:pt x="4049" y="1629"/>
                    <a:pt x="4049" y="1534"/>
                  </a:cubicBezTo>
                  <a:lnTo>
                    <a:pt x="4049" y="152"/>
                  </a:lnTo>
                  <a:cubicBezTo>
                    <a:pt x="4049" y="81"/>
                    <a:pt x="4001" y="33"/>
                    <a:pt x="3954" y="10"/>
                  </a:cubicBezTo>
                  <a:cubicBezTo>
                    <a:pt x="3935" y="3"/>
                    <a:pt x="3916" y="0"/>
                    <a:pt x="389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58" name="Google Shape;258;p2"/>
            <p:cNvSpPr/>
            <p:nvPr/>
          </p:nvSpPr>
          <p:spPr>
            <a:xfrm>
              <a:off x="3451433" y="2319276"/>
              <a:ext cx="9655" cy="13966"/>
            </a:xfrm>
            <a:custGeom>
              <a:rect b="b" l="l" r="r" t="t"/>
              <a:pathLst>
                <a:path extrusionOk="0" h="406" w="287">
                  <a:moveTo>
                    <a:pt x="143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262"/>
                  </a:lnTo>
                  <a:cubicBezTo>
                    <a:pt x="1" y="358"/>
                    <a:pt x="72" y="405"/>
                    <a:pt x="143" y="405"/>
                  </a:cubicBezTo>
                  <a:cubicBezTo>
                    <a:pt x="239" y="405"/>
                    <a:pt x="286" y="358"/>
                    <a:pt x="286" y="262"/>
                  </a:cubicBezTo>
                  <a:lnTo>
                    <a:pt x="286" y="167"/>
                  </a:lnTo>
                  <a:cubicBezTo>
                    <a:pt x="286" y="72"/>
                    <a:pt x="239" y="0"/>
                    <a:pt x="14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59" name="Google Shape;259;p2"/>
            <p:cNvSpPr/>
            <p:nvPr/>
          </p:nvSpPr>
          <p:spPr>
            <a:xfrm>
              <a:off x="3500312" y="2305344"/>
              <a:ext cx="10428" cy="13966"/>
            </a:xfrm>
            <a:custGeom>
              <a:rect b="b" l="l" r="r" t="t"/>
              <a:pathLst>
                <a:path extrusionOk="0" h="406" w="31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lnTo>
                    <a:pt x="0" y="262"/>
                  </a:lnTo>
                  <a:cubicBezTo>
                    <a:pt x="0" y="334"/>
                    <a:pt x="72" y="405"/>
                    <a:pt x="143" y="405"/>
                  </a:cubicBezTo>
                  <a:cubicBezTo>
                    <a:pt x="238" y="405"/>
                    <a:pt x="310" y="334"/>
                    <a:pt x="310" y="262"/>
                  </a:cubicBezTo>
                  <a:lnTo>
                    <a:pt x="310" y="143"/>
                  </a:lnTo>
                  <a:cubicBezTo>
                    <a:pt x="310" y="72"/>
                    <a:pt x="238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60" name="Google Shape;260;p2"/>
            <p:cNvSpPr/>
            <p:nvPr/>
          </p:nvSpPr>
          <p:spPr>
            <a:xfrm>
              <a:off x="3546769" y="2275038"/>
              <a:ext cx="10462" cy="13966"/>
            </a:xfrm>
            <a:custGeom>
              <a:rect b="b" l="l" r="r" t="t"/>
              <a:pathLst>
                <a:path extrusionOk="0" h="406" w="311">
                  <a:moveTo>
                    <a:pt x="167" y="0"/>
                  </a:moveTo>
                  <a:cubicBezTo>
                    <a:pt x="72" y="0"/>
                    <a:pt x="0" y="48"/>
                    <a:pt x="0" y="143"/>
                  </a:cubicBezTo>
                  <a:lnTo>
                    <a:pt x="0" y="239"/>
                  </a:lnTo>
                  <a:cubicBezTo>
                    <a:pt x="0" y="334"/>
                    <a:pt x="72" y="405"/>
                    <a:pt x="167" y="405"/>
                  </a:cubicBezTo>
                  <a:cubicBezTo>
                    <a:pt x="239" y="405"/>
                    <a:pt x="310" y="334"/>
                    <a:pt x="310" y="239"/>
                  </a:cubicBezTo>
                  <a:lnTo>
                    <a:pt x="310" y="143"/>
                  </a:lnTo>
                  <a:cubicBezTo>
                    <a:pt x="310" y="48"/>
                    <a:pt x="239" y="0"/>
                    <a:pt x="16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61" name="Google Shape;261;p2"/>
            <p:cNvSpPr/>
            <p:nvPr/>
          </p:nvSpPr>
          <p:spPr>
            <a:xfrm>
              <a:off x="3420989" y="2260280"/>
              <a:ext cx="27282" cy="9873"/>
            </a:xfrm>
            <a:custGeom>
              <a:rect b="b" l="l" r="r" t="t"/>
              <a:pathLst>
                <a:path extrusionOk="0" h="287" w="811">
                  <a:moveTo>
                    <a:pt x="144" y="1"/>
                  </a:moveTo>
                  <a:cubicBezTo>
                    <a:pt x="72" y="1"/>
                    <a:pt x="1" y="72"/>
                    <a:pt x="1" y="144"/>
                  </a:cubicBezTo>
                  <a:cubicBezTo>
                    <a:pt x="1" y="239"/>
                    <a:pt x="72" y="287"/>
                    <a:pt x="144" y="287"/>
                  </a:cubicBezTo>
                  <a:lnTo>
                    <a:pt x="667" y="287"/>
                  </a:lnTo>
                  <a:cubicBezTo>
                    <a:pt x="739" y="287"/>
                    <a:pt x="810" y="239"/>
                    <a:pt x="810" y="144"/>
                  </a:cubicBezTo>
                  <a:cubicBezTo>
                    <a:pt x="810" y="72"/>
                    <a:pt x="739" y="1"/>
                    <a:pt x="6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62" name="Google Shape;262;p2"/>
            <p:cNvSpPr/>
            <p:nvPr/>
          </p:nvSpPr>
          <p:spPr>
            <a:xfrm>
              <a:off x="3420989" y="2279131"/>
              <a:ext cx="47298" cy="10698"/>
            </a:xfrm>
            <a:custGeom>
              <a:rect b="b" l="l" r="r" t="t"/>
              <a:pathLst>
                <a:path extrusionOk="0" h="311" w="1406">
                  <a:moveTo>
                    <a:pt x="144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9"/>
                    <a:pt x="72" y="310"/>
                    <a:pt x="144" y="310"/>
                  </a:cubicBezTo>
                  <a:lnTo>
                    <a:pt x="1239" y="310"/>
                  </a:lnTo>
                  <a:cubicBezTo>
                    <a:pt x="1334" y="310"/>
                    <a:pt x="1406" y="239"/>
                    <a:pt x="1406" y="143"/>
                  </a:cubicBezTo>
                  <a:cubicBezTo>
                    <a:pt x="1406" y="72"/>
                    <a:pt x="1334" y="0"/>
                    <a:pt x="123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63" name="Google Shape;263;p2"/>
            <p:cNvSpPr/>
            <p:nvPr/>
          </p:nvSpPr>
          <p:spPr>
            <a:xfrm>
              <a:off x="3640490" y="2276689"/>
              <a:ext cx="31285" cy="54077"/>
            </a:xfrm>
            <a:custGeom>
              <a:rect b="b" l="l" r="r" t="t"/>
              <a:pathLst>
                <a:path extrusionOk="0" h="1572" w="930">
                  <a:moveTo>
                    <a:pt x="453" y="0"/>
                  </a:moveTo>
                  <a:cubicBezTo>
                    <a:pt x="382" y="0"/>
                    <a:pt x="310" y="48"/>
                    <a:pt x="310" y="143"/>
                  </a:cubicBezTo>
                  <a:lnTo>
                    <a:pt x="310" y="167"/>
                  </a:lnTo>
                  <a:cubicBezTo>
                    <a:pt x="144" y="214"/>
                    <a:pt x="1" y="357"/>
                    <a:pt x="1" y="548"/>
                  </a:cubicBezTo>
                  <a:cubicBezTo>
                    <a:pt x="1" y="762"/>
                    <a:pt x="167" y="929"/>
                    <a:pt x="382" y="929"/>
                  </a:cubicBezTo>
                  <a:lnTo>
                    <a:pt x="525" y="929"/>
                  </a:lnTo>
                  <a:cubicBezTo>
                    <a:pt x="572" y="929"/>
                    <a:pt x="620" y="976"/>
                    <a:pt x="620" y="1024"/>
                  </a:cubicBezTo>
                  <a:cubicBezTo>
                    <a:pt x="620" y="1072"/>
                    <a:pt x="572" y="1119"/>
                    <a:pt x="525" y="1119"/>
                  </a:cubicBezTo>
                  <a:lnTo>
                    <a:pt x="382" y="1119"/>
                  </a:lnTo>
                  <a:cubicBezTo>
                    <a:pt x="358" y="1119"/>
                    <a:pt x="310" y="1095"/>
                    <a:pt x="310" y="1048"/>
                  </a:cubicBezTo>
                  <a:cubicBezTo>
                    <a:pt x="293" y="994"/>
                    <a:pt x="234" y="967"/>
                    <a:pt x="176" y="967"/>
                  </a:cubicBezTo>
                  <a:cubicBezTo>
                    <a:pt x="157" y="967"/>
                    <a:pt x="138" y="970"/>
                    <a:pt x="120" y="976"/>
                  </a:cubicBezTo>
                  <a:cubicBezTo>
                    <a:pt x="48" y="1024"/>
                    <a:pt x="1" y="1095"/>
                    <a:pt x="48" y="1167"/>
                  </a:cubicBezTo>
                  <a:cubicBezTo>
                    <a:pt x="96" y="1286"/>
                    <a:pt x="191" y="1381"/>
                    <a:pt x="310" y="1405"/>
                  </a:cubicBezTo>
                  <a:cubicBezTo>
                    <a:pt x="310" y="1500"/>
                    <a:pt x="382" y="1572"/>
                    <a:pt x="453" y="1572"/>
                  </a:cubicBezTo>
                  <a:cubicBezTo>
                    <a:pt x="549" y="1572"/>
                    <a:pt x="620" y="1500"/>
                    <a:pt x="620" y="1405"/>
                  </a:cubicBezTo>
                  <a:cubicBezTo>
                    <a:pt x="787" y="1357"/>
                    <a:pt x="930" y="1215"/>
                    <a:pt x="930" y="1024"/>
                  </a:cubicBezTo>
                  <a:cubicBezTo>
                    <a:pt x="930" y="810"/>
                    <a:pt x="739" y="643"/>
                    <a:pt x="525" y="643"/>
                  </a:cubicBezTo>
                  <a:lnTo>
                    <a:pt x="382" y="643"/>
                  </a:lnTo>
                  <a:cubicBezTo>
                    <a:pt x="334" y="643"/>
                    <a:pt x="310" y="595"/>
                    <a:pt x="310" y="548"/>
                  </a:cubicBezTo>
                  <a:cubicBezTo>
                    <a:pt x="310" y="500"/>
                    <a:pt x="334" y="453"/>
                    <a:pt x="382" y="453"/>
                  </a:cubicBezTo>
                  <a:lnTo>
                    <a:pt x="525" y="453"/>
                  </a:lnTo>
                  <a:cubicBezTo>
                    <a:pt x="572" y="453"/>
                    <a:pt x="596" y="476"/>
                    <a:pt x="620" y="500"/>
                  </a:cubicBezTo>
                  <a:cubicBezTo>
                    <a:pt x="635" y="546"/>
                    <a:pt x="681" y="573"/>
                    <a:pt x="730" y="573"/>
                  </a:cubicBezTo>
                  <a:cubicBezTo>
                    <a:pt x="757" y="573"/>
                    <a:pt x="785" y="565"/>
                    <a:pt x="810" y="548"/>
                  </a:cubicBezTo>
                  <a:cubicBezTo>
                    <a:pt x="882" y="500"/>
                    <a:pt x="906" y="405"/>
                    <a:pt x="858" y="333"/>
                  </a:cubicBezTo>
                  <a:cubicBezTo>
                    <a:pt x="787" y="238"/>
                    <a:pt x="715" y="191"/>
                    <a:pt x="620" y="167"/>
                  </a:cubicBezTo>
                  <a:lnTo>
                    <a:pt x="620" y="143"/>
                  </a:lnTo>
                  <a:cubicBezTo>
                    <a:pt x="620" y="48"/>
                    <a:pt x="549" y="0"/>
                    <a:pt x="45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64" name="Google Shape;264;p2"/>
            <p:cNvSpPr/>
            <p:nvPr/>
          </p:nvSpPr>
          <p:spPr>
            <a:xfrm>
              <a:off x="3614049" y="2260280"/>
              <a:ext cx="84167" cy="86069"/>
            </a:xfrm>
            <a:custGeom>
              <a:rect b="b" l="l" r="r" t="t"/>
              <a:pathLst>
                <a:path extrusionOk="0" h="2502" w="2502">
                  <a:moveTo>
                    <a:pt x="1239" y="287"/>
                  </a:moveTo>
                  <a:cubicBezTo>
                    <a:pt x="1763" y="287"/>
                    <a:pt x="2216" y="715"/>
                    <a:pt x="2216" y="1263"/>
                  </a:cubicBezTo>
                  <a:cubicBezTo>
                    <a:pt x="2216" y="1787"/>
                    <a:pt x="1787" y="2215"/>
                    <a:pt x="1239" y="2215"/>
                  </a:cubicBezTo>
                  <a:cubicBezTo>
                    <a:pt x="715" y="2215"/>
                    <a:pt x="287" y="1787"/>
                    <a:pt x="287" y="1263"/>
                  </a:cubicBezTo>
                  <a:cubicBezTo>
                    <a:pt x="287" y="715"/>
                    <a:pt x="715" y="287"/>
                    <a:pt x="1239" y="287"/>
                  </a:cubicBezTo>
                  <a:close/>
                  <a:moveTo>
                    <a:pt x="1239" y="1"/>
                  </a:moveTo>
                  <a:cubicBezTo>
                    <a:pt x="549" y="1"/>
                    <a:pt x="1" y="548"/>
                    <a:pt x="1" y="1239"/>
                  </a:cubicBezTo>
                  <a:cubicBezTo>
                    <a:pt x="1" y="1954"/>
                    <a:pt x="549" y="2501"/>
                    <a:pt x="1239" y="2501"/>
                  </a:cubicBezTo>
                  <a:cubicBezTo>
                    <a:pt x="1930" y="2501"/>
                    <a:pt x="2501" y="1954"/>
                    <a:pt x="2501" y="1239"/>
                  </a:cubicBezTo>
                  <a:cubicBezTo>
                    <a:pt x="2501" y="572"/>
                    <a:pt x="1930" y="1"/>
                    <a:pt x="123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65" name="Google Shape;265;p2"/>
            <p:cNvSpPr/>
            <p:nvPr/>
          </p:nvSpPr>
          <p:spPr>
            <a:xfrm>
              <a:off x="3610046" y="2358595"/>
              <a:ext cx="45717" cy="10698"/>
            </a:xfrm>
            <a:custGeom>
              <a:rect b="b" l="l" r="r" t="t"/>
              <a:pathLst>
                <a:path extrusionOk="0" h="311" w="1359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1215" y="310"/>
                  </a:lnTo>
                  <a:cubicBezTo>
                    <a:pt x="1287" y="310"/>
                    <a:pt x="1358" y="239"/>
                    <a:pt x="1358" y="143"/>
                  </a:cubicBezTo>
                  <a:cubicBezTo>
                    <a:pt x="1358" y="72"/>
                    <a:pt x="1311" y="0"/>
                    <a:pt x="1215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66" name="Google Shape;266;p2"/>
            <p:cNvSpPr/>
            <p:nvPr/>
          </p:nvSpPr>
          <p:spPr>
            <a:xfrm>
              <a:off x="3671742" y="2379063"/>
              <a:ext cx="25667" cy="9873"/>
            </a:xfrm>
            <a:custGeom>
              <a:rect b="b" l="l" r="r" t="t"/>
              <a:pathLst>
                <a:path extrusionOk="0" h="287" w="763">
                  <a:moveTo>
                    <a:pt x="143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3" y="287"/>
                  </a:cubicBezTo>
                  <a:lnTo>
                    <a:pt x="596" y="287"/>
                  </a:lnTo>
                  <a:cubicBezTo>
                    <a:pt x="691" y="287"/>
                    <a:pt x="763" y="215"/>
                    <a:pt x="763" y="144"/>
                  </a:cubicBezTo>
                  <a:cubicBezTo>
                    <a:pt x="763" y="72"/>
                    <a:pt x="691" y="1"/>
                    <a:pt x="59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67" name="Google Shape;267;p2"/>
            <p:cNvSpPr/>
            <p:nvPr/>
          </p:nvSpPr>
          <p:spPr>
            <a:xfrm>
              <a:off x="3610046" y="2379063"/>
              <a:ext cx="28897" cy="9873"/>
            </a:xfrm>
            <a:custGeom>
              <a:rect b="b" l="l" r="r" t="t"/>
              <a:pathLst>
                <a:path extrusionOk="0" h="287" w="859">
                  <a:moveTo>
                    <a:pt x="144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4" y="287"/>
                  </a:cubicBezTo>
                  <a:lnTo>
                    <a:pt x="715" y="287"/>
                  </a:lnTo>
                  <a:cubicBezTo>
                    <a:pt x="787" y="287"/>
                    <a:pt x="858" y="215"/>
                    <a:pt x="858" y="144"/>
                  </a:cubicBezTo>
                  <a:cubicBezTo>
                    <a:pt x="858" y="72"/>
                    <a:pt x="811" y="1"/>
                    <a:pt x="7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68" name="Google Shape;268;p2"/>
            <p:cNvSpPr/>
            <p:nvPr/>
          </p:nvSpPr>
          <p:spPr>
            <a:xfrm>
              <a:off x="3646108" y="2379063"/>
              <a:ext cx="19276" cy="9873"/>
            </a:xfrm>
            <a:custGeom>
              <a:rect b="b" l="l" r="r" t="t"/>
              <a:pathLst>
                <a:path extrusionOk="0" h="287" w="573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429" y="287"/>
                  </a:lnTo>
                  <a:cubicBezTo>
                    <a:pt x="501" y="287"/>
                    <a:pt x="572" y="215"/>
                    <a:pt x="572" y="144"/>
                  </a:cubicBezTo>
                  <a:cubicBezTo>
                    <a:pt x="572" y="72"/>
                    <a:pt x="501" y="1"/>
                    <a:pt x="42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69" name="Google Shape;269;p2"/>
            <p:cNvSpPr/>
            <p:nvPr/>
          </p:nvSpPr>
          <p:spPr>
            <a:xfrm>
              <a:off x="3610046" y="2398740"/>
              <a:ext cx="86556" cy="10664"/>
            </a:xfrm>
            <a:custGeom>
              <a:rect b="b" l="l" r="r" t="t"/>
              <a:pathLst>
                <a:path extrusionOk="0" h="310" w="2573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2430" y="310"/>
                  </a:lnTo>
                  <a:cubicBezTo>
                    <a:pt x="2525" y="310"/>
                    <a:pt x="2573" y="239"/>
                    <a:pt x="2573" y="143"/>
                  </a:cubicBezTo>
                  <a:cubicBezTo>
                    <a:pt x="2573" y="72"/>
                    <a:pt x="2525" y="0"/>
                    <a:pt x="2430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70" name="Google Shape;270;p2"/>
          <p:cNvGrpSpPr/>
          <p:nvPr/>
        </p:nvGrpSpPr>
        <p:grpSpPr>
          <a:xfrm>
            <a:off x="5710488" y="1722647"/>
            <a:ext cx="738531" cy="731528"/>
            <a:chOff x="4078718" y="2222819"/>
            <a:chExt cx="340504" cy="339803"/>
          </a:xfrm>
        </p:grpSpPr>
        <p:sp>
          <p:nvSpPr>
            <p:cNvPr id="271" name="Google Shape;271;p2"/>
            <p:cNvSpPr/>
            <p:nvPr/>
          </p:nvSpPr>
          <p:spPr>
            <a:xfrm>
              <a:off x="4267775" y="2311674"/>
              <a:ext cx="17661" cy="13382"/>
            </a:xfrm>
            <a:custGeom>
              <a:rect b="b" l="l" r="r" t="t"/>
              <a:pathLst>
                <a:path extrusionOk="0" h="389" w="525">
                  <a:moveTo>
                    <a:pt x="348" y="1"/>
                  </a:moveTo>
                  <a:cubicBezTo>
                    <a:pt x="335" y="1"/>
                    <a:pt x="323" y="3"/>
                    <a:pt x="310" y="7"/>
                  </a:cubicBezTo>
                  <a:lnTo>
                    <a:pt x="96" y="102"/>
                  </a:lnTo>
                  <a:cubicBezTo>
                    <a:pt x="24" y="126"/>
                    <a:pt x="1" y="221"/>
                    <a:pt x="24" y="293"/>
                  </a:cubicBezTo>
                  <a:cubicBezTo>
                    <a:pt x="48" y="340"/>
                    <a:pt x="96" y="388"/>
                    <a:pt x="143" y="388"/>
                  </a:cubicBezTo>
                  <a:cubicBezTo>
                    <a:pt x="167" y="388"/>
                    <a:pt x="191" y="388"/>
                    <a:pt x="215" y="364"/>
                  </a:cubicBezTo>
                  <a:lnTo>
                    <a:pt x="405" y="293"/>
                  </a:lnTo>
                  <a:cubicBezTo>
                    <a:pt x="477" y="269"/>
                    <a:pt x="524" y="174"/>
                    <a:pt x="501" y="102"/>
                  </a:cubicBezTo>
                  <a:cubicBezTo>
                    <a:pt x="461" y="44"/>
                    <a:pt x="406" y="1"/>
                    <a:pt x="34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72" name="Google Shape;272;p2"/>
            <p:cNvSpPr/>
            <p:nvPr/>
          </p:nvSpPr>
          <p:spPr>
            <a:xfrm>
              <a:off x="4257347" y="2292719"/>
              <a:ext cx="16080" cy="15927"/>
            </a:xfrm>
            <a:custGeom>
              <a:rect b="b" l="l" r="r" t="t"/>
              <a:pathLst>
                <a:path extrusionOk="0" h="463" w="478">
                  <a:moveTo>
                    <a:pt x="298" y="1"/>
                  </a:moveTo>
                  <a:cubicBezTo>
                    <a:pt x="258" y="1"/>
                    <a:pt x="218" y="19"/>
                    <a:pt x="191" y="58"/>
                  </a:cubicBezTo>
                  <a:lnTo>
                    <a:pt x="49" y="225"/>
                  </a:lnTo>
                  <a:cubicBezTo>
                    <a:pt x="1" y="296"/>
                    <a:pt x="25" y="391"/>
                    <a:pt x="96" y="439"/>
                  </a:cubicBezTo>
                  <a:cubicBezTo>
                    <a:pt x="120" y="463"/>
                    <a:pt x="144" y="463"/>
                    <a:pt x="168" y="463"/>
                  </a:cubicBezTo>
                  <a:cubicBezTo>
                    <a:pt x="215" y="463"/>
                    <a:pt x="263" y="439"/>
                    <a:pt x="287" y="415"/>
                  </a:cubicBezTo>
                  <a:lnTo>
                    <a:pt x="430" y="225"/>
                  </a:lnTo>
                  <a:cubicBezTo>
                    <a:pt x="477" y="177"/>
                    <a:pt x="453" y="82"/>
                    <a:pt x="382" y="34"/>
                  </a:cubicBezTo>
                  <a:cubicBezTo>
                    <a:pt x="361" y="13"/>
                    <a:pt x="330" y="1"/>
                    <a:pt x="29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73" name="Google Shape;273;p2"/>
            <p:cNvSpPr/>
            <p:nvPr/>
          </p:nvSpPr>
          <p:spPr>
            <a:xfrm>
              <a:off x="4271778" y="2333208"/>
              <a:ext cx="17661" cy="11490"/>
            </a:xfrm>
            <a:custGeom>
              <a:rect b="b" l="l" r="r" t="t"/>
              <a:pathLst>
                <a:path extrusionOk="0" h="334" w="525">
                  <a:moveTo>
                    <a:pt x="191" y="0"/>
                  </a:moveTo>
                  <a:cubicBezTo>
                    <a:pt x="96" y="0"/>
                    <a:pt x="24" y="48"/>
                    <a:pt x="24" y="119"/>
                  </a:cubicBezTo>
                  <a:cubicBezTo>
                    <a:pt x="1" y="215"/>
                    <a:pt x="48" y="286"/>
                    <a:pt x="143" y="286"/>
                  </a:cubicBezTo>
                  <a:lnTo>
                    <a:pt x="358" y="334"/>
                  </a:lnTo>
                  <a:lnTo>
                    <a:pt x="382" y="334"/>
                  </a:lnTo>
                  <a:cubicBezTo>
                    <a:pt x="453" y="334"/>
                    <a:pt x="501" y="286"/>
                    <a:pt x="525" y="215"/>
                  </a:cubicBezTo>
                  <a:cubicBezTo>
                    <a:pt x="525" y="119"/>
                    <a:pt x="477" y="48"/>
                    <a:pt x="405" y="4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74" name="Google Shape;274;p2"/>
            <p:cNvSpPr/>
            <p:nvPr/>
          </p:nvSpPr>
          <p:spPr>
            <a:xfrm>
              <a:off x="4078718" y="2222819"/>
              <a:ext cx="340504" cy="339803"/>
            </a:xfrm>
            <a:custGeom>
              <a:rect b="b" l="l" r="r" t="t"/>
              <a:pathLst>
                <a:path extrusionOk="0" h="9878" w="10122">
                  <a:moveTo>
                    <a:pt x="4787" y="423"/>
                  </a:moveTo>
                  <a:lnTo>
                    <a:pt x="6168" y="994"/>
                  </a:lnTo>
                  <a:lnTo>
                    <a:pt x="5240" y="1376"/>
                  </a:lnTo>
                  <a:cubicBezTo>
                    <a:pt x="5233" y="1382"/>
                    <a:pt x="5226" y="1385"/>
                    <a:pt x="5219" y="1385"/>
                  </a:cubicBezTo>
                  <a:cubicBezTo>
                    <a:pt x="5202" y="1385"/>
                    <a:pt x="5185" y="1369"/>
                    <a:pt x="5168" y="1352"/>
                  </a:cubicBezTo>
                  <a:lnTo>
                    <a:pt x="4787" y="423"/>
                  </a:lnTo>
                  <a:close/>
                  <a:moveTo>
                    <a:pt x="8216" y="2066"/>
                  </a:moveTo>
                  <a:cubicBezTo>
                    <a:pt x="8264" y="2066"/>
                    <a:pt x="8312" y="2090"/>
                    <a:pt x="8312" y="2138"/>
                  </a:cubicBezTo>
                  <a:lnTo>
                    <a:pt x="8312" y="2566"/>
                  </a:lnTo>
                  <a:cubicBezTo>
                    <a:pt x="8312" y="2614"/>
                    <a:pt x="8264" y="2661"/>
                    <a:pt x="8216" y="2661"/>
                  </a:cubicBezTo>
                  <a:lnTo>
                    <a:pt x="7407" y="2661"/>
                  </a:lnTo>
                  <a:lnTo>
                    <a:pt x="7168" y="2066"/>
                  </a:lnTo>
                  <a:close/>
                  <a:moveTo>
                    <a:pt x="8788" y="1280"/>
                  </a:moveTo>
                  <a:cubicBezTo>
                    <a:pt x="8931" y="1280"/>
                    <a:pt x="9050" y="1399"/>
                    <a:pt x="9050" y="1542"/>
                  </a:cubicBezTo>
                  <a:lnTo>
                    <a:pt x="9050" y="3924"/>
                  </a:lnTo>
                  <a:lnTo>
                    <a:pt x="7954" y="3924"/>
                  </a:lnTo>
                  <a:lnTo>
                    <a:pt x="7550" y="2947"/>
                  </a:lnTo>
                  <a:lnTo>
                    <a:pt x="8216" y="2947"/>
                  </a:lnTo>
                  <a:cubicBezTo>
                    <a:pt x="8431" y="2947"/>
                    <a:pt x="8597" y="2781"/>
                    <a:pt x="8597" y="2566"/>
                  </a:cubicBezTo>
                  <a:lnTo>
                    <a:pt x="8597" y="2138"/>
                  </a:lnTo>
                  <a:cubicBezTo>
                    <a:pt x="8597" y="1923"/>
                    <a:pt x="8431" y="1757"/>
                    <a:pt x="8216" y="1757"/>
                  </a:cubicBezTo>
                  <a:lnTo>
                    <a:pt x="7049" y="1757"/>
                  </a:lnTo>
                  <a:lnTo>
                    <a:pt x="6835" y="1280"/>
                  </a:lnTo>
                  <a:close/>
                  <a:moveTo>
                    <a:pt x="4430" y="352"/>
                  </a:moveTo>
                  <a:lnTo>
                    <a:pt x="4906" y="1471"/>
                  </a:lnTo>
                  <a:cubicBezTo>
                    <a:pt x="4954" y="1614"/>
                    <a:pt x="5073" y="1685"/>
                    <a:pt x="5216" y="1685"/>
                  </a:cubicBezTo>
                  <a:cubicBezTo>
                    <a:pt x="5263" y="1685"/>
                    <a:pt x="5311" y="1685"/>
                    <a:pt x="5359" y="1661"/>
                  </a:cubicBezTo>
                  <a:lnTo>
                    <a:pt x="6478" y="1185"/>
                  </a:lnTo>
                  <a:lnTo>
                    <a:pt x="7621" y="3947"/>
                  </a:lnTo>
                  <a:lnTo>
                    <a:pt x="6907" y="3947"/>
                  </a:lnTo>
                  <a:cubicBezTo>
                    <a:pt x="6835" y="3947"/>
                    <a:pt x="6764" y="3995"/>
                    <a:pt x="6764" y="4090"/>
                  </a:cubicBezTo>
                  <a:cubicBezTo>
                    <a:pt x="6764" y="4162"/>
                    <a:pt x="6835" y="4233"/>
                    <a:pt x="6907" y="4233"/>
                  </a:cubicBezTo>
                  <a:lnTo>
                    <a:pt x="9574" y="4233"/>
                  </a:lnTo>
                  <a:cubicBezTo>
                    <a:pt x="9717" y="4233"/>
                    <a:pt x="9812" y="4352"/>
                    <a:pt x="9812" y="4471"/>
                  </a:cubicBezTo>
                  <a:lnTo>
                    <a:pt x="9812" y="8972"/>
                  </a:lnTo>
                  <a:cubicBezTo>
                    <a:pt x="9812" y="9330"/>
                    <a:pt x="9550" y="9591"/>
                    <a:pt x="9193" y="9591"/>
                  </a:cubicBezTo>
                  <a:lnTo>
                    <a:pt x="1596" y="9591"/>
                  </a:lnTo>
                  <a:cubicBezTo>
                    <a:pt x="1739" y="9425"/>
                    <a:pt x="1834" y="9210"/>
                    <a:pt x="1834" y="8972"/>
                  </a:cubicBezTo>
                  <a:lnTo>
                    <a:pt x="1834" y="7353"/>
                  </a:lnTo>
                  <a:cubicBezTo>
                    <a:pt x="1834" y="7281"/>
                    <a:pt x="1763" y="7210"/>
                    <a:pt x="1667" y="7210"/>
                  </a:cubicBezTo>
                  <a:cubicBezTo>
                    <a:pt x="1596" y="7210"/>
                    <a:pt x="1524" y="7281"/>
                    <a:pt x="1524" y="7353"/>
                  </a:cubicBezTo>
                  <a:lnTo>
                    <a:pt x="1524" y="8972"/>
                  </a:lnTo>
                  <a:cubicBezTo>
                    <a:pt x="1524" y="9330"/>
                    <a:pt x="1262" y="9591"/>
                    <a:pt x="905" y="9591"/>
                  </a:cubicBezTo>
                  <a:cubicBezTo>
                    <a:pt x="572" y="9591"/>
                    <a:pt x="286" y="9330"/>
                    <a:pt x="286" y="8972"/>
                  </a:cubicBezTo>
                  <a:lnTo>
                    <a:pt x="286" y="2590"/>
                  </a:lnTo>
                  <a:cubicBezTo>
                    <a:pt x="286" y="2447"/>
                    <a:pt x="405" y="2328"/>
                    <a:pt x="548" y="2328"/>
                  </a:cubicBezTo>
                  <a:lnTo>
                    <a:pt x="834" y="2328"/>
                  </a:lnTo>
                  <a:lnTo>
                    <a:pt x="1120" y="3066"/>
                  </a:lnTo>
                  <a:cubicBezTo>
                    <a:pt x="1155" y="3120"/>
                    <a:pt x="1204" y="3147"/>
                    <a:pt x="1257" y="3147"/>
                  </a:cubicBezTo>
                  <a:cubicBezTo>
                    <a:pt x="1274" y="3147"/>
                    <a:pt x="1292" y="3144"/>
                    <a:pt x="1310" y="3138"/>
                  </a:cubicBezTo>
                  <a:cubicBezTo>
                    <a:pt x="1382" y="3114"/>
                    <a:pt x="1429" y="3019"/>
                    <a:pt x="1405" y="2947"/>
                  </a:cubicBezTo>
                  <a:lnTo>
                    <a:pt x="953" y="1876"/>
                  </a:lnTo>
                  <a:cubicBezTo>
                    <a:pt x="929" y="1852"/>
                    <a:pt x="953" y="1804"/>
                    <a:pt x="977" y="1804"/>
                  </a:cubicBezTo>
                  <a:lnTo>
                    <a:pt x="4430" y="352"/>
                  </a:lnTo>
                  <a:close/>
                  <a:moveTo>
                    <a:pt x="4513" y="0"/>
                  </a:moveTo>
                  <a:cubicBezTo>
                    <a:pt x="4495" y="0"/>
                    <a:pt x="4477" y="6"/>
                    <a:pt x="4454" y="18"/>
                  </a:cubicBezTo>
                  <a:lnTo>
                    <a:pt x="858" y="1518"/>
                  </a:lnTo>
                  <a:cubicBezTo>
                    <a:pt x="691" y="1590"/>
                    <a:pt x="596" y="1804"/>
                    <a:pt x="667" y="1971"/>
                  </a:cubicBezTo>
                  <a:lnTo>
                    <a:pt x="691" y="2042"/>
                  </a:lnTo>
                  <a:lnTo>
                    <a:pt x="548" y="2042"/>
                  </a:lnTo>
                  <a:cubicBezTo>
                    <a:pt x="238" y="2042"/>
                    <a:pt x="0" y="2280"/>
                    <a:pt x="0" y="2590"/>
                  </a:cubicBezTo>
                  <a:lnTo>
                    <a:pt x="0" y="8972"/>
                  </a:lnTo>
                  <a:cubicBezTo>
                    <a:pt x="0" y="9472"/>
                    <a:pt x="405" y="9877"/>
                    <a:pt x="905" y="9877"/>
                  </a:cubicBezTo>
                  <a:lnTo>
                    <a:pt x="9193" y="9877"/>
                  </a:lnTo>
                  <a:cubicBezTo>
                    <a:pt x="9717" y="9877"/>
                    <a:pt x="10121" y="9472"/>
                    <a:pt x="10121" y="8972"/>
                  </a:cubicBezTo>
                  <a:lnTo>
                    <a:pt x="10121" y="4471"/>
                  </a:lnTo>
                  <a:cubicBezTo>
                    <a:pt x="10121" y="4162"/>
                    <a:pt x="9860" y="3924"/>
                    <a:pt x="9574" y="3924"/>
                  </a:cubicBezTo>
                  <a:lnTo>
                    <a:pt x="9336" y="3924"/>
                  </a:lnTo>
                  <a:lnTo>
                    <a:pt x="9336" y="1542"/>
                  </a:lnTo>
                  <a:cubicBezTo>
                    <a:pt x="9336" y="1233"/>
                    <a:pt x="9097" y="994"/>
                    <a:pt x="8788" y="994"/>
                  </a:cubicBezTo>
                  <a:lnTo>
                    <a:pt x="6716" y="994"/>
                  </a:lnTo>
                  <a:lnTo>
                    <a:pt x="6692" y="923"/>
                  </a:lnTo>
                  <a:cubicBezTo>
                    <a:pt x="6668" y="899"/>
                    <a:pt x="6645" y="852"/>
                    <a:pt x="6621" y="852"/>
                  </a:cubicBezTo>
                  <a:lnTo>
                    <a:pt x="4573" y="18"/>
                  </a:lnTo>
                  <a:cubicBezTo>
                    <a:pt x="4549" y="6"/>
                    <a:pt x="4531" y="0"/>
                    <a:pt x="45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75" name="Google Shape;275;p2"/>
            <p:cNvSpPr/>
            <p:nvPr/>
          </p:nvSpPr>
          <p:spPr>
            <a:xfrm>
              <a:off x="4123561" y="2296744"/>
              <a:ext cx="170689" cy="161818"/>
            </a:xfrm>
            <a:custGeom>
              <a:rect b="b" l="l" r="r" t="t"/>
              <a:pathLst>
                <a:path extrusionOk="0" h="4704" w="5074">
                  <a:moveTo>
                    <a:pt x="2760" y="301"/>
                  </a:moveTo>
                  <a:cubicBezTo>
                    <a:pt x="2892" y="301"/>
                    <a:pt x="3021" y="325"/>
                    <a:pt x="3144" y="370"/>
                  </a:cubicBezTo>
                  <a:cubicBezTo>
                    <a:pt x="3430" y="489"/>
                    <a:pt x="3645" y="703"/>
                    <a:pt x="3740" y="965"/>
                  </a:cubicBezTo>
                  <a:cubicBezTo>
                    <a:pt x="3859" y="1227"/>
                    <a:pt x="3859" y="1513"/>
                    <a:pt x="3764" y="1775"/>
                  </a:cubicBezTo>
                  <a:lnTo>
                    <a:pt x="3287" y="1775"/>
                  </a:lnTo>
                  <a:cubicBezTo>
                    <a:pt x="3335" y="1679"/>
                    <a:pt x="3359" y="1560"/>
                    <a:pt x="3311" y="1441"/>
                  </a:cubicBezTo>
                  <a:cubicBezTo>
                    <a:pt x="3264" y="1346"/>
                    <a:pt x="3168" y="1275"/>
                    <a:pt x="3073" y="1227"/>
                  </a:cubicBezTo>
                  <a:cubicBezTo>
                    <a:pt x="3025" y="1203"/>
                    <a:pt x="2972" y="1191"/>
                    <a:pt x="2918" y="1191"/>
                  </a:cubicBezTo>
                  <a:cubicBezTo>
                    <a:pt x="2865" y="1191"/>
                    <a:pt x="2811" y="1203"/>
                    <a:pt x="2763" y="1227"/>
                  </a:cubicBezTo>
                  <a:lnTo>
                    <a:pt x="2621" y="1298"/>
                  </a:lnTo>
                  <a:cubicBezTo>
                    <a:pt x="2607" y="1303"/>
                    <a:pt x="2594" y="1305"/>
                    <a:pt x="2581" y="1305"/>
                  </a:cubicBezTo>
                  <a:cubicBezTo>
                    <a:pt x="2524" y="1305"/>
                    <a:pt x="2473" y="1266"/>
                    <a:pt x="2454" y="1227"/>
                  </a:cubicBezTo>
                  <a:cubicBezTo>
                    <a:pt x="2430" y="1155"/>
                    <a:pt x="2478" y="1108"/>
                    <a:pt x="2525" y="1084"/>
                  </a:cubicBezTo>
                  <a:lnTo>
                    <a:pt x="2668" y="1013"/>
                  </a:lnTo>
                  <a:cubicBezTo>
                    <a:pt x="2692" y="1001"/>
                    <a:pt x="2710" y="995"/>
                    <a:pt x="2728" y="995"/>
                  </a:cubicBezTo>
                  <a:cubicBezTo>
                    <a:pt x="2746" y="995"/>
                    <a:pt x="2763" y="1001"/>
                    <a:pt x="2787" y="1013"/>
                  </a:cubicBezTo>
                  <a:cubicBezTo>
                    <a:pt x="2815" y="1031"/>
                    <a:pt x="2842" y="1039"/>
                    <a:pt x="2868" y="1039"/>
                  </a:cubicBezTo>
                  <a:cubicBezTo>
                    <a:pt x="2910" y="1039"/>
                    <a:pt x="2948" y="1018"/>
                    <a:pt x="2978" y="989"/>
                  </a:cubicBezTo>
                  <a:cubicBezTo>
                    <a:pt x="3025" y="917"/>
                    <a:pt x="3002" y="822"/>
                    <a:pt x="2954" y="774"/>
                  </a:cubicBezTo>
                  <a:cubicBezTo>
                    <a:pt x="2892" y="728"/>
                    <a:pt x="2821" y="702"/>
                    <a:pt x="2746" y="702"/>
                  </a:cubicBezTo>
                  <a:cubicBezTo>
                    <a:pt x="2705" y="702"/>
                    <a:pt x="2663" y="710"/>
                    <a:pt x="2621" y="727"/>
                  </a:cubicBezTo>
                  <a:lnTo>
                    <a:pt x="2597" y="679"/>
                  </a:lnTo>
                  <a:cubicBezTo>
                    <a:pt x="2577" y="620"/>
                    <a:pt x="2509" y="578"/>
                    <a:pt x="2446" y="578"/>
                  </a:cubicBezTo>
                  <a:cubicBezTo>
                    <a:pt x="2432" y="578"/>
                    <a:pt x="2419" y="580"/>
                    <a:pt x="2406" y="584"/>
                  </a:cubicBezTo>
                  <a:cubicBezTo>
                    <a:pt x="2335" y="632"/>
                    <a:pt x="2311" y="703"/>
                    <a:pt x="2335" y="774"/>
                  </a:cubicBezTo>
                  <a:lnTo>
                    <a:pt x="2359" y="822"/>
                  </a:lnTo>
                  <a:cubicBezTo>
                    <a:pt x="2192" y="941"/>
                    <a:pt x="2120" y="1155"/>
                    <a:pt x="2192" y="1346"/>
                  </a:cubicBezTo>
                  <a:cubicBezTo>
                    <a:pt x="2264" y="1490"/>
                    <a:pt x="2418" y="1594"/>
                    <a:pt x="2582" y="1594"/>
                  </a:cubicBezTo>
                  <a:cubicBezTo>
                    <a:pt x="2635" y="1594"/>
                    <a:pt x="2688" y="1583"/>
                    <a:pt x="2740" y="1560"/>
                  </a:cubicBezTo>
                  <a:lnTo>
                    <a:pt x="2882" y="1489"/>
                  </a:lnTo>
                  <a:lnTo>
                    <a:pt x="2978" y="1489"/>
                  </a:lnTo>
                  <a:cubicBezTo>
                    <a:pt x="3002" y="1513"/>
                    <a:pt x="3025" y="1537"/>
                    <a:pt x="3025" y="1560"/>
                  </a:cubicBezTo>
                  <a:cubicBezTo>
                    <a:pt x="3049" y="1608"/>
                    <a:pt x="3025" y="1679"/>
                    <a:pt x="2978" y="1703"/>
                  </a:cubicBezTo>
                  <a:lnTo>
                    <a:pt x="2811" y="1775"/>
                  </a:lnTo>
                  <a:lnTo>
                    <a:pt x="2763" y="1775"/>
                  </a:lnTo>
                  <a:cubicBezTo>
                    <a:pt x="2740" y="1775"/>
                    <a:pt x="2716" y="1775"/>
                    <a:pt x="2692" y="1751"/>
                  </a:cubicBezTo>
                  <a:cubicBezTo>
                    <a:pt x="2668" y="1715"/>
                    <a:pt x="2632" y="1697"/>
                    <a:pt x="2594" y="1697"/>
                  </a:cubicBezTo>
                  <a:cubicBezTo>
                    <a:pt x="2555" y="1697"/>
                    <a:pt x="2513" y="1715"/>
                    <a:pt x="2478" y="1751"/>
                  </a:cubicBezTo>
                  <a:cubicBezTo>
                    <a:pt x="2478" y="1751"/>
                    <a:pt x="2478" y="1775"/>
                    <a:pt x="2454" y="1775"/>
                  </a:cubicBezTo>
                  <a:lnTo>
                    <a:pt x="1739" y="1775"/>
                  </a:lnTo>
                  <a:cubicBezTo>
                    <a:pt x="1620" y="1513"/>
                    <a:pt x="1620" y="1227"/>
                    <a:pt x="1739" y="965"/>
                  </a:cubicBezTo>
                  <a:cubicBezTo>
                    <a:pt x="1835" y="703"/>
                    <a:pt x="2049" y="489"/>
                    <a:pt x="2311" y="393"/>
                  </a:cubicBezTo>
                  <a:cubicBezTo>
                    <a:pt x="2462" y="331"/>
                    <a:pt x="2613" y="301"/>
                    <a:pt x="2760" y="301"/>
                  </a:cubicBezTo>
                  <a:close/>
                  <a:moveTo>
                    <a:pt x="2740" y="0"/>
                  </a:moveTo>
                  <a:cubicBezTo>
                    <a:pt x="2561" y="0"/>
                    <a:pt x="2382" y="36"/>
                    <a:pt x="2216" y="108"/>
                  </a:cubicBezTo>
                  <a:cubicBezTo>
                    <a:pt x="1858" y="251"/>
                    <a:pt x="1596" y="512"/>
                    <a:pt x="1454" y="846"/>
                  </a:cubicBezTo>
                  <a:cubicBezTo>
                    <a:pt x="1335" y="1155"/>
                    <a:pt x="1311" y="1489"/>
                    <a:pt x="1406" y="1775"/>
                  </a:cubicBezTo>
                  <a:lnTo>
                    <a:pt x="739" y="1775"/>
                  </a:lnTo>
                  <a:cubicBezTo>
                    <a:pt x="644" y="1775"/>
                    <a:pt x="572" y="1798"/>
                    <a:pt x="501" y="1822"/>
                  </a:cubicBezTo>
                  <a:lnTo>
                    <a:pt x="311" y="1394"/>
                  </a:lnTo>
                  <a:cubicBezTo>
                    <a:pt x="293" y="1342"/>
                    <a:pt x="239" y="1303"/>
                    <a:pt x="183" y="1303"/>
                  </a:cubicBezTo>
                  <a:cubicBezTo>
                    <a:pt x="162" y="1303"/>
                    <a:pt x="140" y="1309"/>
                    <a:pt x="120" y="1322"/>
                  </a:cubicBezTo>
                  <a:cubicBezTo>
                    <a:pt x="49" y="1346"/>
                    <a:pt x="1" y="1441"/>
                    <a:pt x="49" y="1513"/>
                  </a:cubicBezTo>
                  <a:lnTo>
                    <a:pt x="263" y="2037"/>
                  </a:lnTo>
                  <a:cubicBezTo>
                    <a:pt x="215" y="2132"/>
                    <a:pt x="191" y="2227"/>
                    <a:pt x="191" y="2322"/>
                  </a:cubicBezTo>
                  <a:lnTo>
                    <a:pt x="191" y="4537"/>
                  </a:lnTo>
                  <a:cubicBezTo>
                    <a:pt x="191" y="4632"/>
                    <a:pt x="263" y="4704"/>
                    <a:pt x="334" y="4704"/>
                  </a:cubicBezTo>
                  <a:cubicBezTo>
                    <a:pt x="430" y="4704"/>
                    <a:pt x="501" y="4632"/>
                    <a:pt x="501" y="4537"/>
                  </a:cubicBezTo>
                  <a:lnTo>
                    <a:pt x="501" y="2322"/>
                  </a:lnTo>
                  <a:cubicBezTo>
                    <a:pt x="501" y="2179"/>
                    <a:pt x="596" y="2084"/>
                    <a:pt x="739" y="2084"/>
                  </a:cubicBezTo>
                  <a:lnTo>
                    <a:pt x="4907" y="2084"/>
                  </a:lnTo>
                  <a:cubicBezTo>
                    <a:pt x="5002" y="2084"/>
                    <a:pt x="5073" y="2013"/>
                    <a:pt x="5073" y="1918"/>
                  </a:cubicBezTo>
                  <a:cubicBezTo>
                    <a:pt x="5073" y="1846"/>
                    <a:pt x="5002" y="1775"/>
                    <a:pt x="4907" y="1775"/>
                  </a:cubicBezTo>
                  <a:lnTo>
                    <a:pt x="4073" y="1775"/>
                  </a:lnTo>
                  <a:cubicBezTo>
                    <a:pt x="4168" y="1465"/>
                    <a:pt x="4145" y="1155"/>
                    <a:pt x="4026" y="846"/>
                  </a:cubicBezTo>
                  <a:cubicBezTo>
                    <a:pt x="3883" y="512"/>
                    <a:pt x="3597" y="251"/>
                    <a:pt x="3264" y="108"/>
                  </a:cubicBezTo>
                  <a:cubicBezTo>
                    <a:pt x="3097" y="36"/>
                    <a:pt x="2918" y="0"/>
                    <a:pt x="2740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76" name="Google Shape;276;p2"/>
            <p:cNvSpPr/>
            <p:nvPr/>
          </p:nvSpPr>
          <p:spPr>
            <a:xfrm>
              <a:off x="4130793" y="2276448"/>
              <a:ext cx="47298" cy="25662"/>
            </a:xfrm>
            <a:custGeom>
              <a:rect b="b" l="l" r="r" t="t"/>
              <a:pathLst>
                <a:path extrusionOk="0" h="746" w="1406">
                  <a:moveTo>
                    <a:pt x="1207" y="1"/>
                  </a:moveTo>
                  <a:cubicBezTo>
                    <a:pt x="1193" y="1"/>
                    <a:pt x="1180" y="3"/>
                    <a:pt x="1167" y="7"/>
                  </a:cubicBezTo>
                  <a:lnTo>
                    <a:pt x="119" y="460"/>
                  </a:lnTo>
                  <a:cubicBezTo>
                    <a:pt x="48" y="483"/>
                    <a:pt x="0" y="579"/>
                    <a:pt x="24" y="650"/>
                  </a:cubicBezTo>
                  <a:cubicBezTo>
                    <a:pt x="48" y="721"/>
                    <a:pt x="119" y="745"/>
                    <a:pt x="167" y="745"/>
                  </a:cubicBezTo>
                  <a:lnTo>
                    <a:pt x="215" y="745"/>
                  </a:lnTo>
                  <a:lnTo>
                    <a:pt x="1286" y="293"/>
                  </a:lnTo>
                  <a:cubicBezTo>
                    <a:pt x="1358" y="269"/>
                    <a:pt x="1405" y="174"/>
                    <a:pt x="1358" y="102"/>
                  </a:cubicBezTo>
                  <a:cubicBezTo>
                    <a:pt x="1338" y="44"/>
                    <a:pt x="1270" y="1"/>
                    <a:pt x="120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77" name="Google Shape;277;p2"/>
            <p:cNvSpPr/>
            <p:nvPr/>
          </p:nvSpPr>
          <p:spPr>
            <a:xfrm>
              <a:off x="4137992" y="2301423"/>
              <a:ext cx="25667" cy="16237"/>
            </a:xfrm>
            <a:custGeom>
              <a:rect b="b" l="l" r="r" t="t"/>
              <a:pathLst>
                <a:path extrusionOk="0" h="472" w="763">
                  <a:moveTo>
                    <a:pt x="599" y="0"/>
                  </a:moveTo>
                  <a:cubicBezTo>
                    <a:pt x="576" y="0"/>
                    <a:pt x="551" y="6"/>
                    <a:pt x="525" y="19"/>
                  </a:cubicBezTo>
                  <a:lnTo>
                    <a:pt x="96" y="186"/>
                  </a:lnTo>
                  <a:cubicBezTo>
                    <a:pt x="24" y="234"/>
                    <a:pt x="1" y="305"/>
                    <a:pt x="24" y="376"/>
                  </a:cubicBezTo>
                  <a:cubicBezTo>
                    <a:pt x="48" y="448"/>
                    <a:pt x="96" y="472"/>
                    <a:pt x="167" y="472"/>
                  </a:cubicBezTo>
                  <a:lnTo>
                    <a:pt x="215" y="472"/>
                  </a:lnTo>
                  <a:lnTo>
                    <a:pt x="644" y="281"/>
                  </a:lnTo>
                  <a:cubicBezTo>
                    <a:pt x="715" y="257"/>
                    <a:pt x="763" y="162"/>
                    <a:pt x="739" y="91"/>
                  </a:cubicBezTo>
                  <a:cubicBezTo>
                    <a:pt x="705" y="39"/>
                    <a:pt x="658" y="0"/>
                    <a:pt x="59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78" name="Google Shape;278;p2"/>
            <p:cNvSpPr/>
            <p:nvPr/>
          </p:nvSpPr>
          <p:spPr>
            <a:xfrm>
              <a:off x="4161237" y="2507685"/>
              <a:ext cx="35288" cy="9873"/>
            </a:xfrm>
            <a:custGeom>
              <a:rect b="b" l="l" r="r" t="t"/>
              <a:pathLst>
                <a:path extrusionOk="0" h="287" w="1049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6"/>
                    <a:pt x="143" y="286"/>
                  </a:cubicBezTo>
                  <a:lnTo>
                    <a:pt x="905" y="286"/>
                  </a:lnTo>
                  <a:cubicBezTo>
                    <a:pt x="977" y="286"/>
                    <a:pt x="1048" y="215"/>
                    <a:pt x="1048" y="144"/>
                  </a:cubicBezTo>
                  <a:cubicBezTo>
                    <a:pt x="1048" y="48"/>
                    <a:pt x="977" y="1"/>
                    <a:pt x="90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79" name="Google Shape;279;p2"/>
            <p:cNvSpPr/>
            <p:nvPr/>
          </p:nvSpPr>
          <p:spPr>
            <a:xfrm>
              <a:off x="4161237" y="2525711"/>
              <a:ext cx="81745" cy="10698"/>
            </a:xfrm>
            <a:custGeom>
              <a:rect b="b" l="l" r="r" t="t"/>
              <a:pathLst>
                <a:path extrusionOk="0" h="311" w="243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86" y="310"/>
                  </a:lnTo>
                  <a:cubicBezTo>
                    <a:pt x="2358" y="310"/>
                    <a:pt x="2429" y="239"/>
                    <a:pt x="2429" y="143"/>
                  </a:cubicBezTo>
                  <a:cubicBezTo>
                    <a:pt x="2429" y="72"/>
                    <a:pt x="2358" y="1"/>
                    <a:pt x="228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80" name="Google Shape;280;p2"/>
          <p:cNvGrpSpPr/>
          <p:nvPr/>
        </p:nvGrpSpPr>
        <p:grpSpPr>
          <a:xfrm>
            <a:off x="9757324" y="1749715"/>
            <a:ext cx="738604" cy="694944"/>
            <a:chOff x="4754041" y="2231625"/>
            <a:chExt cx="340538" cy="322810"/>
          </a:xfrm>
        </p:grpSpPr>
        <p:sp>
          <p:nvSpPr>
            <p:cNvPr id="281" name="Google Shape;281;p2"/>
            <p:cNvSpPr/>
            <p:nvPr/>
          </p:nvSpPr>
          <p:spPr>
            <a:xfrm>
              <a:off x="4754041" y="2231625"/>
              <a:ext cx="340538" cy="322810"/>
            </a:xfrm>
            <a:custGeom>
              <a:rect b="b" l="l" r="r" t="t"/>
              <a:pathLst>
                <a:path extrusionOk="0" h="9384" w="10123">
                  <a:moveTo>
                    <a:pt x="5073" y="8550"/>
                  </a:moveTo>
                  <a:cubicBezTo>
                    <a:pt x="5216" y="8550"/>
                    <a:pt x="5335" y="8669"/>
                    <a:pt x="5335" y="8812"/>
                  </a:cubicBezTo>
                  <a:cubicBezTo>
                    <a:pt x="5335" y="8954"/>
                    <a:pt x="5216" y="9097"/>
                    <a:pt x="5073" y="9097"/>
                  </a:cubicBezTo>
                  <a:cubicBezTo>
                    <a:pt x="4907" y="9097"/>
                    <a:pt x="4788" y="8954"/>
                    <a:pt x="4788" y="8812"/>
                  </a:cubicBezTo>
                  <a:cubicBezTo>
                    <a:pt x="4788" y="8669"/>
                    <a:pt x="4907" y="8550"/>
                    <a:pt x="5073" y="8550"/>
                  </a:cubicBezTo>
                  <a:close/>
                  <a:moveTo>
                    <a:pt x="358" y="0"/>
                  </a:moveTo>
                  <a:cubicBezTo>
                    <a:pt x="168" y="0"/>
                    <a:pt x="1" y="167"/>
                    <a:pt x="1" y="357"/>
                  </a:cubicBezTo>
                  <a:lnTo>
                    <a:pt x="1" y="953"/>
                  </a:lnTo>
                  <a:cubicBezTo>
                    <a:pt x="1" y="1143"/>
                    <a:pt x="144" y="1286"/>
                    <a:pt x="334" y="1286"/>
                  </a:cubicBezTo>
                  <a:lnTo>
                    <a:pt x="334" y="5168"/>
                  </a:lnTo>
                  <a:cubicBezTo>
                    <a:pt x="334" y="5239"/>
                    <a:pt x="406" y="5311"/>
                    <a:pt x="477" y="5311"/>
                  </a:cubicBezTo>
                  <a:cubicBezTo>
                    <a:pt x="572" y="5311"/>
                    <a:pt x="644" y="5263"/>
                    <a:pt x="644" y="5168"/>
                  </a:cubicBezTo>
                  <a:lnTo>
                    <a:pt x="644" y="1286"/>
                  </a:lnTo>
                  <a:lnTo>
                    <a:pt x="7741" y="1286"/>
                  </a:lnTo>
                  <a:cubicBezTo>
                    <a:pt x="7812" y="1286"/>
                    <a:pt x="7884" y="1239"/>
                    <a:pt x="7884" y="1143"/>
                  </a:cubicBezTo>
                  <a:cubicBezTo>
                    <a:pt x="7884" y="1072"/>
                    <a:pt x="7812" y="1000"/>
                    <a:pt x="7741" y="1000"/>
                  </a:cubicBezTo>
                  <a:lnTo>
                    <a:pt x="358" y="1000"/>
                  </a:lnTo>
                  <a:cubicBezTo>
                    <a:pt x="334" y="1000"/>
                    <a:pt x="311" y="977"/>
                    <a:pt x="311" y="953"/>
                  </a:cubicBezTo>
                  <a:lnTo>
                    <a:pt x="311" y="357"/>
                  </a:lnTo>
                  <a:cubicBezTo>
                    <a:pt x="311" y="310"/>
                    <a:pt x="334" y="286"/>
                    <a:pt x="358" y="286"/>
                  </a:cubicBezTo>
                  <a:lnTo>
                    <a:pt x="9789" y="286"/>
                  </a:lnTo>
                  <a:cubicBezTo>
                    <a:pt x="9812" y="286"/>
                    <a:pt x="9836" y="334"/>
                    <a:pt x="9836" y="357"/>
                  </a:cubicBezTo>
                  <a:lnTo>
                    <a:pt x="9836" y="953"/>
                  </a:lnTo>
                  <a:cubicBezTo>
                    <a:pt x="9836" y="977"/>
                    <a:pt x="9812" y="1000"/>
                    <a:pt x="9789" y="1000"/>
                  </a:cubicBezTo>
                  <a:lnTo>
                    <a:pt x="8407" y="1000"/>
                  </a:lnTo>
                  <a:cubicBezTo>
                    <a:pt x="8312" y="1000"/>
                    <a:pt x="8241" y="1072"/>
                    <a:pt x="8241" y="1143"/>
                  </a:cubicBezTo>
                  <a:cubicBezTo>
                    <a:pt x="8241" y="1239"/>
                    <a:pt x="8312" y="1286"/>
                    <a:pt x="8407" y="1286"/>
                  </a:cubicBezTo>
                  <a:lnTo>
                    <a:pt x="9503" y="1286"/>
                  </a:lnTo>
                  <a:lnTo>
                    <a:pt x="9503" y="7335"/>
                  </a:lnTo>
                  <a:cubicBezTo>
                    <a:pt x="9503" y="7359"/>
                    <a:pt x="9479" y="7383"/>
                    <a:pt x="9455" y="7383"/>
                  </a:cubicBezTo>
                  <a:lnTo>
                    <a:pt x="692" y="7383"/>
                  </a:lnTo>
                  <a:cubicBezTo>
                    <a:pt x="668" y="7383"/>
                    <a:pt x="644" y="7359"/>
                    <a:pt x="644" y="7335"/>
                  </a:cubicBezTo>
                  <a:lnTo>
                    <a:pt x="644" y="5835"/>
                  </a:lnTo>
                  <a:cubicBezTo>
                    <a:pt x="644" y="5740"/>
                    <a:pt x="572" y="5692"/>
                    <a:pt x="477" y="5692"/>
                  </a:cubicBezTo>
                  <a:cubicBezTo>
                    <a:pt x="406" y="5692"/>
                    <a:pt x="334" y="5740"/>
                    <a:pt x="334" y="5835"/>
                  </a:cubicBezTo>
                  <a:lnTo>
                    <a:pt x="334" y="7335"/>
                  </a:lnTo>
                  <a:cubicBezTo>
                    <a:pt x="334" y="7526"/>
                    <a:pt x="501" y="7668"/>
                    <a:pt x="692" y="7668"/>
                  </a:cubicBezTo>
                  <a:lnTo>
                    <a:pt x="4907" y="7668"/>
                  </a:lnTo>
                  <a:lnTo>
                    <a:pt x="4907" y="8264"/>
                  </a:lnTo>
                  <a:cubicBezTo>
                    <a:pt x="4669" y="8335"/>
                    <a:pt x="4502" y="8550"/>
                    <a:pt x="4502" y="8812"/>
                  </a:cubicBezTo>
                  <a:cubicBezTo>
                    <a:pt x="4502" y="9121"/>
                    <a:pt x="4740" y="9383"/>
                    <a:pt x="5073" y="9383"/>
                  </a:cubicBezTo>
                  <a:cubicBezTo>
                    <a:pt x="5383" y="9383"/>
                    <a:pt x="5621" y="9121"/>
                    <a:pt x="5621" y="8812"/>
                  </a:cubicBezTo>
                  <a:cubicBezTo>
                    <a:pt x="5621" y="8550"/>
                    <a:pt x="5454" y="8335"/>
                    <a:pt x="5216" y="8264"/>
                  </a:cubicBezTo>
                  <a:lnTo>
                    <a:pt x="5216" y="7668"/>
                  </a:lnTo>
                  <a:lnTo>
                    <a:pt x="9431" y="7668"/>
                  </a:lnTo>
                  <a:cubicBezTo>
                    <a:pt x="9622" y="7668"/>
                    <a:pt x="9789" y="7526"/>
                    <a:pt x="9789" y="7335"/>
                  </a:cubicBezTo>
                  <a:lnTo>
                    <a:pt x="9789" y="1286"/>
                  </a:lnTo>
                  <a:cubicBezTo>
                    <a:pt x="9979" y="1286"/>
                    <a:pt x="10122" y="1143"/>
                    <a:pt x="10122" y="953"/>
                  </a:cubicBezTo>
                  <a:lnTo>
                    <a:pt x="10122" y="357"/>
                  </a:lnTo>
                  <a:cubicBezTo>
                    <a:pt x="10122" y="167"/>
                    <a:pt x="9979" y="0"/>
                    <a:pt x="9789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82" name="Google Shape;282;p2"/>
            <p:cNvSpPr/>
            <p:nvPr/>
          </p:nvSpPr>
          <p:spPr>
            <a:xfrm>
              <a:off x="5011219" y="2437234"/>
              <a:ext cx="45683" cy="9873"/>
            </a:xfrm>
            <a:custGeom>
              <a:rect b="b" l="l" r="r" t="t"/>
              <a:pathLst>
                <a:path extrusionOk="0" h="287" w="1358">
                  <a:moveTo>
                    <a:pt x="167" y="1"/>
                  </a:moveTo>
                  <a:cubicBezTo>
                    <a:pt x="72" y="1"/>
                    <a:pt x="0" y="72"/>
                    <a:pt x="0" y="144"/>
                  </a:cubicBezTo>
                  <a:cubicBezTo>
                    <a:pt x="0" y="239"/>
                    <a:pt x="72" y="286"/>
                    <a:pt x="167" y="286"/>
                  </a:cubicBezTo>
                  <a:lnTo>
                    <a:pt x="1191" y="286"/>
                  </a:lnTo>
                  <a:cubicBezTo>
                    <a:pt x="1286" y="286"/>
                    <a:pt x="1358" y="239"/>
                    <a:pt x="1358" y="144"/>
                  </a:cubicBezTo>
                  <a:cubicBezTo>
                    <a:pt x="1334" y="72"/>
                    <a:pt x="1286" y="1"/>
                    <a:pt x="119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83" name="Google Shape;283;p2"/>
            <p:cNvSpPr/>
            <p:nvPr/>
          </p:nvSpPr>
          <p:spPr>
            <a:xfrm>
              <a:off x="4976772" y="2455259"/>
              <a:ext cx="80130" cy="10698"/>
            </a:xfrm>
            <a:custGeom>
              <a:rect b="b" l="l" r="r" t="t"/>
              <a:pathLst>
                <a:path extrusionOk="0" h="311" w="2382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15" y="310"/>
                  </a:lnTo>
                  <a:cubicBezTo>
                    <a:pt x="2310" y="310"/>
                    <a:pt x="2382" y="239"/>
                    <a:pt x="2382" y="143"/>
                  </a:cubicBezTo>
                  <a:cubicBezTo>
                    <a:pt x="2382" y="72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84" name="Google Shape;284;p2"/>
            <p:cNvSpPr/>
            <p:nvPr/>
          </p:nvSpPr>
          <p:spPr>
            <a:xfrm>
              <a:off x="4976772" y="2302902"/>
              <a:ext cx="16854" cy="10664"/>
            </a:xfrm>
            <a:custGeom>
              <a:rect b="b" l="l" r="r" t="t"/>
              <a:pathLst>
                <a:path extrusionOk="0" h="310" w="501">
                  <a:moveTo>
                    <a:pt x="143" y="0"/>
                  </a:moveTo>
                  <a:cubicBezTo>
                    <a:pt x="72" y="0"/>
                    <a:pt x="0" y="72"/>
                    <a:pt x="0" y="143"/>
                  </a:cubicBezTo>
                  <a:cubicBezTo>
                    <a:pt x="0" y="238"/>
                    <a:pt x="72" y="310"/>
                    <a:pt x="143" y="310"/>
                  </a:cubicBezTo>
                  <a:lnTo>
                    <a:pt x="334" y="310"/>
                  </a:lnTo>
                  <a:cubicBezTo>
                    <a:pt x="429" y="310"/>
                    <a:pt x="500" y="238"/>
                    <a:pt x="500" y="143"/>
                  </a:cubicBezTo>
                  <a:cubicBezTo>
                    <a:pt x="500" y="72"/>
                    <a:pt x="429" y="0"/>
                    <a:pt x="334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85" name="Google Shape;285;p2"/>
            <p:cNvSpPr/>
            <p:nvPr/>
          </p:nvSpPr>
          <p:spPr>
            <a:xfrm>
              <a:off x="5001598" y="2302902"/>
              <a:ext cx="55304" cy="10664"/>
            </a:xfrm>
            <a:custGeom>
              <a:rect b="b" l="l" r="r" t="t"/>
              <a:pathLst>
                <a:path extrusionOk="0" h="310" w="1644">
                  <a:moveTo>
                    <a:pt x="143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8"/>
                    <a:pt x="72" y="310"/>
                    <a:pt x="143" y="310"/>
                  </a:cubicBezTo>
                  <a:lnTo>
                    <a:pt x="1477" y="310"/>
                  </a:lnTo>
                  <a:cubicBezTo>
                    <a:pt x="1572" y="310"/>
                    <a:pt x="1644" y="238"/>
                    <a:pt x="1644" y="143"/>
                  </a:cubicBezTo>
                  <a:cubicBezTo>
                    <a:pt x="1644" y="72"/>
                    <a:pt x="1572" y="0"/>
                    <a:pt x="147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86" name="Google Shape;286;p2"/>
            <p:cNvSpPr/>
            <p:nvPr/>
          </p:nvSpPr>
          <p:spPr>
            <a:xfrm>
              <a:off x="4976772" y="2321719"/>
              <a:ext cx="80130" cy="9873"/>
            </a:xfrm>
            <a:custGeom>
              <a:rect b="b" l="l" r="r" t="t"/>
              <a:pathLst>
                <a:path extrusionOk="0" h="287" w="2382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2215" y="287"/>
                  </a:lnTo>
                  <a:cubicBezTo>
                    <a:pt x="2310" y="287"/>
                    <a:pt x="2382" y="215"/>
                    <a:pt x="2382" y="144"/>
                  </a:cubicBezTo>
                  <a:cubicBezTo>
                    <a:pt x="2382" y="48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87" name="Google Shape;287;p2"/>
            <p:cNvSpPr/>
            <p:nvPr/>
          </p:nvSpPr>
          <p:spPr>
            <a:xfrm>
              <a:off x="4976772" y="2352025"/>
              <a:ext cx="80130" cy="65601"/>
            </a:xfrm>
            <a:custGeom>
              <a:rect b="b" l="l" r="r" t="t"/>
              <a:pathLst>
                <a:path extrusionOk="0" h="1907" w="2382">
                  <a:moveTo>
                    <a:pt x="143" y="1"/>
                  </a:moveTo>
                  <a:cubicBezTo>
                    <a:pt x="48" y="1"/>
                    <a:pt x="0" y="49"/>
                    <a:pt x="0" y="144"/>
                  </a:cubicBezTo>
                  <a:lnTo>
                    <a:pt x="0" y="1763"/>
                  </a:lnTo>
                  <a:cubicBezTo>
                    <a:pt x="0" y="1835"/>
                    <a:pt x="72" y="1906"/>
                    <a:pt x="143" y="1906"/>
                  </a:cubicBezTo>
                  <a:lnTo>
                    <a:pt x="2215" y="1906"/>
                  </a:lnTo>
                  <a:cubicBezTo>
                    <a:pt x="2310" y="1906"/>
                    <a:pt x="2382" y="1835"/>
                    <a:pt x="2382" y="1763"/>
                  </a:cubicBezTo>
                  <a:cubicBezTo>
                    <a:pt x="2382" y="1668"/>
                    <a:pt x="2310" y="1597"/>
                    <a:pt x="2215" y="1597"/>
                  </a:cubicBezTo>
                  <a:lnTo>
                    <a:pt x="1858" y="1597"/>
                  </a:lnTo>
                  <a:lnTo>
                    <a:pt x="1858" y="311"/>
                  </a:lnTo>
                  <a:cubicBezTo>
                    <a:pt x="1858" y="239"/>
                    <a:pt x="1786" y="168"/>
                    <a:pt x="1715" y="168"/>
                  </a:cubicBezTo>
                  <a:cubicBezTo>
                    <a:pt x="1644" y="168"/>
                    <a:pt x="1572" y="239"/>
                    <a:pt x="1572" y="311"/>
                  </a:cubicBezTo>
                  <a:lnTo>
                    <a:pt x="1572" y="1597"/>
                  </a:lnTo>
                  <a:lnTo>
                    <a:pt x="1334" y="1597"/>
                  </a:lnTo>
                  <a:lnTo>
                    <a:pt x="1334" y="1120"/>
                  </a:lnTo>
                  <a:cubicBezTo>
                    <a:pt x="1334" y="1049"/>
                    <a:pt x="1263" y="977"/>
                    <a:pt x="1191" y="977"/>
                  </a:cubicBezTo>
                  <a:cubicBezTo>
                    <a:pt x="1096" y="977"/>
                    <a:pt x="1024" y="1049"/>
                    <a:pt x="1024" y="1120"/>
                  </a:cubicBezTo>
                  <a:lnTo>
                    <a:pt x="1024" y="1597"/>
                  </a:lnTo>
                  <a:lnTo>
                    <a:pt x="786" y="1597"/>
                  </a:lnTo>
                  <a:lnTo>
                    <a:pt x="786" y="763"/>
                  </a:lnTo>
                  <a:cubicBezTo>
                    <a:pt x="786" y="668"/>
                    <a:pt x="739" y="596"/>
                    <a:pt x="643" y="596"/>
                  </a:cubicBezTo>
                  <a:cubicBezTo>
                    <a:pt x="572" y="596"/>
                    <a:pt x="500" y="668"/>
                    <a:pt x="500" y="763"/>
                  </a:cubicBezTo>
                  <a:lnTo>
                    <a:pt x="500" y="1597"/>
                  </a:lnTo>
                  <a:lnTo>
                    <a:pt x="286" y="1597"/>
                  </a:lnTo>
                  <a:lnTo>
                    <a:pt x="286" y="144"/>
                  </a:lnTo>
                  <a:cubicBezTo>
                    <a:pt x="286" y="72"/>
                    <a:pt x="215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88" name="Google Shape;288;p2"/>
            <p:cNvSpPr/>
            <p:nvPr/>
          </p:nvSpPr>
          <p:spPr>
            <a:xfrm>
              <a:off x="4789296" y="2294680"/>
              <a:ext cx="168267" cy="172069"/>
            </a:xfrm>
            <a:custGeom>
              <a:rect b="b" l="l" r="r" t="t"/>
              <a:pathLst>
                <a:path extrusionOk="0" h="5002" w="5002">
                  <a:moveTo>
                    <a:pt x="2501" y="1215"/>
                  </a:moveTo>
                  <a:cubicBezTo>
                    <a:pt x="3216" y="1215"/>
                    <a:pt x="3811" y="1787"/>
                    <a:pt x="3811" y="2501"/>
                  </a:cubicBezTo>
                  <a:cubicBezTo>
                    <a:pt x="3811" y="3240"/>
                    <a:pt x="3216" y="3811"/>
                    <a:pt x="2501" y="3811"/>
                  </a:cubicBezTo>
                  <a:cubicBezTo>
                    <a:pt x="1787" y="3811"/>
                    <a:pt x="1215" y="3216"/>
                    <a:pt x="1215" y="2501"/>
                  </a:cubicBezTo>
                  <a:cubicBezTo>
                    <a:pt x="1215" y="1787"/>
                    <a:pt x="1787" y="1215"/>
                    <a:pt x="2501" y="1215"/>
                  </a:cubicBezTo>
                  <a:close/>
                  <a:moveTo>
                    <a:pt x="4692" y="2668"/>
                  </a:moveTo>
                  <a:cubicBezTo>
                    <a:pt x="4668" y="3121"/>
                    <a:pt x="4502" y="3549"/>
                    <a:pt x="4216" y="3883"/>
                  </a:cubicBezTo>
                  <a:lnTo>
                    <a:pt x="3787" y="3454"/>
                  </a:lnTo>
                  <a:cubicBezTo>
                    <a:pt x="3954" y="3216"/>
                    <a:pt x="4073" y="2954"/>
                    <a:pt x="4097" y="2668"/>
                  </a:cubicBezTo>
                  <a:close/>
                  <a:moveTo>
                    <a:pt x="2358" y="311"/>
                  </a:moveTo>
                  <a:lnTo>
                    <a:pt x="2358" y="930"/>
                  </a:lnTo>
                  <a:cubicBezTo>
                    <a:pt x="1549" y="1001"/>
                    <a:pt x="906" y="1692"/>
                    <a:pt x="906" y="2501"/>
                  </a:cubicBezTo>
                  <a:cubicBezTo>
                    <a:pt x="906" y="3383"/>
                    <a:pt x="1620" y="4097"/>
                    <a:pt x="2501" y="4097"/>
                  </a:cubicBezTo>
                  <a:cubicBezTo>
                    <a:pt x="2930" y="4097"/>
                    <a:pt x="3311" y="3954"/>
                    <a:pt x="3597" y="3668"/>
                  </a:cubicBezTo>
                  <a:cubicBezTo>
                    <a:pt x="3740" y="3811"/>
                    <a:pt x="3883" y="3954"/>
                    <a:pt x="4025" y="4097"/>
                  </a:cubicBezTo>
                  <a:cubicBezTo>
                    <a:pt x="3644" y="4478"/>
                    <a:pt x="3097" y="4716"/>
                    <a:pt x="2501" y="4716"/>
                  </a:cubicBezTo>
                  <a:cubicBezTo>
                    <a:pt x="1287" y="4716"/>
                    <a:pt x="310" y="3716"/>
                    <a:pt x="310" y="2501"/>
                  </a:cubicBezTo>
                  <a:cubicBezTo>
                    <a:pt x="310" y="1335"/>
                    <a:pt x="1215" y="382"/>
                    <a:pt x="2358" y="311"/>
                  </a:cubicBezTo>
                  <a:close/>
                  <a:moveTo>
                    <a:pt x="2501" y="1"/>
                  </a:moveTo>
                  <a:cubicBezTo>
                    <a:pt x="1120" y="1"/>
                    <a:pt x="1" y="1144"/>
                    <a:pt x="1" y="2501"/>
                  </a:cubicBezTo>
                  <a:cubicBezTo>
                    <a:pt x="1" y="3883"/>
                    <a:pt x="1120" y="5002"/>
                    <a:pt x="2501" y="5002"/>
                  </a:cubicBezTo>
                  <a:cubicBezTo>
                    <a:pt x="3883" y="5002"/>
                    <a:pt x="5002" y="3883"/>
                    <a:pt x="5002" y="2501"/>
                  </a:cubicBezTo>
                  <a:cubicBezTo>
                    <a:pt x="5002" y="1978"/>
                    <a:pt x="4835" y="1477"/>
                    <a:pt x="4526" y="1049"/>
                  </a:cubicBezTo>
                  <a:cubicBezTo>
                    <a:pt x="4499" y="1009"/>
                    <a:pt x="4459" y="992"/>
                    <a:pt x="4415" y="992"/>
                  </a:cubicBezTo>
                  <a:cubicBezTo>
                    <a:pt x="4380" y="992"/>
                    <a:pt x="4343" y="1004"/>
                    <a:pt x="4311" y="1025"/>
                  </a:cubicBezTo>
                  <a:cubicBezTo>
                    <a:pt x="4264" y="1073"/>
                    <a:pt x="4240" y="1144"/>
                    <a:pt x="4287" y="1215"/>
                  </a:cubicBezTo>
                  <a:cubicBezTo>
                    <a:pt x="4526" y="1549"/>
                    <a:pt x="4668" y="1954"/>
                    <a:pt x="4692" y="2359"/>
                  </a:cubicBezTo>
                  <a:lnTo>
                    <a:pt x="4097" y="2359"/>
                  </a:lnTo>
                  <a:cubicBezTo>
                    <a:pt x="4025" y="1597"/>
                    <a:pt x="3406" y="1001"/>
                    <a:pt x="2644" y="930"/>
                  </a:cubicBezTo>
                  <a:lnTo>
                    <a:pt x="2644" y="311"/>
                  </a:lnTo>
                  <a:cubicBezTo>
                    <a:pt x="3097" y="334"/>
                    <a:pt x="3501" y="501"/>
                    <a:pt x="3859" y="787"/>
                  </a:cubicBezTo>
                  <a:cubicBezTo>
                    <a:pt x="3886" y="805"/>
                    <a:pt x="3917" y="813"/>
                    <a:pt x="3947" y="813"/>
                  </a:cubicBezTo>
                  <a:cubicBezTo>
                    <a:pt x="3996" y="813"/>
                    <a:pt x="4044" y="792"/>
                    <a:pt x="4073" y="763"/>
                  </a:cubicBezTo>
                  <a:cubicBezTo>
                    <a:pt x="4121" y="692"/>
                    <a:pt x="4121" y="596"/>
                    <a:pt x="4049" y="549"/>
                  </a:cubicBezTo>
                  <a:cubicBezTo>
                    <a:pt x="3597" y="191"/>
                    <a:pt x="3073" y="1"/>
                    <a:pt x="250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89" name="Google Shape;289;p2"/>
            <p:cNvSpPr/>
            <p:nvPr/>
          </p:nvSpPr>
          <p:spPr>
            <a:xfrm>
              <a:off x="4794107" y="2453402"/>
              <a:ext cx="24086" cy="17475"/>
            </a:xfrm>
            <a:custGeom>
              <a:rect b="b" l="l" r="r" t="t"/>
              <a:pathLst>
                <a:path extrusionOk="0" h="508" w="716">
                  <a:moveTo>
                    <a:pt x="167" y="1"/>
                  </a:moveTo>
                  <a:cubicBezTo>
                    <a:pt x="132" y="1"/>
                    <a:pt x="96" y="19"/>
                    <a:pt x="72" y="55"/>
                  </a:cubicBezTo>
                  <a:cubicBezTo>
                    <a:pt x="1" y="102"/>
                    <a:pt x="1" y="197"/>
                    <a:pt x="72" y="245"/>
                  </a:cubicBezTo>
                  <a:lnTo>
                    <a:pt x="263" y="459"/>
                  </a:lnTo>
                  <a:cubicBezTo>
                    <a:pt x="286" y="483"/>
                    <a:pt x="334" y="507"/>
                    <a:pt x="358" y="507"/>
                  </a:cubicBezTo>
                  <a:cubicBezTo>
                    <a:pt x="405" y="507"/>
                    <a:pt x="429" y="483"/>
                    <a:pt x="477" y="459"/>
                  </a:cubicBezTo>
                  <a:lnTo>
                    <a:pt x="667" y="245"/>
                  </a:lnTo>
                  <a:cubicBezTo>
                    <a:pt x="715" y="197"/>
                    <a:pt x="715" y="102"/>
                    <a:pt x="667" y="55"/>
                  </a:cubicBezTo>
                  <a:cubicBezTo>
                    <a:pt x="632" y="19"/>
                    <a:pt x="590" y="1"/>
                    <a:pt x="551" y="1"/>
                  </a:cubicBezTo>
                  <a:cubicBezTo>
                    <a:pt x="513" y="1"/>
                    <a:pt x="477" y="19"/>
                    <a:pt x="453" y="55"/>
                  </a:cubicBezTo>
                  <a:lnTo>
                    <a:pt x="358" y="150"/>
                  </a:lnTo>
                  <a:lnTo>
                    <a:pt x="263" y="55"/>
                  </a:lnTo>
                  <a:cubicBezTo>
                    <a:pt x="239" y="19"/>
                    <a:pt x="203" y="1"/>
                    <a:pt x="1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90" name="Google Shape;290;p2"/>
            <p:cNvSpPr/>
            <p:nvPr/>
          </p:nvSpPr>
          <p:spPr>
            <a:xfrm>
              <a:off x="4883051" y="2382744"/>
              <a:ext cx="24053" cy="16856"/>
            </a:xfrm>
            <a:custGeom>
              <a:rect b="b" l="l" r="r" t="t"/>
              <a:pathLst>
                <a:path extrusionOk="0" h="490" w="715">
                  <a:moveTo>
                    <a:pt x="164" y="1"/>
                  </a:moveTo>
                  <a:cubicBezTo>
                    <a:pt x="125" y="1"/>
                    <a:pt x="83" y="13"/>
                    <a:pt x="48" y="37"/>
                  </a:cubicBezTo>
                  <a:cubicBezTo>
                    <a:pt x="0" y="84"/>
                    <a:pt x="0" y="180"/>
                    <a:pt x="48" y="251"/>
                  </a:cubicBezTo>
                  <a:lnTo>
                    <a:pt x="238" y="442"/>
                  </a:lnTo>
                  <a:cubicBezTo>
                    <a:pt x="286" y="465"/>
                    <a:pt x="310" y="489"/>
                    <a:pt x="357" y="489"/>
                  </a:cubicBezTo>
                  <a:cubicBezTo>
                    <a:pt x="381" y="489"/>
                    <a:pt x="429" y="465"/>
                    <a:pt x="453" y="442"/>
                  </a:cubicBezTo>
                  <a:lnTo>
                    <a:pt x="667" y="251"/>
                  </a:lnTo>
                  <a:cubicBezTo>
                    <a:pt x="714" y="180"/>
                    <a:pt x="714" y="84"/>
                    <a:pt x="667" y="37"/>
                  </a:cubicBezTo>
                  <a:cubicBezTo>
                    <a:pt x="631" y="13"/>
                    <a:pt x="589" y="1"/>
                    <a:pt x="551" y="1"/>
                  </a:cubicBezTo>
                  <a:cubicBezTo>
                    <a:pt x="512" y="1"/>
                    <a:pt x="476" y="13"/>
                    <a:pt x="453" y="37"/>
                  </a:cubicBezTo>
                  <a:lnTo>
                    <a:pt x="357" y="132"/>
                  </a:lnTo>
                  <a:lnTo>
                    <a:pt x="262" y="37"/>
                  </a:lnTo>
                  <a:cubicBezTo>
                    <a:pt x="238" y="13"/>
                    <a:pt x="202" y="1"/>
                    <a:pt x="164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91" name="Google Shape;291;p2"/>
            <p:cNvSpPr/>
            <p:nvPr/>
          </p:nvSpPr>
          <p:spPr>
            <a:xfrm>
              <a:off x="4935899" y="2304106"/>
              <a:ext cx="24086" cy="16856"/>
            </a:xfrm>
            <a:custGeom>
              <a:rect b="b" l="l" r="r" t="t"/>
              <a:pathLst>
                <a:path extrusionOk="0" h="490" w="716">
                  <a:moveTo>
                    <a:pt x="168" y="1"/>
                  </a:moveTo>
                  <a:cubicBezTo>
                    <a:pt x="132" y="1"/>
                    <a:pt x="96" y="13"/>
                    <a:pt x="72" y="37"/>
                  </a:cubicBezTo>
                  <a:cubicBezTo>
                    <a:pt x="1" y="84"/>
                    <a:pt x="1" y="179"/>
                    <a:pt x="72" y="251"/>
                  </a:cubicBezTo>
                  <a:lnTo>
                    <a:pt x="263" y="441"/>
                  </a:lnTo>
                  <a:cubicBezTo>
                    <a:pt x="287" y="465"/>
                    <a:pt x="310" y="489"/>
                    <a:pt x="358" y="489"/>
                  </a:cubicBezTo>
                  <a:cubicBezTo>
                    <a:pt x="406" y="489"/>
                    <a:pt x="429" y="465"/>
                    <a:pt x="453" y="441"/>
                  </a:cubicBezTo>
                  <a:lnTo>
                    <a:pt x="668" y="251"/>
                  </a:lnTo>
                  <a:cubicBezTo>
                    <a:pt x="715" y="179"/>
                    <a:pt x="715" y="84"/>
                    <a:pt x="668" y="37"/>
                  </a:cubicBezTo>
                  <a:cubicBezTo>
                    <a:pt x="632" y="13"/>
                    <a:pt x="590" y="1"/>
                    <a:pt x="552" y="1"/>
                  </a:cubicBezTo>
                  <a:cubicBezTo>
                    <a:pt x="513" y="1"/>
                    <a:pt x="477" y="13"/>
                    <a:pt x="453" y="37"/>
                  </a:cubicBezTo>
                  <a:lnTo>
                    <a:pt x="358" y="132"/>
                  </a:lnTo>
                  <a:lnTo>
                    <a:pt x="263" y="37"/>
                  </a:lnTo>
                  <a:cubicBezTo>
                    <a:pt x="239" y="13"/>
                    <a:pt x="203" y="1"/>
                    <a:pt x="16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292" name="Google Shape;292;p2"/>
          <p:cNvSpPr/>
          <p:nvPr/>
        </p:nvSpPr>
        <p:spPr>
          <a:xfrm>
            <a:off x="9337010" y="1396603"/>
            <a:ext cx="1504594" cy="1401168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3" name="Google Shape;293;p2"/>
          <p:cNvSpPr txBox="1"/>
          <p:nvPr>
            <p:ph type="title"/>
          </p:nvPr>
        </p:nvSpPr>
        <p:spPr>
          <a:xfrm>
            <a:off x="525817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None/>
            </a:pPr>
            <a:r>
              <a:rPr lang="ru-RU" sz="1600">
                <a:solidFill>
                  <a:schemeClr val="lt1"/>
                </a:solidFill>
              </a:rPr>
              <a:t>Проблема: три боли рынка</a:t>
            </a:r>
            <a:endParaRPr/>
          </a:p>
        </p:txBody>
      </p:sp>
      <p:cxnSp>
        <p:nvCxnSpPr>
          <p:cNvPr id="294" name="Google Shape;294;p2"/>
          <p:cNvCxnSpPr/>
          <p:nvPr/>
        </p:nvCxnSpPr>
        <p:spPr>
          <a:xfrm flipH="1" rot="10800000">
            <a:off x="6843165" y="2119165"/>
            <a:ext cx="2489934" cy="12489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"/>
          <p:cNvSpPr/>
          <p:nvPr/>
        </p:nvSpPr>
        <p:spPr>
          <a:xfrm>
            <a:off x="346075" y="324550"/>
            <a:ext cx="3331200" cy="621000"/>
          </a:xfrm>
          <a:prstGeom prst="roundRect">
            <a:avLst>
              <a:gd fmla="val 18706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1" name="Google Shape;301;p3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accent5"/>
                </a:solidFill>
              </a:rPr>
              <a:t>‹#›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302" name="Google Shape;302;p3"/>
          <p:cNvSpPr/>
          <p:nvPr>
            <p:ph idx="1" type="body"/>
          </p:nvPr>
        </p:nvSpPr>
        <p:spPr>
          <a:xfrm>
            <a:off x="346075" y="1458075"/>
            <a:ext cx="2526079" cy="1476687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•"/>
            </a:pPr>
            <a:r>
              <a:rPr b="1" lang="ru-RU" sz="1400">
                <a:solidFill>
                  <a:schemeClr val="accent5"/>
                </a:solidFill>
              </a:rPr>
              <a:t>Запрос работодателя</a:t>
            </a:r>
            <a:endParaRPr/>
          </a:p>
        </p:txBody>
      </p:sp>
      <p:sp>
        <p:nvSpPr>
          <p:cNvPr id="303" name="Google Shape;303;p3"/>
          <p:cNvSpPr txBox="1"/>
          <p:nvPr>
            <p:ph idx="2" type="body"/>
          </p:nvPr>
        </p:nvSpPr>
        <p:spPr>
          <a:xfrm>
            <a:off x="346075" y="1814077"/>
            <a:ext cx="2526079" cy="1120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ru-RU" sz="1100">
                <a:solidFill>
                  <a:schemeClr val="dk1"/>
                </a:solidFill>
              </a:rPr>
              <a:t>Свободный текст: «python middle с kubernetes». LLM извлекает структуру — работодатель подтверждает «мы поняли так».</a:t>
            </a:r>
            <a:endParaRPr/>
          </a:p>
        </p:txBody>
      </p:sp>
      <p:sp>
        <p:nvSpPr>
          <p:cNvPr id="304" name="Google Shape;304;p3"/>
          <p:cNvSpPr/>
          <p:nvPr>
            <p:ph idx="3" type="body"/>
          </p:nvPr>
        </p:nvSpPr>
        <p:spPr>
          <a:xfrm>
            <a:off x="4832960" y="1458075"/>
            <a:ext cx="2526079" cy="1476687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•"/>
            </a:pPr>
            <a:r>
              <a:rPr b="1" lang="ru-RU" sz="1400">
                <a:solidFill>
                  <a:schemeClr val="accent5"/>
                </a:solidFill>
              </a:rPr>
              <a:t>Поиск по категориям</a:t>
            </a:r>
            <a:endParaRPr/>
          </a:p>
        </p:txBody>
      </p:sp>
      <p:sp>
        <p:nvSpPr>
          <p:cNvPr id="305" name="Google Shape;305;p3"/>
          <p:cNvSpPr txBox="1"/>
          <p:nvPr>
            <p:ph idx="4" type="body"/>
          </p:nvPr>
        </p:nvSpPr>
        <p:spPr>
          <a:xfrm>
            <a:off x="4832960" y="1814077"/>
            <a:ext cx="2526079" cy="1120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ru-RU" sz="1100">
                <a:solidFill>
                  <a:schemeClr val="dk1"/>
                </a:solidFill>
              </a:rPr>
              <a:t>7 специализаций × 4 грейда; категория = spec × грейд, подтверждённый тестом. Контакты кандидата скрыты.</a:t>
            </a:r>
            <a:endParaRPr/>
          </a:p>
        </p:txBody>
      </p:sp>
      <p:sp>
        <p:nvSpPr>
          <p:cNvPr id="306" name="Google Shape;306;p3"/>
          <p:cNvSpPr/>
          <p:nvPr>
            <p:ph idx="5" type="body"/>
          </p:nvPr>
        </p:nvSpPr>
        <p:spPr>
          <a:xfrm>
            <a:off x="9330862" y="1458075"/>
            <a:ext cx="2526079" cy="1476687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•"/>
            </a:pPr>
            <a:r>
              <a:rPr b="1" lang="ru-RU" sz="1400">
                <a:solidFill>
                  <a:schemeClr val="accent5"/>
                </a:solidFill>
              </a:rPr>
              <a:t>Объяснимая подборка</a:t>
            </a:r>
            <a:endParaRPr/>
          </a:p>
        </p:txBody>
      </p:sp>
      <p:sp>
        <p:nvSpPr>
          <p:cNvPr id="307" name="Google Shape;307;p3"/>
          <p:cNvSpPr txBox="1"/>
          <p:nvPr>
            <p:ph idx="6" type="body"/>
          </p:nvPr>
        </p:nvSpPr>
        <p:spPr>
          <a:xfrm>
            <a:off x="9330862" y="1814077"/>
            <a:ext cx="2526079" cy="1120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ru-RU" sz="1100">
                <a:solidFill>
                  <a:schemeClr val="dk1"/>
                </a:solidFill>
              </a:rPr>
              <a:t>Score = 0.4·тест + 0.3·стек + 0.2·ФСП + 0.1·свежесть; панель «Почему в подборке», виджет «вилка vs рынок».</a:t>
            </a:r>
            <a:endParaRPr/>
          </a:p>
        </p:txBody>
      </p:sp>
      <p:sp>
        <p:nvSpPr>
          <p:cNvPr id="308" name="Google Shape;308;p3"/>
          <p:cNvSpPr/>
          <p:nvPr>
            <p:ph idx="7" type="body"/>
          </p:nvPr>
        </p:nvSpPr>
        <p:spPr>
          <a:xfrm>
            <a:off x="2593517" y="4825338"/>
            <a:ext cx="2526079" cy="1476687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•"/>
            </a:pPr>
            <a:r>
              <a:rPr b="1" lang="ru-RU" sz="1400">
                <a:solidFill>
                  <a:schemeClr val="accent5"/>
                </a:solidFill>
              </a:rPr>
              <a:t>Приглашение + вилка</a:t>
            </a:r>
            <a:endParaRPr/>
          </a:p>
        </p:txBody>
      </p:sp>
      <p:sp>
        <p:nvSpPr>
          <p:cNvPr id="309" name="Google Shape;309;p3"/>
          <p:cNvSpPr txBox="1"/>
          <p:nvPr>
            <p:ph idx="8" type="body"/>
          </p:nvPr>
        </p:nvSpPr>
        <p:spPr>
          <a:xfrm>
            <a:off x="2593517" y="5181340"/>
            <a:ext cx="2526079" cy="1120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ru-RU" sz="1100">
                <a:solidFill>
                  <a:schemeClr val="dk1"/>
                </a:solidFill>
              </a:rPr>
              <a:t>Адресное приглашение с обязательной ЗП-вилкой. Кандидат видит условия до ответа.</a:t>
            </a:r>
            <a:endParaRPr/>
          </a:p>
        </p:txBody>
      </p:sp>
      <p:sp>
        <p:nvSpPr>
          <p:cNvPr id="310" name="Google Shape;310;p3"/>
          <p:cNvSpPr/>
          <p:nvPr>
            <p:ph idx="9" type="body"/>
          </p:nvPr>
        </p:nvSpPr>
        <p:spPr>
          <a:xfrm>
            <a:off x="7080402" y="4825338"/>
            <a:ext cx="2526079" cy="1476687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•"/>
            </a:pPr>
            <a:r>
              <a:rPr b="1" lang="ru-RU" sz="1400">
                <a:solidFill>
                  <a:schemeClr val="accent5"/>
                </a:solidFill>
              </a:rPr>
              <a:t>Взаимный выбор</a:t>
            </a:r>
            <a:endParaRPr/>
          </a:p>
        </p:txBody>
      </p:sp>
      <p:sp>
        <p:nvSpPr>
          <p:cNvPr id="311" name="Google Shape;311;p3"/>
          <p:cNvSpPr txBox="1"/>
          <p:nvPr>
            <p:ph idx="13" type="body"/>
          </p:nvPr>
        </p:nvSpPr>
        <p:spPr>
          <a:xfrm>
            <a:off x="7080402" y="5181340"/>
            <a:ext cx="2526079" cy="1120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ru-RU" sz="1100">
                <a:solidFill>
                  <a:schemeClr val="dk1"/>
                </a:solidFill>
              </a:rPr>
              <a:t>Кандидат принимает — контакты раскрываются обеим сторонам. Отказ — без последствий и спама.</a:t>
            </a:r>
            <a:endParaRPr/>
          </a:p>
        </p:txBody>
      </p:sp>
      <p:cxnSp>
        <p:nvCxnSpPr>
          <p:cNvPr id="312" name="Google Shape;312;p3"/>
          <p:cNvCxnSpPr/>
          <p:nvPr/>
        </p:nvCxnSpPr>
        <p:spPr>
          <a:xfrm>
            <a:off x="2065940" y="3860224"/>
            <a:ext cx="1332546" cy="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13" name="Google Shape;313;p3"/>
          <p:cNvCxnSpPr/>
          <p:nvPr/>
        </p:nvCxnSpPr>
        <p:spPr>
          <a:xfrm>
            <a:off x="4312137" y="3862139"/>
            <a:ext cx="1332546" cy="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14" name="Google Shape;314;p3"/>
          <p:cNvCxnSpPr/>
          <p:nvPr/>
        </p:nvCxnSpPr>
        <p:spPr>
          <a:xfrm>
            <a:off x="6558334" y="3862139"/>
            <a:ext cx="1332546" cy="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15" name="Google Shape;315;p3"/>
          <p:cNvCxnSpPr/>
          <p:nvPr/>
        </p:nvCxnSpPr>
        <p:spPr>
          <a:xfrm>
            <a:off x="8780467" y="3862139"/>
            <a:ext cx="1332545" cy="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16" name="Google Shape;316;p3"/>
          <p:cNvCxnSpPr/>
          <p:nvPr/>
        </p:nvCxnSpPr>
        <p:spPr>
          <a:xfrm>
            <a:off x="1609114" y="2934762"/>
            <a:ext cx="1" cy="573287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17" name="Google Shape;317;p3"/>
          <p:cNvCxnSpPr/>
          <p:nvPr/>
        </p:nvCxnSpPr>
        <p:spPr>
          <a:xfrm>
            <a:off x="3855312" y="4216228"/>
            <a:ext cx="1245" cy="575062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18" name="Google Shape;318;p3"/>
          <p:cNvCxnSpPr/>
          <p:nvPr/>
        </p:nvCxnSpPr>
        <p:spPr>
          <a:xfrm>
            <a:off x="6096000" y="2934762"/>
            <a:ext cx="5509" cy="573287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19" name="Google Shape;319;p3"/>
          <p:cNvCxnSpPr/>
          <p:nvPr/>
        </p:nvCxnSpPr>
        <p:spPr>
          <a:xfrm flipH="1">
            <a:off x="8343442" y="4216228"/>
            <a:ext cx="4264" cy="575062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20" name="Google Shape;320;p3"/>
          <p:cNvCxnSpPr/>
          <p:nvPr/>
        </p:nvCxnSpPr>
        <p:spPr>
          <a:xfrm>
            <a:off x="10593901" y="2934762"/>
            <a:ext cx="1" cy="573287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21" name="Google Shape;321;p3"/>
          <p:cNvSpPr/>
          <p:nvPr/>
        </p:nvSpPr>
        <p:spPr>
          <a:xfrm>
            <a:off x="1191126" y="3508049"/>
            <a:ext cx="874814" cy="708179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4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/>
          </a:p>
        </p:txBody>
      </p:sp>
      <p:sp>
        <p:nvSpPr>
          <p:cNvPr id="322" name="Google Shape;322;p3"/>
          <p:cNvSpPr/>
          <p:nvPr/>
        </p:nvSpPr>
        <p:spPr>
          <a:xfrm>
            <a:off x="3412397" y="3506136"/>
            <a:ext cx="874814" cy="708179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4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/>
          </a:p>
        </p:txBody>
      </p:sp>
      <p:sp>
        <p:nvSpPr>
          <p:cNvPr id="323" name="Google Shape;323;p3"/>
          <p:cNvSpPr/>
          <p:nvPr/>
        </p:nvSpPr>
        <p:spPr>
          <a:xfrm>
            <a:off x="5658594" y="3516255"/>
            <a:ext cx="874814" cy="708179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4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/>
          </a:p>
        </p:txBody>
      </p:sp>
      <p:sp>
        <p:nvSpPr>
          <p:cNvPr id="324" name="Google Shape;324;p3"/>
          <p:cNvSpPr/>
          <p:nvPr/>
        </p:nvSpPr>
        <p:spPr>
          <a:xfrm>
            <a:off x="7889752" y="3506135"/>
            <a:ext cx="874814" cy="708179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4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/>
          </a:p>
        </p:txBody>
      </p:sp>
      <p:sp>
        <p:nvSpPr>
          <p:cNvPr id="325" name="Google Shape;325;p3"/>
          <p:cNvSpPr/>
          <p:nvPr/>
        </p:nvSpPr>
        <p:spPr>
          <a:xfrm>
            <a:off x="10113012" y="3538626"/>
            <a:ext cx="874814" cy="708179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4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endParaRPr/>
          </a:p>
        </p:txBody>
      </p:sp>
      <p:sp>
        <p:nvSpPr>
          <p:cNvPr id="326" name="Google Shape;326;p3"/>
          <p:cNvSpPr txBox="1"/>
          <p:nvPr>
            <p:ph type="title"/>
          </p:nvPr>
        </p:nvSpPr>
        <p:spPr>
          <a:xfrm>
            <a:off x="525817" y="421226"/>
            <a:ext cx="98628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Montserrat"/>
              <a:buNone/>
            </a:pPr>
            <a:r>
              <a:rPr lang="ru-RU">
                <a:solidFill>
                  <a:schemeClr val="lt1"/>
                </a:solidFill>
              </a:rPr>
              <a:t>Обратная механика</a:t>
            </a:r>
            <a:endParaRPr/>
          </a:p>
        </p:txBody>
      </p:sp>
      <p:sp>
        <p:nvSpPr>
          <p:cNvPr id="327" name="Google Shape;327;p3"/>
          <p:cNvSpPr/>
          <p:nvPr/>
        </p:nvSpPr>
        <p:spPr>
          <a:xfrm>
            <a:off x="186480" y="1370651"/>
            <a:ext cx="2836197" cy="1581312"/>
          </a:xfrm>
          <a:prstGeom prst="roundRect">
            <a:avLst>
              <a:gd fmla="val 10884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8" name="Google Shape;328;p3"/>
          <p:cNvSpPr/>
          <p:nvPr/>
        </p:nvSpPr>
        <p:spPr>
          <a:xfrm>
            <a:off x="4644180" y="1370651"/>
            <a:ext cx="2836197" cy="1581312"/>
          </a:xfrm>
          <a:prstGeom prst="roundRect">
            <a:avLst>
              <a:gd fmla="val 10884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9" name="Google Shape;329;p3"/>
          <p:cNvSpPr/>
          <p:nvPr/>
        </p:nvSpPr>
        <p:spPr>
          <a:xfrm>
            <a:off x="9101880" y="1370651"/>
            <a:ext cx="2836197" cy="1581312"/>
          </a:xfrm>
          <a:prstGeom prst="roundRect">
            <a:avLst>
              <a:gd fmla="val 10884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0" name="Google Shape;330;p3"/>
          <p:cNvSpPr/>
          <p:nvPr/>
        </p:nvSpPr>
        <p:spPr>
          <a:xfrm>
            <a:off x="2471878" y="4825338"/>
            <a:ext cx="2836197" cy="1581312"/>
          </a:xfrm>
          <a:prstGeom prst="roundRect">
            <a:avLst>
              <a:gd fmla="val 10884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1" name="Google Shape;331;p3"/>
          <p:cNvSpPr/>
          <p:nvPr/>
        </p:nvSpPr>
        <p:spPr>
          <a:xfrm>
            <a:off x="6948708" y="4791290"/>
            <a:ext cx="2836197" cy="1581312"/>
          </a:xfrm>
          <a:prstGeom prst="roundRect">
            <a:avLst>
              <a:gd fmla="val 10884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"/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fmla="val 1870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8" name="Google Shape;338;p4"/>
          <p:cNvSpPr/>
          <p:nvPr/>
        </p:nvSpPr>
        <p:spPr>
          <a:xfrm>
            <a:off x="3288425" y="1522006"/>
            <a:ext cx="2672801" cy="4678769"/>
          </a:xfrm>
          <a:prstGeom prst="roundRect">
            <a:avLst>
              <a:gd fmla="val 982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9" name="Google Shape;339;p4"/>
          <p:cNvSpPr/>
          <p:nvPr/>
        </p:nvSpPr>
        <p:spPr>
          <a:xfrm>
            <a:off x="6230774" y="1522006"/>
            <a:ext cx="2672801" cy="4678769"/>
          </a:xfrm>
          <a:prstGeom prst="roundRect">
            <a:avLst>
              <a:gd fmla="val 982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0" name="Google Shape;340;p4"/>
          <p:cNvSpPr/>
          <p:nvPr/>
        </p:nvSpPr>
        <p:spPr>
          <a:xfrm>
            <a:off x="9173123" y="1522006"/>
            <a:ext cx="2672801" cy="4678769"/>
          </a:xfrm>
          <a:prstGeom prst="roundRect">
            <a:avLst>
              <a:gd fmla="val 982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1" name="Google Shape;341;p4"/>
          <p:cNvSpPr/>
          <p:nvPr/>
        </p:nvSpPr>
        <p:spPr>
          <a:xfrm>
            <a:off x="346076" y="1522006"/>
            <a:ext cx="2672801" cy="4678769"/>
          </a:xfrm>
          <a:prstGeom prst="roundRect">
            <a:avLst>
              <a:gd fmla="val 982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2" name="Google Shape;342;p4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343" name="Google Shape;343;p4"/>
          <p:cNvSpPr txBox="1"/>
          <p:nvPr>
            <p:ph idx="1" type="body"/>
          </p:nvPr>
        </p:nvSpPr>
        <p:spPr>
          <a:xfrm>
            <a:off x="520913" y="2339783"/>
            <a:ext cx="2284071" cy="4236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</a:pPr>
            <a:r>
              <a:rPr b="1" lang="ru-RU">
                <a:solidFill>
                  <a:schemeClr val="accent5"/>
                </a:solidFill>
              </a:rPr>
              <a:t>Тест — 0.40</a:t>
            </a:r>
            <a:endParaRPr/>
          </a:p>
        </p:txBody>
      </p:sp>
      <p:sp>
        <p:nvSpPr>
          <p:cNvPr id="344" name="Google Shape;344;p4"/>
          <p:cNvSpPr txBox="1"/>
          <p:nvPr>
            <p:ph idx="2" type="body"/>
          </p:nvPr>
        </p:nvSpPr>
        <p:spPr>
          <a:xfrm>
            <a:off x="520913" y="3128740"/>
            <a:ext cx="2284071" cy="2797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ru-RU">
                <a:solidFill>
                  <a:schemeClr val="dk1"/>
                </a:solidFill>
              </a:rPr>
              <a:t>Подтверждённый грейд и позиция θ внутри полосы. Неподтверждённый — статус «не подтверждён» и потолок в выдаче, но не скрыт.</a:t>
            </a:r>
            <a:endParaRPr/>
          </a:p>
        </p:txBody>
      </p:sp>
      <p:sp>
        <p:nvSpPr>
          <p:cNvPr id="345" name="Google Shape;345;p4"/>
          <p:cNvSpPr txBox="1"/>
          <p:nvPr>
            <p:ph idx="3" type="body"/>
          </p:nvPr>
        </p:nvSpPr>
        <p:spPr>
          <a:xfrm>
            <a:off x="3457903" y="2373557"/>
            <a:ext cx="2337416" cy="403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</a:pPr>
            <a:r>
              <a:rPr b="1" lang="ru-RU">
                <a:solidFill>
                  <a:schemeClr val="accent5"/>
                </a:solidFill>
              </a:rPr>
              <a:t>Стек — 0.30</a:t>
            </a:r>
            <a:endParaRPr/>
          </a:p>
        </p:txBody>
      </p:sp>
      <p:sp>
        <p:nvSpPr>
          <p:cNvPr id="346" name="Google Shape;346;p4"/>
          <p:cNvSpPr txBox="1"/>
          <p:nvPr>
            <p:ph idx="4" type="body"/>
          </p:nvPr>
        </p:nvSpPr>
        <p:spPr>
          <a:xfrm>
            <a:off x="3457903" y="3134070"/>
            <a:ext cx="2337416" cy="2797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ru-RU">
                <a:solidFill>
                  <a:schemeClr val="dk1"/>
                </a:solidFill>
              </a:rPr>
              <a:t>Совпадение must/nice навыков потребности, must весят втрое. Никаких навыков «по словам резюме».</a:t>
            </a:r>
            <a:endParaRPr/>
          </a:p>
        </p:txBody>
      </p:sp>
      <p:sp>
        <p:nvSpPr>
          <p:cNvPr id="347" name="Google Shape;347;p4"/>
          <p:cNvSpPr txBox="1"/>
          <p:nvPr>
            <p:ph idx="5" type="body"/>
          </p:nvPr>
        </p:nvSpPr>
        <p:spPr>
          <a:xfrm>
            <a:off x="6456363" y="2379657"/>
            <a:ext cx="2268537" cy="403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</a:pPr>
            <a:r>
              <a:rPr b="1" lang="ru-RU">
                <a:solidFill>
                  <a:schemeClr val="accent5"/>
                </a:solidFill>
              </a:rPr>
              <a:t>ФСП — 0.20</a:t>
            </a:r>
            <a:endParaRPr/>
          </a:p>
        </p:txBody>
      </p:sp>
      <p:sp>
        <p:nvSpPr>
          <p:cNvPr id="348" name="Google Shape;348;p4"/>
          <p:cNvSpPr txBox="1"/>
          <p:nvPr>
            <p:ph idx="6" type="body"/>
          </p:nvPr>
        </p:nvSpPr>
        <p:spPr>
          <a:xfrm>
            <a:off x="6456363" y="3136604"/>
            <a:ext cx="2268537" cy="2797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ru-RU">
                <a:solidFill>
                  <a:schemeClr val="dk1"/>
                </a:solidFill>
              </a:rPr>
              <a:t>Достижения из реестра ФСП бустят ранжирование внутри грейда. Нет истории — ноль без штрафа.</a:t>
            </a:r>
            <a:endParaRPr/>
          </a:p>
        </p:txBody>
      </p:sp>
      <p:sp>
        <p:nvSpPr>
          <p:cNvPr id="349" name="Google Shape;349;p4"/>
          <p:cNvSpPr txBox="1"/>
          <p:nvPr>
            <p:ph idx="7" type="body"/>
          </p:nvPr>
        </p:nvSpPr>
        <p:spPr>
          <a:xfrm>
            <a:off x="9407534" y="2339783"/>
            <a:ext cx="2263553" cy="4236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</a:pPr>
            <a:r>
              <a:rPr b="1" lang="ru-RU">
                <a:solidFill>
                  <a:schemeClr val="accent5"/>
                </a:solidFill>
              </a:rPr>
              <a:t>Свежесть — 0.10</a:t>
            </a:r>
            <a:endParaRPr/>
          </a:p>
        </p:txBody>
      </p:sp>
      <p:sp>
        <p:nvSpPr>
          <p:cNvPr id="350" name="Google Shape;350;p4"/>
          <p:cNvSpPr txBox="1"/>
          <p:nvPr>
            <p:ph idx="8" type="body"/>
          </p:nvPr>
        </p:nvSpPr>
        <p:spPr>
          <a:xfrm>
            <a:off x="9407534" y="3128739"/>
            <a:ext cx="2263553" cy="2797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ru-RU">
                <a:solidFill>
                  <a:schemeClr val="dk1"/>
                </a:solidFill>
              </a:rPr>
              <a:t>Экспоненциальный декай от активности: тесты, задания, обновления профиля. Рынок видит «живых» кандидатов.</a:t>
            </a:r>
            <a:endParaRPr/>
          </a:p>
        </p:txBody>
      </p:sp>
      <p:sp>
        <p:nvSpPr>
          <p:cNvPr id="351" name="Google Shape;351;p4"/>
          <p:cNvSpPr txBox="1"/>
          <p:nvPr>
            <p:ph type="title"/>
          </p:nvPr>
        </p:nvSpPr>
        <p:spPr>
          <a:xfrm>
            <a:off x="525817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Montserrat"/>
              <a:buNone/>
            </a:pPr>
            <a:r>
              <a:rPr lang="ru-RU">
                <a:solidFill>
                  <a:schemeClr val="lt1"/>
                </a:solidFill>
              </a:rPr>
              <a:t>Механика подбора</a:t>
            </a:r>
            <a:endParaRPr/>
          </a:p>
        </p:txBody>
      </p:sp>
      <p:sp>
        <p:nvSpPr>
          <p:cNvPr id="352" name="Google Shape;352;p4"/>
          <p:cNvSpPr txBox="1"/>
          <p:nvPr>
            <p:ph idx="16" type="body"/>
          </p:nvPr>
        </p:nvSpPr>
        <p:spPr>
          <a:xfrm>
            <a:off x="520913" y="1772416"/>
            <a:ext cx="771003" cy="4236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</a:pPr>
            <a:r>
              <a:rPr b="1" lang="ru-RU">
                <a:solidFill>
                  <a:schemeClr val="accent1"/>
                </a:solidFill>
              </a:rPr>
              <a:t>01</a:t>
            </a:r>
            <a:endParaRPr/>
          </a:p>
        </p:txBody>
      </p:sp>
      <p:sp>
        <p:nvSpPr>
          <p:cNvPr id="353" name="Google Shape;353;p4"/>
          <p:cNvSpPr txBox="1"/>
          <p:nvPr>
            <p:ph idx="17" type="body"/>
          </p:nvPr>
        </p:nvSpPr>
        <p:spPr>
          <a:xfrm>
            <a:off x="3449944" y="1766200"/>
            <a:ext cx="771003" cy="403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</a:pPr>
            <a:r>
              <a:rPr b="1" lang="ru-RU">
                <a:solidFill>
                  <a:schemeClr val="accent1"/>
                </a:solidFill>
              </a:rPr>
              <a:t>02</a:t>
            </a:r>
            <a:endParaRPr/>
          </a:p>
        </p:txBody>
      </p:sp>
      <p:sp>
        <p:nvSpPr>
          <p:cNvPr id="354" name="Google Shape;354;p4"/>
          <p:cNvSpPr txBox="1"/>
          <p:nvPr>
            <p:ph idx="18" type="body"/>
          </p:nvPr>
        </p:nvSpPr>
        <p:spPr>
          <a:xfrm>
            <a:off x="6456363" y="1766043"/>
            <a:ext cx="771003" cy="403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</a:pPr>
            <a:r>
              <a:rPr b="1" lang="ru-RU">
                <a:solidFill>
                  <a:schemeClr val="accent1"/>
                </a:solidFill>
              </a:rPr>
              <a:t>03</a:t>
            </a:r>
            <a:endParaRPr/>
          </a:p>
        </p:txBody>
      </p:sp>
      <p:sp>
        <p:nvSpPr>
          <p:cNvPr id="355" name="Google Shape;355;p4"/>
          <p:cNvSpPr txBox="1"/>
          <p:nvPr>
            <p:ph idx="19" type="body"/>
          </p:nvPr>
        </p:nvSpPr>
        <p:spPr>
          <a:xfrm>
            <a:off x="9407534" y="1772416"/>
            <a:ext cx="771003" cy="4236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</a:pPr>
            <a:r>
              <a:rPr b="1" lang="ru-RU">
                <a:solidFill>
                  <a:schemeClr val="accent1"/>
                </a:solidFill>
              </a:rPr>
              <a:t>04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5"/>
          <p:cNvSpPr txBox="1"/>
          <p:nvPr>
            <p:ph type="title"/>
          </p:nvPr>
        </p:nvSpPr>
        <p:spPr>
          <a:xfrm>
            <a:off x="533490" y="370426"/>
            <a:ext cx="5562510" cy="4423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900"/>
              <a:buFont typeface="Montserrat"/>
              <a:buNone/>
            </a:pPr>
            <a:r>
              <a:rPr lang="ru-RU">
                <a:solidFill>
                  <a:schemeClr val="accent5"/>
                </a:solidFill>
              </a:rPr>
              <a:t>Грейд — только по адаптивному тесту (CAT-lite)</a:t>
            </a:r>
            <a:endParaRPr/>
          </a:p>
        </p:txBody>
      </p:sp>
      <p:sp>
        <p:nvSpPr>
          <p:cNvPr id="362" name="Google Shape;362;p5"/>
          <p:cNvSpPr txBox="1"/>
          <p:nvPr>
            <p:ph idx="2" type="body"/>
          </p:nvPr>
        </p:nvSpPr>
        <p:spPr>
          <a:xfrm>
            <a:off x="521133" y="1695025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ru-RU" sz="1400">
                <a:solidFill>
                  <a:schemeClr val="dk1"/>
                </a:solidFill>
              </a:rPr>
              <a:t>Параметризованные шаблоны: задание = шаблон + seed, экземпляр у каждого кандидата уникален — пересказ чужого варианта бесполезен.</a:t>
            </a:r>
            <a:endParaRPr/>
          </a:p>
        </p:txBody>
      </p:sp>
      <p:sp>
        <p:nvSpPr>
          <p:cNvPr id="363" name="Google Shape;363;p5"/>
          <p:cNvSpPr txBox="1"/>
          <p:nvPr>
            <p:ph idx="3" type="body"/>
          </p:nvPr>
        </p:nvSpPr>
        <p:spPr>
          <a:xfrm>
            <a:off x="521133" y="2552035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ru-RU" sz="1400">
                <a:solidFill>
                  <a:schemeClr val="dk1"/>
                </a:solidFill>
              </a:rPr>
              <a:t>IRT-модель: способность θ и сложность β, P(верно) = σ(θ - β); старт — от медианы заявленного грейда.</a:t>
            </a:r>
            <a:endParaRPr/>
          </a:p>
        </p:txBody>
      </p:sp>
      <p:sp>
        <p:nvSpPr>
          <p:cNvPr id="364" name="Google Shape;364;p5"/>
          <p:cNvSpPr txBox="1"/>
          <p:nvPr>
            <p:ph idx="4" type="body"/>
          </p:nvPr>
        </p:nvSpPr>
        <p:spPr>
          <a:xfrm>
            <a:off x="521133" y="3409044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ru-RU" sz="1400">
                <a:solidFill>
                  <a:schemeClr val="dk1"/>
                </a:solidFill>
              </a:rPr>
              <a:t>Адаптивность: следующий вопрос — с β ближайшей к текущей θ (максимум информации), темы специализации round-robin.</a:t>
            </a:r>
            <a:endParaRPr/>
          </a:p>
        </p:txBody>
      </p:sp>
      <p:sp>
        <p:nvSpPr>
          <p:cNvPr id="365" name="Google Shape;365;p5"/>
          <p:cNvSpPr txBox="1"/>
          <p:nvPr>
            <p:ph idx="5" type="body"/>
          </p:nvPr>
        </p:nvSpPr>
        <p:spPr>
          <a:xfrm>
            <a:off x="521133" y="4266053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ru-RU" sz="1400">
                <a:solidFill>
                  <a:schemeClr val="dk1"/>
                </a:solidFill>
              </a:rPr>
              <a:t>Стоп-правила: 10 вопросов или SE &lt; 0.35 — ранняя уверенность. Грейд присваивается только результатом теста.</a:t>
            </a:r>
            <a:endParaRPr/>
          </a:p>
        </p:txBody>
      </p:sp>
      <p:sp>
        <p:nvSpPr>
          <p:cNvPr id="366" name="Google Shape;366;p5"/>
          <p:cNvSpPr txBox="1"/>
          <p:nvPr>
            <p:ph idx="6" type="body"/>
          </p:nvPr>
        </p:nvSpPr>
        <p:spPr>
          <a:xfrm>
            <a:off x="521133" y="5123063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ru-RU" sz="1400">
                <a:solidFill>
                  <a:schemeClr val="dk1"/>
                </a:solidFill>
              </a:rPr>
              <a:t>Экспресс для жюри: 4 вопроса, ~3 минуты; полный тест — 10 вопросов. Уверенный результат — предложение повысить грейд.</a:t>
            </a:r>
            <a:endParaRPr/>
          </a:p>
        </p:txBody>
      </p:sp>
      <p:sp>
        <p:nvSpPr>
          <p:cNvPr id="367" name="Google Shape;367;p5"/>
          <p:cNvSpPr txBox="1"/>
          <p:nvPr>
            <p:ph idx="4294967295" type="sldNum"/>
          </p:nvPr>
        </p:nvSpPr>
        <p:spPr>
          <a:xfrm>
            <a:off x="11441475" y="6356350"/>
            <a:ext cx="558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accent5"/>
                </a:solidFill>
              </a:rPr>
              <a:t>‹#›</a:t>
            </a:fld>
            <a:endParaRPr>
              <a:solidFill>
                <a:schemeClr val="accent5"/>
              </a:solidFill>
            </a:endParaRPr>
          </a:p>
        </p:txBody>
      </p:sp>
      <p:cxnSp>
        <p:nvCxnSpPr>
          <p:cNvPr id="368" name="Google Shape;368;p5"/>
          <p:cNvCxnSpPr/>
          <p:nvPr/>
        </p:nvCxnSpPr>
        <p:spPr>
          <a:xfrm>
            <a:off x="521133" y="1604660"/>
            <a:ext cx="1133590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69" name="Google Shape;369;p5"/>
          <p:cNvCxnSpPr/>
          <p:nvPr/>
        </p:nvCxnSpPr>
        <p:spPr>
          <a:xfrm>
            <a:off x="521133" y="2465535"/>
            <a:ext cx="1133590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70" name="Google Shape;370;p5"/>
          <p:cNvCxnSpPr/>
          <p:nvPr/>
        </p:nvCxnSpPr>
        <p:spPr>
          <a:xfrm>
            <a:off x="521133" y="3342865"/>
            <a:ext cx="1133590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71" name="Google Shape;371;p5"/>
          <p:cNvCxnSpPr/>
          <p:nvPr/>
        </p:nvCxnSpPr>
        <p:spPr>
          <a:xfrm>
            <a:off x="521133" y="4183125"/>
            <a:ext cx="1133590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72" name="Google Shape;372;p5"/>
          <p:cNvCxnSpPr/>
          <p:nvPr/>
        </p:nvCxnSpPr>
        <p:spPr>
          <a:xfrm>
            <a:off x="521133" y="5048098"/>
            <a:ext cx="1133590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6"/>
          <p:cNvSpPr/>
          <p:nvPr/>
        </p:nvSpPr>
        <p:spPr>
          <a:xfrm>
            <a:off x="346075" y="324550"/>
            <a:ext cx="6131100" cy="621000"/>
          </a:xfrm>
          <a:prstGeom prst="roundRect">
            <a:avLst>
              <a:gd fmla="val 1870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9" name="Google Shape;379;p6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accent5"/>
                </a:solidFill>
              </a:rPr>
              <a:t>‹#›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380" name="Google Shape;380;p6"/>
          <p:cNvSpPr/>
          <p:nvPr>
            <p:ph idx="1" type="body"/>
          </p:nvPr>
        </p:nvSpPr>
        <p:spPr>
          <a:xfrm>
            <a:off x="6755267" y="1343263"/>
            <a:ext cx="4790314" cy="1021701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</a:pPr>
            <a:r>
              <a:rPr b="1" lang="ru-RU">
                <a:solidFill>
                  <a:schemeClr val="accent1"/>
                </a:solidFill>
              </a:rPr>
              <a:t>96.7% — стабильность грейда</a:t>
            </a:r>
            <a:endParaRPr/>
          </a:p>
        </p:txBody>
      </p:sp>
      <p:sp>
        <p:nvSpPr>
          <p:cNvPr id="381" name="Google Shape;381;p6"/>
          <p:cNvSpPr txBox="1"/>
          <p:nvPr>
            <p:ph idx="2" type="body"/>
          </p:nvPr>
        </p:nvSpPr>
        <p:spPr>
          <a:xfrm>
            <a:off x="6755267" y="1722800"/>
            <a:ext cx="4790314" cy="642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ru-RU">
                <a:solidFill>
                  <a:schemeClr val="dk1"/>
                </a:solidFill>
              </a:rPr>
              <a:t>порог 80% · test-retest, 3 прогона на агента</a:t>
            </a:r>
            <a:endParaRPr/>
          </a:p>
        </p:txBody>
      </p:sp>
      <p:sp>
        <p:nvSpPr>
          <p:cNvPr id="382" name="Google Shape;382;p6"/>
          <p:cNvSpPr/>
          <p:nvPr>
            <p:ph idx="3" type="body"/>
          </p:nvPr>
        </p:nvSpPr>
        <p:spPr>
          <a:xfrm>
            <a:off x="6755267" y="2611824"/>
            <a:ext cx="4790314" cy="1021701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</a:pPr>
            <a:r>
              <a:rPr b="1" lang="ru-RU">
                <a:solidFill>
                  <a:schemeClr val="accent1"/>
                </a:solidFill>
              </a:rPr>
              <a:t>0.972 — Spearman</a:t>
            </a:r>
            <a:endParaRPr/>
          </a:p>
        </p:txBody>
      </p:sp>
      <p:sp>
        <p:nvSpPr>
          <p:cNvPr id="383" name="Google Shape;383;p6"/>
          <p:cNvSpPr txBox="1"/>
          <p:nvPr>
            <p:ph idx="4" type="body"/>
          </p:nvPr>
        </p:nvSpPr>
        <p:spPr>
          <a:xfrm>
            <a:off x="6755267" y="2991361"/>
            <a:ext cx="4790314" cy="642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ru-RU">
                <a:solidFill>
                  <a:schemeClr val="dk1"/>
                </a:solidFill>
              </a:rPr>
              <a:t>порог 0.85 · разделяющая сила θ, 300 синтетических агентов</a:t>
            </a:r>
            <a:endParaRPr/>
          </a:p>
        </p:txBody>
      </p:sp>
      <p:sp>
        <p:nvSpPr>
          <p:cNvPr id="384" name="Google Shape;384;p6"/>
          <p:cNvSpPr/>
          <p:nvPr>
            <p:ph idx="5" type="body"/>
          </p:nvPr>
        </p:nvSpPr>
        <p:spPr>
          <a:xfrm>
            <a:off x="6755267" y="3880385"/>
            <a:ext cx="4790314" cy="1021701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</a:pPr>
            <a:r>
              <a:rPr b="1" lang="ru-RU">
                <a:solidFill>
                  <a:schemeClr val="accent1"/>
                </a:solidFill>
              </a:rPr>
              <a:t>0.85 — Precision@5</a:t>
            </a:r>
            <a:endParaRPr/>
          </a:p>
        </p:txBody>
      </p:sp>
      <p:sp>
        <p:nvSpPr>
          <p:cNvPr id="385" name="Google Shape;385;p6"/>
          <p:cNvSpPr txBox="1"/>
          <p:nvPr>
            <p:ph idx="6" type="body"/>
          </p:nvPr>
        </p:nvSpPr>
        <p:spPr>
          <a:xfrm>
            <a:off x="6755267" y="4259922"/>
            <a:ext cx="4790314" cy="642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ru-RU">
                <a:solidFill>
                  <a:schemeClr val="dk1"/>
                </a:solidFill>
              </a:rPr>
              <a:t>порог 0.8 · размеченный набор «потребность × кандидаты»</a:t>
            </a:r>
            <a:endParaRPr/>
          </a:p>
        </p:txBody>
      </p:sp>
      <p:sp>
        <p:nvSpPr>
          <p:cNvPr id="386" name="Google Shape;386;p6"/>
          <p:cNvSpPr/>
          <p:nvPr>
            <p:ph idx="7" type="body"/>
          </p:nvPr>
        </p:nvSpPr>
        <p:spPr>
          <a:xfrm>
            <a:off x="6755267" y="5148947"/>
            <a:ext cx="4790314" cy="1021701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</a:pPr>
            <a:r>
              <a:rPr b="1" lang="ru-RU">
                <a:solidFill>
                  <a:schemeClr val="accent1"/>
                </a:solidFill>
              </a:rPr>
              <a:t>202 автотеста · смоук 14 шагов</a:t>
            </a:r>
            <a:endParaRPr/>
          </a:p>
        </p:txBody>
      </p:sp>
      <p:sp>
        <p:nvSpPr>
          <p:cNvPr id="387" name="Google Shape;387;p6"/>
          <p:cNvSpPr txBox="1"/>
          <p:nvPr>
            <p:ph idx="8" type="body"/>
          </p:nvPr>
        </p:nvSpPr>
        <p:spPr>
          <a:xfrm>
            <a:off x="6755267" y="5528484"/>
            <a:ext cx="4790314" cy="642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ru-RU">
                <a:solidFill>
                  <a:schemeClr val="dk1"/>
                </a:solidFill>
              </a:rPr>
              <a:t>302 сид-кандидата · ресед одной командой перед защитой</a:t>
            </a:r>
            <a:endParaRPr/>
          </a:p>
        </p:txBody>
      </p:sp>
      <p:graphicFrame>
        <p:nvGraphicFramePr>
          <p:cNvPr id="388" name="Google Shape;388;p6"/>
          <p:cNvGraphicFramePr/>
          <p:nvPr/>
        </p:nvGraphicFramePr>
        <p:xfrm>
          <a:off x="346075" y="1424510"/>
          <a:ext cx="5749925" cy="4401748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389" name="Google Shape;389;p6"/>
          <p:cNvSpPr txBox="1"/>
          <p:nvPr>
            <p:ph type="title"/>
          </p:nvPr>
        </p:nvSpPr>
        <p:spPr>
          <a:xfrm>
            <a:off x="525817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900"/>
              <a:buFont typeface="Montserrat"/>
              <a:buNone/>
            </a:pPr>
            <a:r>
              <a:rPr lang="ru-RU">
                <a:solidFill>
                  <a:schemeClr val="accent5"/>
                </a:solidFill>
              </a:rPr>
              <a:t>Валидация: все метрики выше порогов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7"/>
          <p:cNvSpPr/>
          <p:nvPr/>
        </p:nvSpPr>
        <p:spPr>
          <a:xfrm>
            <a:off x="4419477" y="1522006"/>
            <a:ext cx="3399397" cy="4678769"/>
          </a:xfrm>
          <a:prstGeom prst="roundRect">
            <a:avLst>
              <a:gd fmla="val 9821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6" name="Google Shape;396;p7"/>
          <p:cNvSpPr/>
          <p:nvPr/>
        </p:nvSpPr>
        <p:spPr>
          <a:xfrm>
            <a:off x="8365958" y="1522006"/>
            <a:ext cx="3248506" cy="4678769"/>
          </a:xfrm>
          <a:prstGeom prst="roundRect">
            <a:avLst>
              <a:gd fmla="val 9821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7" name="Google Shape;397;p7"/>
          <p:cNvSpPr/>
          <p:nvPr/>
        </p:nvSpPr>
        <p:spPr>
          <a:xfrm>
            <a:off x="623888" y="1522006"/>
            <a:ext cx="3248506" cy="4678769"/>
          </a:xfrm>
          <a:prstGeom prst="roundRect">
            <a:avLst>
              <a:gd fmla="val 9821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8" name="Google Shape;398;p7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accent5"/>
                </a:solidFill>
              </a:rPr>
              <a:t>‹#›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399" name="Google Shape;399;p7"/>
          <p:cNvSpPr txBox="1"/>
          <p:nvPr>
            <p:ph idx="1" type="body"/>
          </p:nvPr>
        </p:nvSpPr>
        <p:spPr>
          <a:xfrm>
            <a:off x="780565" y="2493074"/>
            <a:ext cx="2965634" cy="4236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</a:pPr>
            <a:r>
              <a:rPr b="1" lang="ru-RU">
                <a:solidFill>
                  <a:schemeClr val="accent5"/>
                </a:solidFill>
              </a:rPr>
              <a:t>Вход через FSP ID</a:t>
            </a:r>
            <a:endParaRPr/>
          </a:p>
        </p:txBody>
      </p:sp>
      <p:sp>
        <p:nvSpPr>
          <p:cNvPr id="400" name="Google Shape;400;p7"/>
          <p:cNvSpPr txBox="1"/>
          <p:nvPr>
            <p:ph idx="2" type="body"/>
          </p:nvPr>
        </p:nvSpPr>
        <p:spPr>
          <a:xfrm>
            <a:off x="780565" y="3128740"/>
            <a:ext cx="2965633" cy="2797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ru-RU">
                <a:solidFill>
                  <a:schemeClr val="dk1"/>
                </a:solidFill>
              </a:rPr>
              <a:t>Мок-OIDC: authorize, код, токен, профиль с достижениями. Боевой Keycloak — замена одним конфигом, backend не меняется.</a:t>
            </a:r>
            <a:endParaRPr/>
          </a:p>
        </p:txBody>
      </p:sp>
      <p:sp>
        <p:nvSpPr>
          <p:cNvPr id="401" name="Google Shape;401;p7"/>
          <p:cNvSpPr txBox="1"/>
          <p:nvPr>
            <p:ph idx="3" type="body"/>
          </p:nvPr>
        </p:nvSpPr>
        <p:spPr>
          <a:xfrm>
            <a:off x="4623178" y="2493074"/>
            <a:ext cx="3034896" cy="403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</a:pPr>
            <a:r>
              <a:rPr b="1" lang="ru-RU">
                <a:solidFill>
                  <a:schemeClr val="accent5"/>
                </a:solidFill>
              </a:rPr>
              <a:t>Честный fsp_score</a:t>
            </a:r>
            <a:endParaRPr/>
          </a:p>
        </p:txBody>
      </p:sp>
      <p:sp>
        <p:nvSpPr>
          <p:cNvPr id="402" name="Google Shape;402;p7"/>
          <p:cNvSpPr txBox="1"/>
          <p:nvPr>
            <p:ph idx="4" type="body"/>
          </p:nvPr>
        </p:nvSpPr>
        <p:spPr>
          <a:xfrm>
            <a:off x="4623178" y="3128740"/>
            <a:ext cx="3034896" cy="2797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ru-RU">
                <a:solidFill>
                  <a:schemeClr val="dk1"/>
                </a:solidFill>
              </a:rPr>
              <a:t>По рекомендации ФСП дисциплины не ранжируем: считаем результативность и число, затухание за повторные явки, потолок 1.0. Буст ранжирования, не грейда.</a:t>
            </a:r>
            <a:endParaRPr/>
          </a:p>
        </p:txBody>
      </p:sp>
      <p:sp>
        <p:nvSpPr>
          <p:cNvPr id="403" name="Google Shape;403;p7"/>
          <p:cNvSpPr txBox="1"/>
          <p:nvPr>
            <p:ph idx="5" type="body"/>
          </p:nvPr>
        </p:nvSpPr>
        <p:spPr>
          <a:xfrm>
            <a:off x="8547959" y="2493074"/>
            <a:ext cx="2945464" cy="403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</a:pPr>
            <a:r>
              <a:rPr b="1" lang="ru-RU">
                <a:solidFill>
                  <a:schemeClr val="accent5"/>
                </a:solidFill>
              </a:rPr>
              <a:t>Кейс «нет истории»</a:t>
            </a:r>
            <a:endParaRPr/>
          </a:p>
        </p:txBody>
      </p:sp>
      <p:sp>
        <p:nvSpPr>
          <p:cNvPr id="404" name="Google Shape;404;p7"/>
          <p:cNvSpPr txBox="1"/>
          <p:nvPr>
            <p:ph idx="6" type="body"/>
          </p:nvPr>
        </p:nvSpPr>
        <p:spPr>
          <a:xfrm>
            <a:off x="8547959" y="3128740"/>
            <a:ext cx="2945464" cy="2797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ru-RU">
                <a:solidFill>
                  <a:schemeClr val="dk1"/>
                </a:solidFill>
              </a:rPr>
              <a:t>404 — первоклассный сценарий: подсказка привязать FSP ID, fsp_score = 0 без штрафа, фильтр «есть достижения» корректно исключает.</a:t>
            </a:r>
            <a:endParaRPr/>
          </a:p>
        </p:txBody>
      </p:sp>
      <p:sp>
        <p:nvSpPr>
          <p:cNvPr id="405" name="Google Shape;405;p7"/>
          <p:cNvSpPr txBox="1"/>
          <p:nvPr>
            <p:ph type="title"/>
          </p:nvPr>
        </p:nvSpPr>
        <p:spPr>
          <a:xfrm>
            <a:off x="377691" y="335426"/>
            <a:ext cx="113313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900"/>
              <a:buFont typeface="Montserrat"/>
              <a:buNone/>
            </a:pPr>
            <a:r>
              <a:rPr lang="ru-RU">
                <a:solidFill>
                  <a:schemeClr val="accent5"/>
                </a:solidFill>
              </a:rPr>
              <a:t>Интеграция с ФСП: от мока к боевому реестру</a:t>
            </a:r>
            <a:endParaRPr/>
          </a:p>
        </p:txBody>
      </p:sp>
      <p:sp>
        <p:nvSpPr>
          <p:cNvPr id="406" name="Google Shape;406;p7"/>
          <p:cNvSpPr txBox="1"/>
          <p:nvPr>
            <p:ph idx="16" type="body"/>
          </p:nvPr>
        </p:nvSpPr>
        <p:spPr>
          <a:xfrm>
            <a:off x="780565" y="1772415"/>
            <a:ext cx="1311031" cy="6011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</a:pPr>
            <a:r>
              <a:rPr b="1" lang="ru-RU">
                <a:solidFill>
                  <a:schemeClr val="accent1"/>
                </a:solidFill>
              </a:rPr>
              <a:t>01</a:t>
            </a:r>
            <a:endParaRPr/>
          </a:p>
        </p:txBody>
      </p:sp>
      <p:sp>
        <p:nvSpPr>
          <p:cNvPr id="407" name="Google Shape;407;p7"/>
          <p:cNvSpPr txBox="1"/>
          <p:nvPr>
            <p:ph idx="17" type="body"/>
          </p:nvPr>
        </p:nvSpPr>
        <p:spPr>
          <a:xfrm>
            <a:off x="4615219" y="1766200"/>
            <a:ext cx="1311031" cy="5729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</a:pPr>
            <a:r>
              <a:rPr b="1" lang="ru-RU">
                <a:solidFill>
                  <a:schemeClr val="accent1"/>
                </a:solidFill>
              </a:rPr>
              <a:t>02</a:t>
            </a:r>
            <a:endParaRPr/>
          </a:p>
        </p:txBody>
      </p:sp>
      <p:sp>
        <p:nvSpPr>
          <p:cNvPr id="408" name="Google Shape;408;p7"/>
          <p:cNvSpPr txBox="1"/>
          <p:nvPr>
            <p:ph idx="18" type="body"/>
          </p:nvPr>
        </p:nvSpPr>
        <p:spPr>
          <a:xfrm>
            <a:off x="8547959" y="1766043"/>
            <a:ext cx="1311031" cy="57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</a:pPr>
            <a:r>
              <a:rPr b="1" lang="ru-RU">
                <a:solidFill>
                  <a:schemeClr val="accent1"/>
                </a:solidFill>
              </a:rPr>
              <a:t>03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8"/>
          <p:cNvSpPr/>
          <p:nvPr/>
        </p:nvSpPr>
        <p:spPr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15" name="Google Shape;415;p8" title="Снимок экрана от 2026-09-14 19-45-26.png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rcRect b="27462" l="0" r="0" t="27467"/>
          <a:stretch/>
        </p:blipFill>
        <p:spPr>
          <a:xfrm>
            <a:off x="0" y="335267"/>
            <a:ext cx="6456300" cy="2971801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8"/>
          <p:cNvSpPr txBox="1"/>
          <p:nvPr/>
        </p:nvSpPr>
        <p:spPr>
          <a:xfrm>
            <a:off x="6819904" y="2303118"/>
            <a:ext cx="4945564" cy="6686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rPr b="1" i="0" lang="ru-RU" sz="1600" u="none" cap="none" strike="noStrik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Краткое описание решения:</a:t>
            </a:r>
            <a:endParaRPr/>
          </a:p>
        </p:txBody>
      </p:sp>
      <p:sp>
        <p:nvSpPr>
          <p:cNvPr id="417" name="Google Shape;417;p8"/>
          <p:cNvSpPr txBox="1"/>
          <p:nvPr/>
        </p:nvSpPr>
        <p:spPr>
          <a:xfrm>
            <a:off x="6836606" y="4876070"/>
            <a:ext cx="4945565" cy="8900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Обратная механика с обязательной вилкой и скрытыми до принятия контактами; грейд только по адаптивному IRT-тесту; достижения ФСП в скоринге; полностью объяснимая выдача «почему в подборке».</a:t>
            </a:r>
            <a:endParaRPr/>
          </a:p>
        </p:txBody>
      </p:sp>
      <p:sp>
        <p:nvSpPr>
          <p:cNvPr id="418" name="Google Shape;418;p8"/>
          <p:cNvSpPr txBox="1"/>
          <p:nvPr/>
        </p:nvSpPr>
        <p:spPr>
          <a:xfrm>
            <a:off x="334962" y="3883009"/>
            <a:ext cx="5629800" cy="23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</a:pPr>
            <a:r>
              <a:rPr b="1" i="0" lang="ru-RU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Капитан: </a:t>
            </a:r>
            <a:r>
              <a:rPr b="0" i="0" lang="ru-RU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Хакимов Илья Александрович</a:t>
            </a:r>
            <a:endParaRPr/>
          </a:p>
          <a:p>
            <a:pPr indent="-144688" lvl="0" marL="144688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</a:pPr>
            <a:r>
              <a:rPr b="1" i="0" lang="ru-RU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Кол-во участников: </a:t>
            </a:r>
            <a:r>
              <a:rPr b="0" i="0" lang="ru-RU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 человека</a:t>
            </a:r>
            <a:endParaRPr/>
          </a:p>
          <a:p>
            <a:pPr indent="-144688" lvl="0" marL="144688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</a:pPr>
            <a:r>
              <a:rPr b="1" i="0" lang="ru-RU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Краткое описание: </a:t>
            </a:r>
            <a:endParaRPr/>
          </a:p>
          <a:p>
            <a:pPr indent="-144688" lvl="0" marL="144688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📫"/>
            </a:pPr>
            <a:r>
              <a:rPr b="0" i="1" lang="ru-RU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собрались на хакатоне ЛЦТ 2026; до этого вместе </a:t>
            </a:r>
            <a:r>
              <a:rPr i="1" lang="ru-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учились и участвовали в хакатонах, в том числе от ФСП ))</a:t>
            </a:r>
            <a:endParaRPr/>
          </a:p>
          <a:p>
            <a:pPr indent="-144688" lvl="0" marL="144688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📫"/>
            </a:pPr>
            <a:r>
              <a:rPr b="0" i="1" lang="ru-RU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Илья — PiratePress / ИТМО; Денис — Яндекс / МАИ</a:t>
            </a:r>
            <a:endParaRPr/>
          </a:p>
          <a:p>
            <a:pPr indent="-144688" lvl="0" marL="144688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</a:pPr>
            <a:r>
              <a:rPr b="1" i="0" lang="ru-RU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Город и регион:</a:t>
            </a:r>
            <a:r>
              <a:rPr b="0" i="0" lang="ru-RU" sz="1400" u="none" cap="none" strike="noStrik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 Москва</a:t>
            </a:r>
            <a:endParaRPr/>
          </a:p>
        </p:txBody>
      </p:sp>
      <p:sp>
        <p:nvSpPr>
          <p:cNvPr id="419" name="Google Shape;419;p8"/>
          <p:cNvSpPr txBox="1"/>
          <p:nvPr/>
        </p:nvSpPr>
        <p:spPr>
          <a:xfrm>
            <a:off x="334962" y="3484785"/>
            <a:ext cx="2990173" cy="3539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rPr b="1" i="0" lang="ru-RU" sz="1600" u="none" cap="none" strike="noStrik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О команде</a:t>
            </a:r>
            <a:endParaRPr/>
          </a:p>
        </p:txBody>
      </p:sp>
      <p:sp>
        <p:nvSpPr>
          <p:cNvPr id="420" name="Google Shape;420;p8"/>
          <p:cNvSpPr txBox="1"/>
          <p:nvPr>
            <p:ph type="title"/>
          </p:nvPr>
        </p:nvSpPr>
        <p:spPr>
          <a:xfrm>
            <a:off x="6819903" y="1039236"/>
            <a:ext cx="3636703" cy="1015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900"/>
              <a:buFont typeface="Montserrat"/>
              <a:buNone/>
            </a:pPr>
            <a:r>
              <a:rPr lang="ru-RU">
                <a:solidFill>
                  <a:schemeClr val="accent5"/>
                </a:solidFill>
              </a:rPr>
              <a:t>О команде и решении</a:t>
            </a:r>
            <a:endParaRPr/>
          </a:p>
        </p:txBody>
      </p:sp>
      <p:cxnSp>
        <p:nvCxnSpPr>
          <p:cNvPr id="421" name="Google Shape;421;p8"/>
          <p:cNvCxnSpPr/>
          <p:nvPr/>
        </p:nvCxnSpPr>
        <p:spPr>
          <a:xfrm>
            <a:off x="6880774" y="2240031"/>
            <a:ext cx="4884824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422" name="Google Shape;422;p8"/>
          <p:cNvCxnSpPr/>
          <p:nvPr/>
        </p:nvCxnSpPr>
        <p:spPr>
          <a:xfrm>
            <a:off x="6897347" y="4437879"/>
            <a:ext cx="4884824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423" name="Google Shape;423;p8"/>
          <p:cNvCxnSpPr/>
          <p:nvPr/>
        </p:nvCxnSpPr>
        <p:spPr>
          <a:xfrm>
            <a:off x="395833" y="3448639"/>
            <a:ext cx="5700167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24" name="Google Shape;424;p8"/>
          <p:cNvSpPr txBox="1"/>
          <p:nvPr/>
        </p:nvSpPr>
        <p:spPr>
          <a:xfrm>
            <a:off x="6819904" y="4541737"/>
            <a:ext cx="4945564" cy="6686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rPr b="1" i="0" lang="ru-RU" sz="1600" u="none" cap="none" strike="noStrik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Уникальность решения:</a:t>
            </a:r>
            <a:endParaRPr/>
          </a:p>
        </p:txBody>
      </p:sp>
      <p:sp>
        <p:nvSpPr>
          <p:cNvPr id="425" name="Google Shape;425;p8"/>
          <p:cNvSpPr txBox="1"/>
          <p:nvPr/>
        </p:nvSpPr>
        <p:spPr>
          <a:xfrm>
            <a:off x="6808027" y="2619903"/>
            <a:ext cx="4945565" cy="8900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PirateHunter — агрегатор ИТ-вакансий с обратной механикой: работодатель ищет по категориям (7 специализаций × 4 грейда) и шлёт приглашение с обязательной ЗП-вилкой; кандидат выбирает, контакты раскрываются при взаимном интересе.</a:t>
            </a:r>
            <a:endParaRPr/>
          </a:p>
        </p:txBody>
      </p:sp>
      <p:sp>
        <p:nvSpPr>
          <p:cNvPr id="426" name="Google Shape;426;p8"/>
          <p:cNvSpPr txBox="1"/>
          <p:nvPr/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1200" u="none" cap="none" strike="noStrike">
              <a:solidFill>
                <a:schemeClr val="accent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9"/>
          <p:cNvSpPr/>
          <p:nvPr/>
        </p:nvSpPr>
        <p:spPr>
          <a:xfrm>
            <a:off x="2651394" y="1522006"/>
            <a:ext cx="2192713" cy="4834352"/>
          </a:xfrm>
          <a:prstGeom prst="roundRect">
            <a:avLst>
              <a:gd fmla="val 982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3" name="Google Shape;433;p9"/>
          <p:cNvSpPr txBox="1"/>
          <p:nvPr/>
        </p:nvSpPr>
        <p:spPr>
          <a:xfrm>
            <a:off x="2823678" y="4250028"/>
            <a:ext cx="1894354" cy="16246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</a:pPr>
            <a:r>
              <a:rPr b="0" i="0" lang="ru-RU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Frontend + Design</a:t>
            </a:r>
            <a:endParaRPr/>
          </a:p>
          <a:p>
            <a:pPr indent="-144688" lvl="0" marL="1446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</a:pPr>
            <a:r>
              <a:rPr b="0" i="0" lang="ru-RU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@BrightOS</a:t>
            </a:r>
            <a:endParaRPr/>
          </a:p>
          <a:p>
            <a:pPr indent="-144688" lvl="0" marL="1446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</a:pPr>
            <a:r>
              <a:rPr b="0" i="0" lang="ru-RU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+79377808307</a:t>
            </a:r>
            <a:endParaRPr/>
          </a:p>
          <a:p>
            <a:pPr indent="-144688" lvl="0" marL="1446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</a:pPr>
            <a:r>
              <a:rPr b="0" i="0" lang="ru-RU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Яндекс / МАИ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4" name="Google Shape;434;p9"/>
          <p:cNvSpPr txBox="1"/>
          <p:nvPr/>
        </p:nvSpPr>
        <p:spPr>
          <a:xfrm>
            <a:off x="2823677" y="3622118"/>
            <a:ext cx="1722566" cy="6279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rPr b="1" i="0" lang="ru-RU" sz="1600" u="none" cap="none" strike="noStrik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Денис Шайхльбарин</a:t>
            </a:r>
            <a:endParaRPr/>
          </a:p>
        </p:txBody>
      </p:sp>
      <p:sp>
        <p:nvSpPr>
          <p:cNvPr id="435" name="Google Shape;435;p9"/>
          <p:cNvSpPr/>
          <p:nvPr/>
        </p:nvSpPr>
        <p:spPr>
          <a:xfrm>
            <a:off x="346076" y="1522006"/>
            <a:ext cx="2192713" cy="4834352"/>
          </a:xfrm>
          <a:prstGeom prst="roundRect">
            <a:avLst>
              <a:gd fmla="val 982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6" name="Google Shape;436;p9"/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fmla="val 1870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7" name="Google Shape;437;p9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pic>
        <p:nvPicPr>
          <p:cNvPr id="438" name="Google Shape;438;p9" title="photo_2025-09-03_10-46-44.jpg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rcRect b="4931" l="0" r="0" t="4922"/>
          <a:stretch/>
        </p:blipFill>
        <p:spPr>
          <a:xfrm>
            <a:off x="581397" y="1816054"/>
            <a:ext cx="1722566" cy="1552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9" title="photo_2025-02-25_15-02-23.jpg"/>
          <p:cNvPicPr preferRelativeResize="0"/>
          <p:nvPr>
            <p:ph idx="3" type="pic"/>
          </p:nvPr>
        </p:nvPicPr>
        <p:blipFill rotWithShape="1">
          <a:blip r:embed="rId5">
            <a:alphaModFix/>
          </a:blip>
          <a:srcRect b="5229" l="0" r="0" t="5229"/>
          <a:stretch/>
        </p:blipFill>
        <p:spPr>
          <a:xfrm>
            <a:off x="2886467" y="1826554"/>
            <a:ext cx="1722566" cy="1542402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9"/>
          <p:cNvSpPr txBox="1"/>
          <p:nvPr>
            <p:ph type="title"/>
          </p:nvPr>
        </p:nvSpPr>
        <p:spPr>
          <a:xfrm>
            <a:off x="518359" y="449787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00"/>
              <a:buFont typeface="Montserrat"/>
              <a:buNone/>
            </a:pPr>
            <a:r>
              <a:rPr lang="ru-RU"/>
              <a:t>Команда</a:t>
            </a:r>
            <a:endParaRPr/>
          </a:p>
        </p:txBody>
      </p:sp>
      <p:sp>
        <p:nvSpPr>
          <p:cNvPr id="441" name="Google Shape;441;p9"/>
          <p:cNvSpPr txBox="1"/>
          <p:nvPr>
            <p:ph idx="1" type="body"/>
          </p:nvPr>
        </p:nvSpPr>
        <p:spPr>
          <a:xfrm>
            <a:off x="518360" y="4250028"/>
            <a:ext cx="1894354" cy="16246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ru-RU" sz="1200">
                <a:solidFill>
                  <a:schemeClr val="dk1"/>
                </a:solidFill>
              </a:rPr>
              <a:t>Капитан · Fullstack + AI Engineer</a:t>
            </a:r>
            <a:endParaRPr/>
          </a:p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ru-RU" sz="1200">
                <a:solidFill>
                  <a:schemeClr val="dk1"/>
                </a:solidFill>
              </a:rPr>
              <a:t>@ilyakhakimov03</a:t>
            </a:r>
            <a:endParaRPr/>
          </a:p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ru-RU" sz="1200">
                <a:solidFill>
                  <a:schemeClr val="dk1"/>
                </a:solidFill>
              </a:rPr>
              <a:t>+79871047771</a:t>
            </a:r>
            <a:endParaRPr/>
          </a:p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ru-RU" sz="1200">
                <a:solidFill>
                  <a:schemeClr val="dk1"/>
                </a:solidFill>
              </a:rPr>
              <a:t>PiratePress / ИТМО</a:t>
            </a:r>
            <a:endParaRPr/>
          </a:p>
        </p:txBody>
      </p:sp>
      <p:sp>
        <p:nvSpPr>
          <p:cNvPr id="442" name="Google Shape;442;p9"/>
          <p:cNvSpPr txBox="1"/>
          <p:nvPr/>
        </p:nvSpPr>
        <p:spPr>
          <a:xfrm>
            <a:off x="518359" y="3622118"/>
            <a:ext cx="1722566" cy="6279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rPr b="1" i="0" lang="ru-RU" sz="1600" u="none" cap="none" strike="noStrik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Илья Хакимов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0"/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fmla="val 1870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9" name="Google Shape;449;p10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accent5"/>
                </a:solidFill>
              </a:rPr>
              <a:t>‹#›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450" name="Google Shape;450;p10"/>
          <p:cNvSpPr txBox="1"/>
          <p:nvPr>
            <p:ph type="title"/>
          </p:nvPr>
        </p:nvSpPr>
        <p:spPr>
          <a:xfrm>
            <a:off x="507849" y="449787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00"/>
              <a:buFont typeface="Montserrat"/>
              <a:buNone/>
            </a:pPr>
            <a:r>
              <a:rPr lang="ru-RU"/>
              <a:t>История команды</a:t>
            </a:r>
            <a:endParaRPr/>
          </a:p>
        </p:txBody>
      </p:sp>
      <p:sp>
        <p:nvSpPr>
          <p:cNvPr id="451" name="Google Shape;451;p10"/>
          <p:cNvSpPr txBox="1"/>
          <p:nvPr>
            <p:ph idx="1" type="body"/>
          </p:nvPr>
        </p:nvSpPr>
        <p:spPr>
          <a:xfrm>
            <a:off x="533607" y="1602273"/>
            <a:ext cx="4425822" cy="934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>
                <a:solidFill>
                  <a:schemeClr val="dk1"/>
                </a:solidFill>
              </a:rPr>
              <a:t>Собрались на ЛЦТ 2026, но это не первый общий продукт: до хакатона вместе учились и участвовали в хакатонах, в том числе от ФСП ))</a:t>
            </a:r>
            <a:endParaRPr/>
          </a:p>
        </p:txBody>
      </p:sp>
      <p:sp>
        <p:nvSpPr>
          <p:cNvPr id="452" name="Google Shape;452;p10"/>
          <p:cNvSpPr txBox="1"/>
          <p:nvPr/>
        </p:nvSpPr>
        <p:spPr>
          <a:xfrm>
            <a:off x="533607" y="1279645"/>
            <a:ext cx="2990173" cy="3539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b="1" i="0" lang="ru-RU" sz="1400" u="none" cap="none" strike="noStrik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Краткая история команды:</a:t>
            </a:r>
            <a:endParaRPr/>
          </a:p>
        </p:txBody>
      </p:sp>
      <p:sp>
        <p:nvSpPr>
          <p:cNvPr id="453" name="Google Shape;453;p10"/>
          <p:cNvSpPr txBox="1"/>
          <p:nvPr/>
        </p:nvSpPr>
        <p:spPr>
          <a:xfrm>
            <a:off x="533607" y="5139255"/>
            <a:ext cx="7318749" cy="1055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44688" lvl="0" marL="1446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</a:pPr>
            <a:r>
              <a:rPr b="0" i="0" lang="ru-RU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Объективный грейд без эталонной разметки: закрыли параметризованными шаблонами + IRT и синтетической валидацией со своими порогами приёмки.</a:t>
            </a:r>
            <a:endParaRPr/>
          </a:p>
          <a:p>
            <a:pPr indent="-144688" lvl="0" marL="144688" marR="0" rtl="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</a:pPr>
            <a:r>
              <a:rPr b="0" i="0" lang="ru-RU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Приватность: ПДн живут только в backend, core работает с анонимными снапшотами — готовый аргумент для 152-ФЗ.</a:t>
            </a:r>
            <a:endParaRPr/>
          </a:p>
        </p:txBody>
      </p:sp>
      <p:sp>
        <p:nvSpPr>
          <p:cNvPr id="454" name="Google Shape;454;p10"/>
          <p:cNvSpPr txBox="1"/>
          <p:nvPr/>
        </p:nvSpPr>
        <p:spPr>
          <a:xfrm>
            <a:off x="533608" y="4571473"/>
            <a:ext cx="6438692" cy="629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b="1" i="0" lang="ru-RU" sz="1400" u="none" cap="none" strike="noStrik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С какими основными сложностями или вызовами </a:t>
            </a:r>
            <a:br>
              <a:rPr b="1" i="0" lang="ru-RU" sz="1400" u="none" cap="none" strike="noStrik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i="0" lang="ru-RU" sz="1400" u="none" cap="none" strike="noStrik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вы столкнулись и как их преодолели?</a:t>
            </a:r>
            <a:endParaRPr/>
          </a:p>
        </p:txBody>
      </p:sp>
      <p:sp>
        <p:nvSpPr>
          <p:cNvPr id="455" name="Google Shape;455;p10"/>
          <p:cNvSpPr txBox="1"/>
          <p:nvPr/>
        </p:nvSpPr>
        <p:spPr>
          <a:xfrm>
            <a:off x="533607" y="3429000"/>
            <a:ext cx="4945565" cy="10785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Задача ФСП бьёт по нашим компетенциям: ИИ-конвейеры, скоринг и честная валидация. Плюс — реальная боль рынка труда, которую хотелось пощупать руками.</a:t>
            </a:r>
            <a:endParaRPr/>
          </a:p>
        </p:txBody>
      </p:sp>
      <p:sp>
        <p:nvSpPr>
          <p:cNvPr id="456" name="Google Shape;456;p10"/>
          <p:cNvSpPr txBox="1"/>
          <p:nvPr/>
        </p:nvSpPr>
        <p:spPr>
          <a:xfrm>
            <a:off x="533607" y="2900091"/>
            <a:ext cx="5629858" cy="5289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b="1" i="0" lang="ru-RU" sz="1400" u="none" cap="none" strike="noStrik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Почему вы выбрали именно эту задачу </a:t>
            </a:r>
            <a:br>
              <a:rPr b="1" i="0" lang="ru-RU" sz="1400" u="none" cap="none" strike="noStrik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i="0" lang="ru-RU" sz="1400" u="none" cap="none" strike="noStrik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из предложенных на хакатоне?</a:t>
            </a:r>
            <a:endParaRPr/>
          </a:p>
        </p:txBody>
      </p:sp>
      <p:cxnSp>
        <p:nvCxnSpPr>
          <p:cNvPr id="457" name="Google Shape;457;p10"/>
          <p:cNvCxnSpPr/>
          <p:nvPr/>
        </p:nvCxnSpPr>
        <p:spPr>
          <a:xfrm>
            <a:off x="623888" y="2745691"/>
            <a:ext cx="1123315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458" name="Google Shape;458;p10"/>
          <p:cNvCxnSpPr/>
          <p:nvPr/>
        </p:nvCxnSpPr>
        <p:spPr>
          <a:xfrm>
            <a:off x="623888" y="4407066"/>
            <a:ext cx="1123315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459" name="Google Shape;459;p10"/>
          <p:cNvCxnSpPr/>
          <p:nvPr/>
        </p:nvCxnSpPr>
        <p:spPr>
          <a:xfrm>
            <a:off x="623888" y="1110074"/>
            <a:ext cx="1123315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60" name="Google Shape;460;p10"/>
          <p:cNvSpPr txBox="1"/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b="1" i="0" lang="ru-RU" sz="1400" u="none" cap="none" strike="noStrik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/>
          </a:p>
        </p:txBody>
      </p:sp>
      <p:sp>
        <p:nvSpPr>
          <p:cNvPr id="461" name="Google Shape;461;p10"/>
          <p:cNvSpPr txBox="1"/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b="1" i="0" lang="ru-RU" sz="1400" u="none" cap="none" strike="noStrik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/>
          </a:p>
        </p:txBody>
      </p:sp>
      <p:sp>
        <p:nvSpPr>
          <p:cNvPr id="462" name="Google Shape;462;p10"/>
          <p:cNvSpPr txBox="1"/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b="1" i="0" lang="ru-RU" sz="1400" u="none" cap="none" strike="noStrik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1"/>
          <p:cNvSpPr/>
          <p:nvPr/>
        </p:nvSpPr>
        <p:spPr>
          <a:xfrm>
            <a:off x="346075" y="324562"/>
            <a:ext cx="3750912" cy="620919"/>
          </a:xfrm>
          <a:prstGeom prst="roundRect">
            <a:avLst>
              <a:gd fmla="val 1870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9" name="Google Shape;469;p11"/>
          <p:cNvSpPr/>
          <p:nvPr/>
        </p:nvSpPr>
        <p:spPr>
          <a:xfrm>
            <a:off x="6230774" y="1211284"/>
            <a:ext cx="5440313" cy="4989492"/>
          </a:xfrm>
          <a:prstGeom prst="roundRect">
            <a:avLst>
              <a:gd fmla="val 386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0" name="Google Shape;470;p11"/>
          <p:cNvSpPr/>
          <p:nvPr/>
        </p:nvSpPr>
        <p:spPr>
          <a:xfrm>
            <a:off x="346076" y="1211284"/>
            <a:ext cx="5440313" cy="4989492"/>
          </a:xfrm>
          <a:prstGeom prst="roundRect">
            <a:avLst>
              <a:gd fmla="val 340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1" name="Google Shape;471;p11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472" name="Google Shape;472;p11"/>
          <p:cNvSpPr txBox="1"/>
          <p:nvPr>
            <p:ph idx="2" type="body"/>
          </p:nvPr>
        </p:nvSpPr>
        <p:spPr>
          <a:xfrm>
            <a:off x="589493" y="1920927"/>
            <a:ext cx="4929861" cy="38685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ru-RU">
                <a:solidFill>
                  <a:schemeClr val="dk1"/>
                </a:solidFill>
              </a:rPr>
              <a:t>Три сервиса: backend (FastAPI, JWT, ПДн), hunter_core (CAT-lite IRT-движок, скоринг, валидация), fsp_registry (мок-реестр ФСП за OIDC-адаптером); фронтенд — Next.js с двумя кабинетами.</a:t>
            </a:r>
            <a:endParaRPr/>
          </a:p>
          <a:p>
            <a:pPr indent="-144688" lvl="0" marL="144688" rtl="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ru-RU">
                <a:solidFill>
                  <a:schemeClr val="dk1"/>
                </a:solidFill>
              </a:rPr>
              <a:t>Score = 0.4·тест + 0.3·стек + 0.2·ФСП + 0.1·свежесть; веса в конфиге, каждый результат с explanation.</a:t>
            </a:r>
            <a:endParaRPr/>
          </a:p>
          <a:p>
            <a:pPr indent="-144688" lvl="0" marL="144688" rtl="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ru-RU">
                <a:solidFill>
                  <a:schemeClr val="dk1"/>
                </a:solidFill>
              </a:rPr>
              <a:t>LLM-парсинг потребности, разбор и генерация PDF-резюме; подъём стенда — docker compose up -d --build.</a:t>
            </a:r>
            <a:endParaRPr/>
          </a:p>
          <a:p>
            <a:pPr indent="-144688" lvl="0" marL="144688" rtl="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ru-RU">
                <a:solidFill>
                  <a:schemeClr val="dk1"/>
                </a:solidFill>
              </a:rPr>
              <a:t>Data residency: хостинг и LLM — в ДЦ РФ (Selectel, Cloud.ru Evolution); 152-ФЗ, трансграничной передачи ПДн нет.</a:t>
            </a:r>
            <a:endParaRPr/>
          </a:p>
        </p:txBody>
      </p:sp>
      <p:sp>
        <p:nvSpPr>
          <p:cNvPr id="473" name="Google Shape;473;p11"/>
          <p:cNvSpPr txBox="1"/>
          <p:nvPr>
            <p:ph idx="6" type="body"/>
          </p:nvPr>
        </p:nvSpPr>
        <p:spPr>
          <a:xfrm>
            <a:off x="6513513" y="1920927"/>
            <a:ext cx="4957144" cy="38764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ru-RU">
                <a:solidFill>
                  <a:schemeClr val="dk1"/>
                </a:solidFill>
              </a:rPr>
              <a:t>Кандидату: грейд, подтверждённый честным тестом, и приглашения с вилкой зарплаты до ответа.</a:t>
            </a:r>
            <a:endParaRPr/>
          </a:p>
          <a:p>
            <a:pPr indent="-144688" lvl="0" marL="144688" rtl="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ru-RU">
                <a:solidFill>
                  <a:schemeClr val="dk1"/>
                </a:solidFill>
              </a:rPr>
              <a:t>Работодателю: поиск по категориям и подборка, которую можно объяснить каждой цифрой.</a:t>
            </a:r>
            <a:endParaRPr/>
          </a:p>
          <a:p>
            <a:pPr indent="-144688" lvl="0" marL="144688" rtl="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ru-RU">
                <a:solidFill>
                  <a:schemeClr val="dk1"/>
                </a:solidFill>
              </a:rPr>
              <a:t>Дальше: боевой FSP ID одним конфигом, ATS-ready открытый API, MCP для ИИ-агентов, пилот с ФСП.</a:t>
            </a:r>
            <a:endParaRPr/>
          </a:p>
        </p:txBody>
      </p:sp>
      <p:sp>
        <p:nvSpPr>
          <p:cNvPr id="474" name="Google Shape;474;p11"/>
          <p:cNvSpPr txBox="1"/>
          <p:nvPr>
            <p:ph type="title"/>
          </p:nvPr>
        </p:nvSpPr>
        <p:spPr>
          <a:xfrm>
            <a:off x="525817" y="456851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00"/>
              <a:buFont typeface="Montserrat"/>
              <a:buNone/>
            </a:pPr>
            <a:r>
              <a:rPr lang="ru-RU"/>
              <a:t>КОРОТКО О РЕШЕНИИ</a:t>
            </a:r>
            <a:endParaRPr/>
          </a:p>
        </p:txBody>
      </p:sp>
      <p:sp>
        <p:nvSpPr>
          <p:cNvPr id="475" name="Google Shape;475;p11"/>
          <p:cNvSpPr txBox="1"/>
          <p:nvPr>
            <p:ph idx="16" type="body"/>
          </p:nvPr>
        </p:nvSpPr>
        <p:spPr>
          <a:xfrm>
            <a:off x="578063" y="1476583"/>
            <a:ext cx="4929861" cy="5551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</a:pPr>
            <a:r>
              <a:rPr b="1" lang="ru-RU" sz="2000">
                <a:solidFill>
                  <a:schemeClr val="accent5"/>
                </a:solidFill>
              </a:rPr>
              <a:t>Техническая суть решения</a:t>
            </a:r>
            <a:endParaRPr/>
          </a:p>
        </p:txBody>
      </p:sp>
      <p:sp>
        <p:nvSpPr>
          <p:cNvPr id="476" name="Google Shape;476;p11"/>
          <p:cNvSpPr txBox="1"/>
          <p:nvPr>
            <p:ph idx="18" type="body"/>
          </p:nvPr>
        </p:nvSpPr>
        <p:spPr>
          <a:xfrm>
            <a:off x="6513513" y="1476583"/>
            <a:ext cx="5214724" cy="561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</a:pPr>
            <a:r>
              <a:rPr b="1" lang="ru-RU" sz="2000">
                <a:solidFill>
                  <a:schemeClr val="accent5"/>
                </a:solidFill>
              </a:rPr>
              <a:t>Маркетинговая суть решения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</a:pPr>
            <a:r>
              <a:t/>
            </a:r>
            <a:endParaRPr b="1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2"/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fmla="val 18706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83" name="Google Shape;48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44677" y="945463"/>
            <a:ext cx="4551332" cy="3557363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12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accent5"/>
                </a:solidFill>
              </a:rPr>
              <a:t>‹#›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485" name="Google Shape;485;p12"/>
          <p:cNvSpPr txBox="1"/>
          <p:nvPr>
            <p:ph idx="1" type="body"/>
          </p:nvPr>
        </p:nvSpPr>
        <p:spPr>
          <a:xfrm>
            <a:off x="346075" y="4656083"/>
            <a:ext cx="3626700" cy="15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ru-RU">
                <a:solidFill>
                  <a:schemeClr val="dk1"/>
                </a:solidFill>
              </a:rPr>
              <a:t>1 · Работодатель: потребность — подборка с объяснением — приглашение с вилкой ЗП</a:t>
            </a:r>
            <a:endParaRPr/>
          </a:p>
        </p:txBody>
      </p:sp>
      <p:sp>
        <p:nvSpPr>
          <p:cNvPr id="486" name="Google Shape;486;p12"/>
          <p:cNvSpPr txBox="1"/>
          <p:nvPr>
            <p:ph idx="3" type="body"/>
          </p:nvPr>
        </p:nvSpPr>
        <p:spPr>
          <a:xfrm>
            <a:off x="4240502" y="4656083"/>
            <a:ext cx="3626700" cy="15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ru-RU">
                <a:solidFill>
                  <a:schemeClr val="dk1"/>
                </a:solidFill>
              </a:rPr>
              <a:t>2 · Кандидат: экспресс-тест 4 вопроса (~3 мин) — категория — приглашение с вилкой крупно</a:t>
            </a:r>
            <a:endParaRPr/>
          </a:p>
        </p:txBody>
      </p:sp>
      <p:sp>
        <p:nvSpPr>
          <p:cNvPr id="487" name="Google Shape;487;p12"/>
          <p:cNvSpPr txBox="1"/>
          <p:nvPr>
            <p:ph idx="4" type="body"/>
          </p:nvPr>
        </p:nvSpPr>
        <p:spPr>
          <a:xfrm>
            <a:off x="8230203" y="4656083"/>
            <a:ext cx="3626700" cy="15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ru-RU">
                <a:solidFill>
                  <a:schemeClr val="dk1"/>
                </a:solidFill>
              </a:rPr>
              <a:t>3 · Сходимость: кандидат принимает — контакты раскрываются обеим сторонам</a:t>
            </a:r>
            <a:endParaRPr/>
          </a:p>
        </p:txBody>
      </p:sp>
      <p:sp>
        <p:nvSpPr>
          <p:cNvPr id="488" name="Google Shape;488;p12"/>
          <p:cNvSpPr txBox="1"/>
          <p:nvPr>
            <p:ph type="title"/>
          </p:nvPr>
        </p:nvSpPr>
        <p:spPr>
          <a:xfrm>
            <a:off x="525817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Montserrat"/>
              <a:buNone/>
            </a:pPr>
            <a:r>
              <a:rPr lang="ru-RU">
                <a:solidFill>
                  <a:schemeClr val="lt1"/>
                </a:solidFill>
              </a:rPr>
              <a:t>Живая демо</a:t>
            </a:r>
            <a:endParaRPr/>
          </a:p>
        </p:txBody>
      </p:sp>
      <p:sp>
        <p:nvSpPr>
          <p:cNvPr id="489" name="Google Shape;489;p12"/>
          <p:cNvSpPr txBox="1"/>
          <p:nvPr/>
        </p:nvSpPr>
        <p:spPr>
          <a:xfrm>
            <a:off x="1834477" y="1336263"/>
            <a:ext cx="4051200" cy="20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piratehunter.fun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вход по e-mail-коду или FSP ID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Демо-аккаунты для жюри: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кандидат с ФСП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кандидат без ФСП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работодатель</a:t>
            </a:r>
            <a:endParaRPr/>
          </a:p>
        </p:txBody>
      </p:sp>
      <p:pic>
        <p:nvPicPr>
          <p:cNvPr id="490" name="Google Shape;490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34634" y="871039"/>
            <a:ext cx="3553921" cy="35539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13"/>
          <p:cNvSpPr/>
          <p:nvPr/>
        </p:nvSpPr>
        <p:spPr>
          <a:xfrm>
            <a:off x="401057" y="4991827"/>
            <a:ext cx="2739249" cy="1364531"/>
          </a:xfrm>
          <a:prstGeom prst="roundRect">
            <a:avLst>
              <a:gd fmla="val 515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7" name="Google Shape;497;p13"/>
          <p:cNvSpPr/>
          <p:nvPr/>
        </p:nvSpPr>
        <p:spPr>
          <a:xfrm>
            <a:off x="3302625" y="4991827"/>
            <a:ext cx="2739249" cy="1364531"/>
          </a:xfrm>
          <a:prstGeom prst="roundRect">
            <a:avLst>
              <a:gd fmla="val 515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8" name="Google Shape;498;p13"/>
          <p:cNvSpPr/>
          <p:nvPr/>
        </p:nvSpPr>
        <p:spPr>
          <a:xfrm>
            <a:off x="6204193" y="4991827"/>
            <a:ext cx="2739249" cy="1364531"/>
          </a:xfrm>
          <a:prstGeom prst="roundRect">
            <a:avLst>
              <a:gd fmla="val 515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9" name="Google Shape;499;p13"/>
          <p:cNvSpPr/>
          <p:nvPr/>
        </p:nvSpPr>
        <p:spPr>
          <a:xfrm>
            <a:off x="9105761" y="4991827"/>
            <a:ext cx="2739249" cy="1364531"/>
          </a:xfrm>
          <a:prstGeom prst="roundRect">
            <a:avLst>
              <a:gd fmla="val 515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0" name="Google Shape;500;p13"/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fmla="val 1870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1" name="Google Shape;501;p13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502" name="Google Shape;502;p13"/>
          <p:cNvSpPr txBox="1"/>
          <p:nvPr>
            <p:ph idx="1" type="body"/>
          </p:nvPr>
        </p:nvSpPr>
        <p:spPr>
          <a:xfrm>
            <a:off x="449155" y="5035451"/>
            <a:ext cx="2658088" cy="1271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lang="ru-RU">
                <a:solidFill>
                  <a:schemeClr val="dk1"/>
                </a:solidFill>
              </a:rPr>
              <a:t>Подборка работодателя</a:t>
            </a:r>
            <a:endParaRPr/>
          </a:p>
        </p:txBody>
      </p:sp>
      <p:sp>
        <p:nvSpPr>
          <p:cNvPr id="503" name="Google Shape;503;p13"/>
          <p:cNvSpPr txBox="1"/>
          <p:nvPr>
            <p:ph idx="6" type="body"/>
          </p:nvPr>
        </p:nvSpPr>
        <p:spPr>
          <a:xfrm>
            <a:off x="3302624" y="5035451"/>
            <a:ext cx="2706185" cy="1271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lang="ru-RU">
                <a:solidFill>
                  <a:schemeClr val="dk1"/>
                </a:solidFill>
              </a:rPr>
              <a:t>Тест кандидата</a:t>
            </a:r>
            <a:endParaRPr/>
          </a:p>
        </p:txBody>
      </p:sp>
      <p:sp>
        <p:nvSpPr>
          <p:cNvPr id="504" name="Google Shape;504;p13"/>
          <p:cNvSpPr txBox="1"/>
          <p:nvPr>
            <p:ph idx="7" type="body"/>
          </p:nvPr>
        </p:nvSpPr>
        <p:spPr>
          <a:xfrm>
            <a:off x="6204192" y="5035451"/>
            <a:ext cx="2728103" cy="1271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lang="ru-RU">
                <a:solidFill>
                  <a:schemeClr val="dk1"/>
                </a:solidFill>
              </a:rPr>
              <a:t>Приглашение у кандидата</a:t>
            </a:r>
            <a:endParaRPr/>
          </a:p>
        </p:txBody>
      </p:sp>
      <p:sp>
        <p:nvSpPr>
          <p:cNvPr id="505" name="Google Shape;505;p13"/>
          <p:cNvSpPr txBox="1"/>
          <p:nvPr>
            <p:ph idx="8" type="body"/>
          </p:nvPr>
        </p:nvSpPr>
        <p:spPr>
          <a:xfrm>
            <a:off x="9116535" y="5035451"/>
            <a:ext cx="2739248" cy="1271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lang="ru-RU">
                <a:solidFill>
                  <a:schemeClr val="dk1"/>
                </a:solidFill>
              </a:rPr>
              <a:t>Категория кандидата</a:t>
            </a:r>
            <a:endParaRPr/>
          </a:p>
        </p:txBody>
      </p:sp>
      <p:grpSp>
        <p:nvGrpSpPr>
          <p:cNvPr id="506" name="Google Shape;506;p13"/>
          <p:cNvGrpSpPr/>
          <p:nvPr/>
        </p:nvGrpSpPr>
        <p:grpSpPr>
          <a:xfrm>
            <a:off x="997191" y="1096813"/>
            <a:ext cx="1821822" cy="3745203"/>
            <a:chOff x="5193506" y="1574006"/>
            <a:chExt cx="1802607" cy="3705701"/>
          </a:xfrm>
        </p:grpSpPr>
        <p:sp>
          <p:nvSpPr>
            <p:cNvPr id="507" name="Google Shape;507;p13"/>
            <p:cNvSpPr/>
            <p:nvPr/>
          </p:nvSpPr>
          <p:spPr>
            <a:xfrm>
              <a:off x="5208079" y="1574006"/>
              <a:ext cx="1781175" cy="3705225"/>
            </a:xfrm>
            <a:custGeom>
              <a:rect b="b" l="l" r="r" t="t"/>
              <a:pathLst>
                <a:path extrusionOk="0" h="3705225" w="1781175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08" name="Google Shape;508;p13"/>
            <p:cNvSpPr/>
            <p:nvPr/>
          </p:nvSpPr>
          <p:spPr>
            <a:xfrm>
              <a:off x="5274850" y="1574276"/>
              <a:ext cx="1704975" cy="295275"/>
            </a:xfrm>
            <a:custGeom>
              <a:rect b="b" l="l" r="r" t="t"/>
              <a:pathLst>
                <a:path extrusionOk="0" h="295275" w="1704975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09" name="Google Shape;509;p13"/>
            <p:cNvSpPr/>
            <p:nvPr/>
          </p:nvSpPr>
          <p:spPr>
            <a:xfrm>
              <a:off x="5232368" y="1598295"/>
              <a:ext cx="1733550" cy="3657600"/>
            </a:xfrm>
            <a:custGeom>
              <a:rect b="b" l="l" r="r" t="t"/>
              <a:pathLst>
                <a:path extrusionOk="0" h="3657600" w="173355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10" name="Google Shape;510;p13"/>
            <p:cNvSpPr/>
            <p:nvPr/>
          </p:nvSpPr>
          <p:spPr>
            <a:xfrm>
              <a:off x="5231225" y="1597057"/>
              <a:ext cx="1733550" cy="3657600"/>
            </a:xfrm>
            <a:custGeom>
              <a:rect b="b" l="l" r="r" t="t"/>
              <a:pathLst>
                <a:path extrusionOk="0" h="3657600" w="173355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11" name="Google Shape;511;p13"/>
            <p:cNvSpPr/>
            <p:nvPr/>
          </p:nvSpPr>
          <p:spPr>
            <a:xfrm>
              <a:off x="5274850" y="4979578"/>
              <a:ext cx="1704975" cy="295275"/>
            </a:xfrm>
            <a:custGeom>
              <a:rect b="b" l="l" r="r" t="t"/>
              <a:pathLst>
                <a:path extrusionOk="0" h="295275" w="1704975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12" name="Google Shape;512;p13"/>
            <p:cNvSpPr/>
            <p:nvPr/>
          </p:nvSpPr>
          <p:spPr>
            <a:xfrm>
              <a:off x="6977063" y="2346579"/>
              <a:ext cx="19050" cy="400050"/>
            </a:xfrm>
            <a:custGeom>
              <a:rect b="b" l="l" r="r" t="t"/>
              <a:pathLst>
                <a:path extrusionOk="0" h="400050" w="1905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13" name="Google Shape;513;p13"/>
            <p:cNvSpPr/>
            <p:nvPr/>
          </p:nvSpPr>
          <p:spPr>
            <a:xfrm>
              <a:off x="6982778" y="2346674"/>
              <a:ext cx="9525" cy="400050"/>
            </a:xfrm>
            <a:custGeom>
              <a:rect b="b" l="l" r="r" t="t"/>
              <a:pathLst>
                <a:path extrusionOk="0" h="400050" w="9525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14" name="Google Shape;514;p13"/>
            <p:cNvSpPr/>
            <p:nvPr/>
          </p:nvSpPr>
          <p:spPr>
            <a:xfrm>
              <a:off x="5196363" y="2346579"/>
              <a:ext cx="19050" cy="276225"/>
            </a:xfrm>
            <a:custGeom>
              <a:rect b="b" l="l" r="r" t="t"/>
              <a:pathLst>
                <a:path extrusionOk="0" h="276225" w="1905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15" name="Google Shape;515;p13"/>
            <p:cNvSpPr/>
            <p:nvPr/>
          </p:nvSpPr>
          <p:spPr>
            <a:xfrm>
              <a:off x="5193506" y="2346674"/>
              <a:ext cx="9525" cy="276225"/>
            </a:xfrm>
            <a:custGeom>
              <a:rect b="b" l="l" r="r" t="t"/>
              <a:pathLst>
                <a:path extrusionOk="0" h="276225" w="95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A0A0A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16" name="Google Shape;516;p13"/>
            <p:cNvSpPr/>
            <p:nvPr/>
          </p:nvSpPr>
          <p:spPr>
            <a:xfrm>
              <a:off x="5201984" y="2346674"/>
              <a:ext cx="19050" cy="276225"/>
            </a:xfrm>
            <a:custGeom>
              <a:rect b="b" l="l" r="r" t="t"/>
              <a:pathLst>
                <a:path extrusionOk="0" h="276225" w="1905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17" name="Google Shape;517;p13"/>
            <p:cNvSpPr/>
            <p:nvPr/>
          </p:nvSpPr>
          <p:spPr>
            <a:xfrm>
              <a:off x="5196364" y="2679573"/>
              <a:ext cx="19050" cy="276225"/>
            </a:xfrm>
            <a:custGeom>
              <a:rect b="b" l="l" r="r" t="t"/>
              <a:pathLst>
                <a:path extrusionOk="0" h="276225" w="1905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18" name="Google Shape;518;p13"/>
            <p:cNvSpPr/>
            <p:nvPr/>
          </p:nvSpPr>
          <p:spPr>
            <a:xfrm>
              <a:off x="5193506" y="2679668"/>
              <a:ext cx="9525" cy="276225"/>
            </a:xfrm>
            <a:custGeom>
              <a:rect b="b" l="l" r="r" t="t"/>
              <a:pathLst>
                <a:path extrusionOk="0" h="276225" w="95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19" name="Google Shape;519;p13"/>
            <p:cNvSpPr/>
            <p:nvPr/>
          </p:nvSpPr>
          <p:spPr>
            <a:xfrm>
              <a:off x="5201984" y="2679573"/>
              <a:ext cx="19050" cy="276225"/>
            </a:xfrm>
            <a:custGeom>
              <a:rect b="b" l="l" r="r" t="t"/>
              <a:pathLst>
                <a:path extrusionOk="0" h="276225" w="1905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20" name="Google Shape;520;p13"/>
            <p:cNvSpPr/>
            <p:nvPr/>
          </p:nvSpPr>
          <p:spPr>
            <a:xfrm>
              <a:off x="5196364" y="2032159"/>
              <a:ext cx="19050" cy="152400"/>
            </a:xfrm>
            <a:custGeom>
              <a:rect b="b" l="l" r="r" t="t"/>
              <a:pathLst>
                <a:path extrusionOk="0" h="152400" w="1905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3B3B3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21" name="Google Shape;521;p13"/>
            <p:cNvSpPr/>
            <p:nvPr/>
          </p:nvSpPr>
          <p:spPr>
            <a:xfrm>
              <a:off x="5193506" y="2032254"/>
              <a:ext cx="9525" cy="152400"/>
            </a:xfrm>
            <a:custGeom>
              <a:rect b="b" l="l" r="r" t="t"/>
              <a:pathLst>
                <a:path extrusionOk="0" h="152400" w="9525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22" name="Google Shape;522;p13"/>
            <p:cNvSpPr/>
            <p:nvPr/>
          </p:nvSpPr>
          <p:spPr>
            <a:xfrm>
              <a:off x="5201984" y="2032254"/>
              <a:ext cx="19050" cy="152400"/>
            </a:xfrm>
            <a:custGeom>
              <a:rect b="b" l="l" r="r" t="t"/>
              <a:pathLst>
                <a:path extrusionOk="0" h="152400" w="1905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23" name="Google Shape;523;p13"/>
            <p:cNvSpPr/>
            <p:nvPr/>
          </p:nvSpPr>
          <p:spPr>
            <a:xfrm>
              <a:off x="5989398" y="5260657"/>
              <a:ext cx="219075" cy="19050"/>
            </a:xfrm>
            <a:custGeom>
              <a:rect b="b" l="l" r="r" t="t"/>
              <a:pathLst>
                <a:path extrusionOk="0" h="19050" w="219075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24" name="Google Shape;524;p13"/>
            <p:cNvSpPr/>
            <p:nvPr/>
          </p:nvSpPr>
          <p:spPr>
            <a:xfrm>
              <a:off x="5865400" y="1648968"/>
              <a:ext cx="457200" cy="142875"/>
            </a:xfrm>
            <a:custGeom>
              <a:rect b="b" l="l" r="r" t="t"/>
              <a:pathLst>
                <a:path extrusionOk="0" h="142875" w="457200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25" name="Google Shape;525;p13"/>
            <p:cNvSpPr/>
            <p:nvPr/>
          </p:nvSpPr>
          <p:spPr>
            <a:xfrm>
              <a:off x="6202585" y="1685544"/>
              <a:ext cx="66675" cy="66675"/>
            </a:xfrm>
            <a:custGeom>
              <a:rect b="b" l="l" r="r" t="t"/>
              <a:pathLst>
                <a:path extrusionOk="0" h="66675" w="66675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526" name="Google Shape;526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210967" y="1694212"/>
              <a:ext cx="57150" cy="47625"/>
            </a:xfrm>
            <a:custGeom>
              <a:rect b="b" l="l" r="r" t="t"/>
              <a:pathLst>
                <a:path extrusionOk="0" h="47625" w="57150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noFill/>
            <a:ln>
              <a:noFill/>
            </a:ln>
          </p:spPr>
        </p:pic>
        <p:sp>
          <p:nvSpPr>
            <p:cNvPr id="527" name="Google Shape;527;p13"/>
            <p:cNvSpPr/>
            <p:nvPr/>
          </p:nvSpPr>
          <p:spPr>
            <a:xfrm>
              <a:off x="6214777" y="1697736"/>
              <a:ext cx="38100" cy="38100"/>
            </a:xfrm>
            <a:custGeom>
              <a:rect b="b" l="l" r="r" t="t"/>
              <a:pathLst>
                <a:path extrusionOk="0" h="38100" w="3810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28" name="Google Shape;528;p13"/>
            <p:cNvSpPr/>
            <p:nvPr/>
          </p:nvSpPr>
          <p:spPr>
            <a:xfrm>
              <a:off x="6216682" y="1699736"/>
              <a:ext cx="38100" cy="38100"/>
            </a:xfrm>
            <a:custGeom>
              <a:rect b="b" l="l" r="r" t="t"/>
              <a:pathLst>
                <a:path extrusionOk="0" h="38100" w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29" name="Google Shape;529;p13"/>
            <p:cNvSpPr/>
            <p:nvPr/>
          </p:nvSpPr>
          <p:spPr>
            <a:xfrm>
              <a:off x="6216682" y="1699736"/>
              <a:ext cx="38100" cy="38100"/>
            </a:xfrm>
            <a:custGeom>
              <a:rect b="b" l="l" r="r" t="t"/>
              <a:pathLst>
                <a:path extrusionOk="0" h="38100" w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30" name="Google Shape;530;p13"/>
            <p:cNvSpPr/>
            <p:nvPr/>
          </p:nvSpPr>
          <p:spPr>
            <a:xfrm>
              <a:off x="6233636" y="1716215"/>
              <a:ext cx="19050" cy="19050"/>
            </a:xfrm>
            <a:custGeom>
              <a:rect b="b" l="l" r="r" t="t"/>
              <a:pathLst>
                <a:path extrusionOk="0" h="19050" w="1905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531" name="Google Shape;531;p13"/>
          <p:cNvGrpSpPr/>
          <p:nvPr/>
        </p:nvGrpSpPr>
        <p:grpSpPr>
          <a:xfrm>
            <a:off x="3730724" y="1096813"/>
            <a:ext cx="1821822" cy="3745203"/>
            <a:chOff x="5193506" y="1574006"/>
            <a:chExt cx="1802607" cy="3705701"/>
          </a:xfrm>
        </p:grpSpPr>
        <p:sp>
          <p:nvSpPr>
            <p:cNvPr id="532" name="Google Shape;532;p13"/>
            <p:cNvSpPr/>
            <p:nvPr/>
          </p:nvSpPr>
          <p:spPr>
            <a:xfrm>
              <a:off x="5208079" y="1574006"/>
              <a:ext cx="1781175" cy="3705225"/>
            </a:xfrm>
            <a:custGeom>
              <a:rect b="b" l="l" r="r" t="t"/>
              <a:pathLst>
                <a:path extrusionOk="0" h="3705225" w="1781175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33" name="Google Shape;533;p13"/>
            <p:cNvSpPr/>
            <p:nvPr/>
          </p:nvSpPr>
          <p:spPr>
            <a:xfrm>
              <a:off x="5274850" y="1574276"/>
              <a:ext cx="1704975" cy="295275"/>
            </a:xfrm>
            <a:custGeom>
              <a:rect b="b" l="l" r="r" t="t"/>
              <a:pathLst>
                <a:path extrusionOk="0" h="295275" w="1704975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34" name="Google Shape;534;p13"/>
            <p:cNvSpPr/>
            <p:nvPr/>
          </p:nvSpPr>
          <p:spPr>
            <a:xfrm>
              <a:off x="5232368" y="1598295"/>
              <a:ext cx="1733550" cy="3657600"/>
            </a:xfrm>
            <a:custGeom>
              <a:rect b="b" l="l" r="r" t="t"/>
              <a:pathLst>
                <a:path extrusionOk="0" h="3657600" w="173355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35" name="Google Shape;535;p13"/>
            <p:cNvSpPr/>
            <p:nvPr/>
          </p:nvSpPr>
          <p:spPr>
            <a:xfrm>
              <a:off x="5231225" y="1597057"/>
              <a:ext cx="1733550" cy="3657600"/>
            </a:xfrm>
            <a:custGeom>
              <a:rect b="b" l="l" r="r" t="t"/>
              <a:pathLst>
                <a:path extrusionOk="0" h="3657600" w="173355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36" name="Google Shape;536;p13"/>
            <p:cNvSpPr/>
            <p:nvPr/>
          </p:nvSpPr>
          <p:spPr>
            <a:xfrm>
              <a:off x="5274850" y="4979578"/>
              <a:ext cx="1704975" cy="295275"/>
            </a:xfrm>
            <a:custGeom>
              <a:rect b="b" l="l" r="r" t="t"/>
              <a:pathLst>
                <a:path extrusionOk="0" h="295275" w="1704975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37" name="Google Shape;537;p13"/>
            <p:cNvSpPr/>
            <p:nvPr/>
          </p:nvSpPr>
          <p:spPr>
            <a:xfrm>
              <a:off x="6977063" y="2346579"/>
              <a:ext cx="19050" cy="400050"/>
            </a:xfrm>
            <a:custGeom>
              <a:rect b="b" l="l" r="r" t="t"/>
              <a:pathLst>
                <a:path extrusionOk="0" h="400050" w="1905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38" name="Google Shape;538;p13"/>
            <p:cNvSpPr/>
            <p:nvPr/>
          </p:nvSpPr>
          <p:spPr>
            <a:xfrm>
              <a:off x="6982778" y="2346674"/>
              <a:ext cx="9525" cy="400050"/>
            </a:xfrm>
            <a:custGeom>
              <a:rect b="b" l="l" r="r" t="t"/>
              <a:pathLst>
                <a:path extrusionOk="0" h="400050" w="9525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39" name="Google Shape;539;p13"/>
            <p:cNvSpPr/>
            <p:nvPr/>
          </p:nvSpPr>
          <p:spPr>
            <a:xfrm>
              <a:off x="5196363" y="2346579"/>
              <a:ext cx="19050" cy="276225"/>
            </a:xfrm>
            <a:custGeom>
              <a:rect b="b" l="l" r="r" t="t"/>
              <a:pathLst>
                <a:path extrusionOk="0" h="276225" w="1905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40" name="Google Shape;540;p13"/>
            <p:cNvSpPr/>
            <p:nvPr/>
          </p:nvSpPr>
          <p:spPr>
            <a:xfrm>
              <a:off x="5193506" y="2346674"/>
              <a:ext cx="9525" cy="276225"/>
            </a:xfrm>
            <a:custGeom>
              <a:rect b="b" l="l" r="r" t="t"/>
              <a:pathLst>
                <a:path extrusionOk="0" h="276225" w="95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A0A0A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41" name="Google Shape;541;p13"/>
            <p:cNvSpPr/>
            <p:nvPr/>
          </p:nvSpPr>
          <p:spPr>
            <a:xfrm>
              <a:off x="5201984" y="2346674"/>
              <a:ext cx="19050" cy="276225"/>
            </a:xfrm>
            <a:custGeom>
              <a:rect b="b" l="l" r="r" t="t"/>
              <a:pathLst>
                <a:path extrusionOk="0" h="276225" w="1905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42" name="Google Shape;542;p13"/>
            <p:cNvSpPr/>
            <p:nvPr/>
          </p:nvSpPr>
          <p:spPr>
            <a:xfrm>
              <a:off x="5196364" y="2679573"/>
              <a:ext cx="19050" cy="276225"/>
            </a:xfrm>
            <a:custGeom>
              <a:rect b="b" l="l" r="r" t="t"/>
              <a:pathLst>
                <a:path extrusionOk="0" h="276225" w="1905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43" name="Google Shape;543;p13"/>
            <p:cNvSpPr/>
            <p:nvPr/>
          </p:nvSpPr>
          <p:spPr>
            <a:xfrm>
              <a:off x="5193506" y="2679668"/>
              <a:ext cx="9525" cy="276225"/>
            </a:xfrm>
            <a:custGeom>
              <a:rect b="b" l="l" r="r" t="t"/>
              <a:pathLst>
                <a:path extrusionOk="0" h="276225" w="95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44" name="Google Shape;544;p13"/>
            <p:cNvSpPr/>
            <p:nvPr/>
          </p:nvSpPr>
          <p:spPr>
            <a:xfrm>
              <a:off x="5201984" y="2679573"/>
              <a:ext cx="19050" cy="276225"/>
            </a:xfrm>
            <a:custGeom>
              <a:rect b="b" l="l" r="r" t="t"/>
              <a:pathLst>
                <a:path extrusionOk="0" h="276225" w="1905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45" name="Google Shape;545;p13"/>
            <p:cNvSpPr/>
            <p:nvPr/>
          </p:nvSpPr>
          <p:spPr>
            <a:xfrm>
              <a:off x="5196364" y="2032159"/>
              <a:ext cx="19050" cy="152400"/>
            </a:xfrm>
            <a:custGeom>
              <a:rect b="b" l="l" r="r" t="t"/>
              <a:pathLst>
                <a:path extrusionOk="0" h="152400" w="1905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3B3B3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46" name="Google Shape;546;p13"/>
            <p:cNvSpPr/>
            <p:nvPr/>
          </p:nvSpPr>
          <p:spPr>
            <a:xfrm>
              <a:off x="5193506" y="2032254"/>
              <a:ext cx="9525" cy="152400"/>
            </a:xfrm>
            <a:custGeom>
              <a:rect b="b" l="l" r="r" t="t"/>
              <a:pathLst>
                <a:path extrusionOk="0" h="152400" w="9525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47" name="Google Shape;547;p13"/>
            <p:cNvSpPr/>
            <p:nvPr/>
          </p:nvSpPr>
          <p:spPr>
            <a:xfrm>
              <a:off x="5201984" y="2032254"/>
              <a:ext cx="19050" cy="152400"/>
            </a:xfrm>
            <a:custGeom>
              <a:rect b="b" l="l" r="r" t="t"/>
              <a:pathLst>
                <a:path extrusionOk="0" h="152400" w="1905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48" name="Google Shape;548;p13"/>
            <p:cNvSpPr/>
            <p:nvPr/>
          </p:nvSpPr>
          <p:spPr>
            <a:xfrm>
              <a:off x="5989398" y="5260657"/>
              <a:ext cx="219075" cy="19050"/>
            </a:xfrm>
            <a:custGeom>
              <a:rect b="b" l="l" r="r" t="t"/>
              <a:pathLst>
                <a:path extrusionOk="0" h="19050" w="219075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49" name="Google Shape;549;p13"/>
            <p:cNvSpPr/>
            <p:nvPr/>
          </p:nvSpPr>
          <p:spPr>
            <a:xfrm>
              <a:off x="5865400" y="1648968"/>
              <a:ext cx="457200" cy="142875"/>
            </a:xfrm>
            <a:custGeom>
              <a:rect b="b" l="l" r="r" t="t"/>
              <a:pathLst>
                <a:path extrusionOk="0" h="142875" w="457200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50" name="Google Shape;550;p13"/>
            <p:cNvSpPr/>
            <p:nvPr/>
          </p:nvSpPr>
          <p:spPr>
            <a:xfrm>
              <a:off x="6202585" y="1685544"/>
              <a:ext cx="66675" cy="66675"/>
            </a:xfrm>
            <a:custGeom>
              <a:rect b="b" l="l" r="r" t="t"/>
              <a:pathLst>
                <a:path extrusionOk="0" h="66675" w="66675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551" name="Google Shape;551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210967" y="1694212"/>
              <a:ext cx="57150" cy="47625"/>
            </a:xfrm>
            <a:custGeom>
              <a:rect b="b" l="l" r="r" t="t"/>
              <a:pathLst>
                <a:path extrusionOk="0" h="47625" w="57150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noFill/>
            <a:ln>
              <a:noFill/>
            </a:ln>
          </p:spPr>
        </p:pic>
        <p:sp>
          <p:nvSpPr>
            <p:cNvPr id="552" name="Google Shape;552;p13"/>
            <p:cNvSpPr/>
            <p:nvPr/>
          </p:nvSpPr>
          <p:spPr>
            <a:xfrm>
              <a:off x="6214777" y="1697736"/>
              <a:ext cx="38100" cy="38100"/>
            </a:xfrm>
            <a:custGeom>
              <a:rect b="b" l="l" r="r" t="t"/>
              <a:pathLst>
                <a:path extrusionOk="0" h="38100" w="3810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53" name="Google Shape;553;p13"/>
            <p:cNvSpPr/>
            <p:nvPr/>
          </p:nvSpPr>
          <p:spPr>
            <a:xfrm>
              <a:off x="6216682" y="1699736"/>
              <a:ext cx="38100" cy="38100"/>
            </a:xfrm>
            <a:custGeom>
              <a:rect b="b" l="l" r="r" t="t"/>
              <a:pathLst>
                <a:path extrusionOk="0" h="38100" w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54" name="Google Shape;554;p13"/>
            <p:cNvSpPr/>
            <p:nvPr/>
          </p:nvSpPr>
          <p:spPr>
            <a:xfrm>
              <a:off x="6216682" y="1699736"/>
              <a:ext cx="38100" cy="38100"/>
            </a:xfrm>
            <a:custGeom>
              <a:rect b="b" l="l" r="r" t="t"/>
              <a:pathLst>
                <a:path extrusionOk="0" h="38100" w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55" name="Google Shape;555;p13"/>
            <p:cNvSpPr/>
            <p:nvPr/>
          </p:nvSpPr>
          <p:spPr>
            <a:xfrm>
              <a:off x="6233636" y="1716215"/>
              <a:ext cx="19050" cy="19050"/>
            </a:xfrm>
            <a:custGeom>
              <a:rect b="b" l="l" r="r" t="t"/>
              <a:pathLst>
                <a:path extrusionOk="0" h="19050" w="1905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556" name="Google Shape;556;p13"/>
          <p:cNvGrpSpPr/>
          <p:nvPr/>
        </p:nvGrpSpPr>
        <p:grpSpPr>
          <a:xfrm>
            <a:off x="6699146" y="1096813"/>
            <a:ext cx="1821822" cy="3745203"/>
            <a:chOff x="5193506" y="1574006"/>
            <a:chExt cx="1802607" cy="3705701"/>
          </a:xfrm>
        </p:grpSpPr>
        <p:sp>
          <p:nvSpPr>
            <p:cNvPr id="557" name="Google Shape;557;p13"/>
            <p:cNvSpPr/>
            <p:nvPr/>
          </p:nvSpPr>
          <p:spPr>
            <a:xfrm>
              <a:off x="5208079" y="1574006"/>
              <a:ext cx="1781175" cy="3705225"/>
            </a:xfrm>
            <a:custGeom>
              <a:rect b="b" l="l" r="r" t="t"/>
              <a:pathLst>
                <a:path extrusionOk="0" h="3705225" w="1781175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58" name="Google Shape;558;p13"/>
            <p:cNvSpPr/>
            <p:nvPr/>
          </p:nvSpPr>
          <p:spPr>
            <a:xfrm>
              <a:off x="5274850" y="1574276"/>
              <a:ext cx="1704975" cy="295275"/>
            </a:xfrm>
            <a:custGeom>
              <a:rect b="b" l="l" r="r" t="t"/>
              <a:pathLst>
                <a:path extrusionOk="0" h="295275" w="1704975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59" name="Google Shape;559;p13"/>
            <p:cNvSpPr/>
            <p:nvPr/>
          </p:nvSpPr>
          <p:spPr>
            <a:xfrm>
              <a:off x="5232368" y="1598295"/>
              <a:ext cx="1733550" cy="3657600"/>
            </a:xfrm>
            <a:custGeom>
              <a:rect b="b" l="l" r="r" t="t"/>
              <a:pathLst>
                <a:path extrusionOk="0" h="3657600" w="173355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60" name="Google Shape;560;p13"/>
            <p:cNvSpPr/>
            <p:nvPr/>
          </p:nvSpPr>
          <p:spPr>
            <a:xfrm>
              <a:off x="5231225" y="1597057"/>
              <a:ext cx="1733550" cy="3657600"/>
            </a:xfrm>
            <a:custGeom>
              <a:rect b="b" l="l" r="r" t="t"/>
              <a:pathLst>
                <a:path extrusionOk="0" h="3657600" w="173355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61" name="Google Shape;561;p13"/>
            <p:cNvSpPr/>
            <p:nvPr/>
          </p:nvSpPr>
          <p:spPr>
            <a:xfrm>
              <a:off x="5274850" y="4979578"/>
              <a:ext cx="1704975" cy="295275"/>
            </a:xfrm>
            <a:custGeom>
              <a:rect b="b" l="l" r="r" t="t"/>
              <a:pathLst>
                <a:path extrusionOk="0" h="295275" w="1704975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62" name="Google Shape;562;p13"/>
            <p:cNvSpPr/>
            <p:nvPr/>
          </p:nvSpPr>
          <p:spPr>
            <a:xfrm>
              <a:off x="6977063" y="2346579"/>
              <a:ext cx="19050" cy="400050"/>
            </a:xfrm>
            <a:custGeom>
              <a:rect b="b" l="l" r="r" t="t"/>
              <a:pathLst>
                <a:path extrusionOk="0" h="400050" w="1905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63" name="Google Shape;563;p13"/>
            <p:cNvSpPr/>
            <p:nvPr/>
          </p:nvSpPr>
          <p:spPr>
            <a:xfrm>
              <a:off x="6982778" y="2346674"/>
              <a:ext cx="9525" cy="400050"/>
            </a:xfrm>
            <a:custGeom>
              <a:rect b="b" l="l" r="r" t="t"/>
              <a:pathLst>
                <a:path extrusionOk="0" h="400050" w="9525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64" name="Google Shape;564;p13"/>
            <p:cNvSpPr/>
            <p:nvPr/>
          </p:nvSpPr>
          <p:spPr>
            <a:xfrm>
              <a:off x="5196363" y="2346579"/>
              <a:ext cx="19050" cy="276225"/>
            </a:xfrm>
            <a:custGeom>
              <a:rect b="b" l="l" r="r" t="t"/>
              <a:pathLst>
                <a:path extrusionOk="0" h="276225" w="1905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65" name="Google Shape;565;p13"/>
            <p:cNvSpPr/>
            <p:nvPr/>
          </p:nvSpPr>
          <p:spPr>
            <a:xfrm>
              <a:off x="5193506" y="2346674"/>
              <a:ext cx="9525" cy="276225"/>
            </a:xfrm>
            <a:custGeom>
              <a:rect b="b" l="l" r="r" t="t"/>
              <a:pathLst>
                <a:path extrusionOk="0" h="276225" w="95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A0A0A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66" name="Google Shape;566;p13"/>
            <p:cNvSpPr/>
            <p:nvPr/>
          </p:nvSpPr>
          <p:spPr>
            <a:xfrm>
              <a:off x="5201984" y="2346674"/>
              <a:ext cx="19050" cy="276225"/>
            </a:xfrm>
            <a:custGeom>
              <a:rect b="b" l="l" r="r" t="t"/>
              <a:pathLst>
                <a:path extrusionOk="0" h="276225" w="1905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67" name="Google Shape;567;p13"/>
            <p:cNvSpPr/>
            <p:nvPr/>
          </p:nvSpPr>
          <p:spPr>
            <a:xfrm>
              <a:off x="5196364" y="2679573"/>
              <a:ext cx="19050" cy="276225"/>
            </a:xfrm>
            <a:custGeom>
              <a:rect b="b" l="l" r="r" t="t"/>
              <a:pathLst>
                <a:path extrusionOk="0" h="276225" w="1905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68" name="Google Shape;568;p13"/>
            <p:cNvSpPr/>
            <p:nvPr/>
          </p:nvSpPr>
          <p:spPr>
            <a:xfrm>
              <a:off x="5193506" y="2679668"/>
              <a:ext cx="9525" cy="276225"/>
            </a:xfrm>
            <a:custGeom>
              <a:rect b="b" l="l" r="r" t="t"/>
              <a:pathLst>
                <a:path extrusionOk="0" h="276225" w="95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69" name="Google Shape;569;p13"/>
            <p:cNvSpPr/>
            <p:nvPr/>
          </p:nvSpPr>
          <p:spPr>
            <a:xfrm>
              <a:off x="5201984" y="2679573"/>
              <a:ext cx="19050" cy="276225"/>
            </a:xfrm>
            <a:custGeom>
              <a:rect b="b" l="l" r="r" t="t"/>
              <a:pathLst>
                <a:path extrusionOk="0" h="276225" w="1905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70" name="Google Shape;570;p13"/>
            <p:cNvSpPr/>
            <p:nvPr/>
          </p:nvSpPr>
          <p:spPr>
            <a:xfrm>
              <a:off x="5196364" y="2032159"/>
              <a:ext cx="19050" cy="152400"/>
            </a:xfrm>
            <a:custGeom>
              <a:rect b="b" l="l" r="r" t="t"/>
              <a:pathLst>
                <a:path extrusionOk="0" h="152400" w="1905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3B3B3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71" name="Google Shape;571;p13"/>
            <p:cNvSpPr/>
            <p:nvPr/>
          </p:nvSpPr>
          <p:spPr>
            <a:xfrm>
              <a:off x="5193506" y="2032254"/>
              <a:ext cx="9525" cy="152400"/>
            </a:xfrm>
            <a:custGeom>
              <a:rect b="b" l="l" r="r" t="t"/>
              <a:pathLst>
                <a:path extrusionOk="0" h="152400" w="9525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72" name="Google Shape;572;p13"/>
            <p:cNvSpPr/>
            <p:nvPr/>
          </p:nvSpPr>
          <p:spPr>
            <a:xfrm>
              <a:off x="5201984" y="2032254"/>
              <a:ext cx="19050" cy="152400"/>
            </a:xfrm>
            <a:custGeom>
              <a:rect b="b" l="l" r="r" t="t"/>
              <a:pathLst>
                <a:path extrusionOk="0" h="152400" w="1905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73" name="Google Shape;573;p13"/>
            <p:cNvSpPr/>
            <p:nvPr/>
          </p:nvSpPr>
          <p:spPr>
            <a:xfrm>
              <a:off x="5989398" y="5260657"/>
              <a:ext cx="219075" cy="19050"/>
            </a:xfrm>
            <a:custGeom>
              <a:rect b="b" l="l" r="r" t="t"/>
              <a:pathLst>
                <a:path extrusionOk="0" h="19050" w="219075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74" name="Google Shape;574;p13"/>
            <p:cNvSpPr/>
            <p:nvPr/>
          </p:nvSpPr>
          <p:spPr>
            <a:xfrm>
              <a:off x="5865400" y="1648968"/>
              <a:ext cx="457200" cy="142875"/>
            </a:xfrm>
            <a:custGeom>
              <a:rect b="b" l="l" r="r" t="t"/>
              <a:pathLst>
                <a:path extrusionOk="0" h="142875" w="457200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75" name="Google Shape;575;p13"/>
            <p:cNvSpPr/>
            <p:nvPr/>
          </p:nvSpPr>
          <p:spPr>
            <a:xfrm>
              <a:off x="6202585" y="1685544"/>
              <a:ext cx="66675" cy="66675"/>
            </a:xfrm>
            <a:custGeom>
              <a:rect b="b" l="l" r="r" t="t"/>
              <a:pathLst>
                <a:path extrusionOk="0" h="66675" w="66675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576" name="Google Shape;576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210967" y="1694212"/>
              <a:ext cx="57150" cy="47625"/>
            </a:xfrm>
            <a:custGeom>
              <a:rect b="b" l="l" r="r" t="t"/>
              <a:pathLst>
                <a:path extrusionOk="0" h="47625" w="57150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noFill/>
            <a:ln>
              <a:noFill/>
            </a:ln>
          </p:spPr>
        </p:pic>
        <p:sp>
          <p:nvSpPr>
            <p:cNvPr id="577" name="Google Shape;577;p13"/>
            <p:cNvSpPr/>
            <p:nvPr/>
          </p:nvSpPr>
          <p:spPr>
            <a:xfrm>
              <a:off x="6214777" y="1697736"/>
              <a:ext cx="38100" cy="38100"/>
            </a:xfrm>
            <a:custGeom>
              <a:rect b="b" l="l" r="r" t="t"/>
              <a:pathLst>
                <a:path extrusionOk="0" h="38100" w="3810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78" name="Google Shape;578;p13"/>
            <p:cNvSpPr/>
            <p:nvPr/>
          </p:nvSpPr>
          <p:spPr>
            <a:xfrm>
              <a:off x="6216682" y="1699736"/>
              <a:ext cx="38100" cy="38100"/>
            </a:xfrm>
            <a:custGeom>
              <a:rect b="b" l="l" r="r" t="t"/>
              <a:pathLst>
                <a:path extrusionOk="0" h="38100" w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79" name="Google Shape;579;p13"/>
            <p:cNvSpPr/>
            <p:nvPr/>
          </p:nvSpPr>
          <p:spPr>
            <a:xfrm>
              <a:off x="6216682" y="1699736"/>
              <a:ext cx="38100" cy="38100"/>
            </a:xfrm>
            <a:custGeom>
              <a:rect b="b" l="l" r="r" t="t"/>
              <a:pathLst>
                <a:path extrusionOk="0" h="38100" w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80" name="Google Shape;580;p13"/>
            <p:cNvSpPr/>
            <p:nvPr/>
          </p:nvSpPr>
          <p:spPr>
            <a:xfrm>
              <a:off x="6233636" y="1716215"/>
              <a:ext cx="19050" cy="19050"/>
            </a:xfrm>
            <a:custGeom>
              <a:rect b="b" l="l" r="r" t="t"/>
              <a:pathLst>
                <a:path extrusionOk="0" h="19050" w="1905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581" name="Google Shape;581;p13"/>
          <p:cNvGrpSpPr/>
          <p:nvPr/>
        </p:nvGrpSpPr>
        <p:grpSpPr>
          <a:xfrm>
            <a:off x="9575248" y="1076308"/>
            <a:ext cx="1821822" cy="3745203"/>
            <a:chOff x="5193506" y="1574006"/>
            <a:chExt cx="1802607" cy="3705701"/>
          </a:xfrm>
        </p:grpSpPr>
        <p:sp>
          <p:nvSpPr>
            <p:cNvPr id="582" name="Google Shape;582;p13"/>
            <p:cNvSpPr/>
            <p:nvPr/>
          </p:nvSpPr>
          <p:spPr>
            <a:xfrm>
              <a:off x="5208079" y="1574006"/>
              <a:ext cx="1781175" cy="3705225"/>
            </a:xfrm>
            <a:custGeom>
              <a:rect b="b" l="l" r="r" t="t"/>
              <a:pathLst>
                <a:path extrusionOk="0" h="3705225" w="1781175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83" name="Google Shape;583;p13"/>
            <p:cNvSpPr/>
            <p:nvPr/>
          </p:nvSpPr>
          <p:spPr>
            <a:xfrm>
              <a:off x="5274850" y="1574276"/>
              <a:ext cx="1704975" cy="295275"/>
            </a:xfrm>
            <a:custGeom>
              <a:rect b="b" l="l" r="r" t="t"/>
              <a:pathLst>
                <a:path extrusionOk="0" h="295275" w="1704975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84" name="Google Shape;584;p13"/>
            <p:cNvSpPr/>
            <p:nvPr/>
          </p:nvSpPr>
          <p:spPr>
            <a:xfrm>
              <a:off x="5232368" y="1598295"/>
              <a:ext cx="1733550" cy="3657600"/>
            </a:xfrm>
            <a:custGeom>
              <a:rect b="b" l="l" r="r" t="t"/>
              <a:pathLst>
                <a:path extrusionOk="0" h="3657600" w="173355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85" name="Google Shape;585;p13"/>
            <p:cNvSpPr/>
            <p:nvPr/>
          </p:nvSpPr>
          <p:spPr>
            <a:xfrm>
              <a:off x="5231225" y="1597057"/>
              <a:ext cx="1733550" cy="3657600"/>
            </a:xfrm>
            <a:custGeom>
              <a:rect b="b" l="l" r="r" t="t"/>
              <a:pathLst>
                <a:path extrusionOk="0" h="3657600" w="173355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86" name="Google Shape;586;p13"/>
            <p:cNvSpPr/>
            <p:nvPr/>
          </p:nvSpPr>
          <p:spPr>
            <a:xfrm>
              <a:off x="5274850" y="4979578"/>
              <a:ext cx="1704975" cy="295275"/>
            </a:xfrm>
            <a:custGeom>
              <a:rect b="b" l="l" r="r" t="t"/>
              <a:pathLst>
                <a:path extrusionOk="0" h="295275" w="1704975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87" name="Google Shape;587;p13"/>
            <p:cNvSpPr/>
            <p:nvPr/>
          </p:nvSpPr>
          <p:spPr>
            <a:xfrm>
              <a:off x="6977063" y="2346579"/>
              <a:ext cx="19050" cy="400050"/>
            </a:xfrm>
            <a:custGeom>
              <a:rect b="b" l="l" r="r" t="t"/>
              <a:pathLst>
                <a:path extrusionOk="0" h="400050" w="1905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88" name="Google Shape;588;p13"/>
            <p:cNvSpPr/>
            <p:nvPr/>
          </p:nvSpPr>
          <p:spPr>
            <a:xfrm>
              <a:off x="6982778" y="2346674"/>
              <a:ext cx="9525" cy="400050"/>
            </a:xfrm>
            <a:custGeom>
              <a:rect b="b" l="l" r="r" t="t"/>
              <a:pathLst>
                <a:path extrusionOk="0" h="400050" w="9525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89" name="Google Shape;589;p13"/>
            <p:cNvSpPr/>
            <p:nvPr/>
          </p:nvSpPr>
          <p:spPr>
            <a:xfrm>
              <a:off x="5196363" y="2346579"/>
              <a:ext cx="19050" cy="276225"/>
            </a:xfrm>
            <a:custGeom>
              <a:rect b="b" l="l" r="r" t="t"/>
              <a:pathLst>
                <a:path extrusionOk="0" h="276225" w="1905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90" name="Google Shape;590;p13"/>
            <p:cNvSpPr/>
            <p:nvPr/>
          </p:nvSpPr>
          <p:spPr>
            <a:xfrm>
              <a:off x="5193506" y="2346674"/>
              <a:ext cx="9525" cy="276225"/>
            </a:xfrm>
            <a:custGeom>
              <a:rect b="b" l="l" r="r" t="t"/>
              <a:pathLst>
                <a:path extrusionOk="0" h="276225" w="95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A0A0A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91" name="Google Shape;591;p13"/>
            <p:cNvSpPr/>
            <p:nvPr/>
          </p:nvSpPr>
          <p:spPr>
            <a:xfrm>
              <a:off x="5201984" y="2346674"/>
              <a:ext cx="19050" cy="276225"/>
            </a:xfrm>
            <a:custGeom>
              <a:rect b="b" l="l" r="r" t="t"/>
              <a:pathLst>
                <a:path extrusionOk="0" h="276225" w="1905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92" name="Google Shape;592;p13"/>
            <p:cNvSpPr/>
            <p:nvPr/>
          </p:nvSpPr>
          <p:spPr>
            <a:xfrm>
              <a:off x="5196364" y="2679573"/>
              <a:ext cx="19050" cy="276225"/>
            </a:xfrm>
            <a:custGeom>
              <a:rect b="b" l="l" r="r" t="t"/>
              <a:pathLst>
                <a:path extrusionOk="0" h="276225" w="1905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93" name="Google Shape;593;p13"/>
            <p:cNvSpPr/>
            <p:nvPr/>
          </p:nvSpPr>
          <p:spPr>
            <a:xfrm>
              <a:off x="5193506" y="2679668"/>
              <a:ext cx="9525" cy="276225"/>
            </a:xfrm>
            <a:custGeom>
              <a:rect b="b" l="l" r="r" t="t"/>
              <a:pathLst>
                <a:path extrusionOk="0" h="276225" w="95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94" name="Google Shape;594;p13"/>
            <p:cNvSpPr/>
            <p:nvPr/>
          </p:nvSpPr>
          <p:spPr>
            <a:xfrm>
              <a:off x="5201984" y="2679573"/>
              <a:ext cx="19050" cy="276225"/>
            </a:xfrm>
            <a:custGeom>
              <a:rect b="b" l="l" r="r" t="t"/>
              <a:pathLst>
                <a:path extrusionOk="0" h="276225" w="1905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95" name="Google Shape;595;p13"/>
            <p:cNvSpPr/>
            <p:nvPr/>
          </p:nvSpPr>
          <p:spPr>
            <a:xfrm>
              <a:off x="5196364" y="2032159"/>
              <a:ext cx="19050" cy="152400"/>
            </a:xfrm>
            <a:custGeom>
              <a:rect b="b" l="l" r="r" t="t"/>
              <a:pathLst>
                <a:path extrusionOk="0" h="152400" w="1905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3B3B3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96" name="Google Shape;596;p13"/>
            <p:cNvSpPr/>
            <p:nvPr/>
          </p:nvSpPr>
          <p:spPr>
            <a:xfrm>
              <a:off x="5193506" y="2032254"/>
              <a:ext cx="9525" cy="152400"/>
            </a:xfrm>
            <a:custGeom>
              <a:rect b="b" l="l" r="r" t="t"/>
              <a:pathLst>
                <a:path extrusionOk="0" h="152400" w="9525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97" name="Google Shape;597;p13"/>
            <p:cNvSpPr/>
            <p:nvPr/>
          </p:nvSpPr>
          <p:spPr>
            <a:xfrm>
              <a:off x="5201984" y="2032254"/>
              <a:ext cx="19050" cy="152400"/>
            </a:xfrm>
            <a:custGeom>
              <a:rect b="b" l="l" r="r" t="t"/>
              <a:pathLst>
                <a:path extrusionOk="0" h="152400" w="1905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98" name="Google Shape;598;p13"/>
            <p:cNvSpPr/>
            <p:nvPr/>
          </p:nvSpPr>
          <p:spPr>
            <a:xfrm>
              <a:off x="5989398" y="5260657"/>
              <a:ext cx="219075" cy="19050"/>
            </a:xfrm>
            <a:custGeom>
              <a:rect b="b" l="l" r="r" t="t"/>
              <a:pathLst>
                <a:path extrusionOk="0" h="19050" w="219075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99" name="Google Shape;599;p13"/>
            <p:cNvSpPr/>
            <p:nvPr/>
          </p:nvSpPr>
          <p:spPr>
            <a:xfrm>
              <a:off x="5865400" y="1648968"/>
              <a:ext cx="457200" cy="142875"/>
            </a:xfrm>
            <a:custGeom>
              <a:rect b="b" l="l" r="r" t="t"/>
              <a:pathLst>
                <a:path extrusionOk="0" h="142875" w="457200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00" name="Google Shape;600;p13"/>
            <p:cNvSpPr/>
            <p:nvPr/>
          </p:nvSpPr>
          <p:spPr>
            <a:xfrm>
              <a:off x="6202585" y="1685544"/>
              <a:ext cx="66675" cy="66675"/>
            </a:xfrm>
            <a:custGeom>
              <a:rect b="b" l="l" r="r" t="t"/>
              <a:pathLst>
                <a:path extrusionOk="0" h="66675" w="66675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601" name="Google Shape;601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210967" y="1694212"/>
              <a:ext cx="57150" cy="47625"/>
            </a:xfrm>
            <a:custGeom>
              <a:rect b="b" l="l" r="r" t="t"/>
              <a:pathLst>
                <a:path extrusionOk="0" h="47625" w="57150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noFill/>
            <a:ln>
              <a:noFill/>
            </a:ln>
          </p:spPr>
        </p:pic>
        <p:sp>
          <p:nvSpPr>
            <p:cNvPr id="602" name="Google Shape;602;p13"/>
            <p:cNvSpPr/>
            <p:nvPr/>
          </p:nvSpPr>
          <p:spPr>
            <a:xfrm>
              <a:off x="6214777" y="1697736"/>
              <a:ext cx="38100" cy="38100"/>
            </a:xfrm>
            <a:custGeom>
              <a:rect b="b" l="l" r="r" t="t"/>
              <a:pathLst>
                <a:path extrusionOk="0" h="38100" w="3810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03" name="Google Shape;603;p13"/>
            <p:cNvSpPr/>
            <p:nvPr/>
          </p:nvSpPr>
          <p:spPr>
            <a:xfrm>
              <a:off x="6216682" y="1699736"/>
              <a:ext cx="38100" cy="38100"/>
            </a:xfrm>
            <a:custGeom>
              <a:rect b="b" l="l" r="r" t="t"/>
              <a:pathLst>
                <a:path extrusionOk="0" h="38100" w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04" name="Google Shape;604;p13"/>
            <p:cNvSpPr/>
            <p:nvPr/>
          </p:nvSpPr>
          <p:spPr>
            <a:xfrm>
              <a:off x="6216682" y="1699736"/>
              <a:ext cx="38100" cy="38100"/>
            </a:xfrm>
            <a:custGeom>
              <a:rect b="b" l="l" r="r" t="t"/>
              <a:pathLst>
                <a:path extrusionOk="0" h="38100" w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05" name="Google Shape;605;p13"/>
            <p:cNvSpPr/>
            <p:nvPr/>
          </p:nvSpPr>
          <p:spPr>
            <a:xfrm>
              <a:off x="6233636" y="1716215"/>
              <a:ext cx="19050" cy="19050"/>
            </a:xfrm>
            <a:custGeom>
              <a:rect b="b" l="l" r="r" t="t"/>
              <a:pathLst>
                <a:path extrusionOk="0" h="19050" w="1905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606" name="Google Shape;606;p13"/>
          <p:cNvSpPr txBox="1"/>
          <p:nvPr>
            <p:ph type="title"/>
          </p:nvPr>
        </p:nvSpPr>
        <p:spPr>
          <a:xfrm>
            <a:off x="525817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96"/>
              <a:buFont typeface="Montserrat"/>
              <a:buNone/>
            </a:pPr>
            <a:r>
              <a:rPr b="1" lang="ru-RU" sz="1997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Демо: четыре экрана-победителя</a:t>
            </a:r>
            <a:endParaRPr/>
          </a:p>
        </p:txBody>
      </p:sp>
      <p:sp>
        <p:nvSpPr>
          <p:cNvPr id="607" name="Google Shape;607;p13"/>
          <p:cNvSpPr txBox="1"/>
          <p:nvPr/>
        </p:nvSpPr>
        <p:spPr>
          <a:xfrm>
            <a:off x="1117191" y="1346813"/>
            <a:ext cx="1581822" cy="3245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Карточки кандидатов + раскрытая панель «Почему в подборке»: разложение score по факторам с цифрами; виджет «вилка vs рынок».</a:t>
            </a:r>
            <a:endParaRPr/>
          </a:p>
        </p:txBody>
      </p:sp>
      <p:sp>
        <p:nvSpPr>
          <p:cNvPr id="608" name="Google Shape;608;p13"/>
          <p:cNvSpPr txBox="1"/>
          <p:nvPr/>
        </p:nvSpPr>
        <p:spPr>
          <a:xfrm>
            <a:off x="3850724" y="1346813"/>
            <a:ext cx="1581822" cy="3245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Прогресс «вопрос i из N», таймер, задание с подсветкой кода — ощущение живого адаптивного экзамена.</a:t>
            </a:r>
            <a:endParaRPr/>
          </a:p>
        </p:txBody>
      </p:sp>
      <p:sp>
        <p:nvSpPr>
          <p:cNvPr id="609" name="Google Shape;609;p13"/>
          <p:cNvSpPr txBox="1"/>
          <p:nvPr/>
        </p:nvSpPr>
        <p:spPr>
          <a:xfrm>
            <a:off x="6819146" y="1346813"/>
            <a:ext cx="1581822" cy="3245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Компания, текст и вилка ЗП крупно до ответа, кнопки «принять / отклонить» — отличие от hh одним экраном.</a:t>
            </a:r>
            <a:endParaRPr/>
          </a:p>
        </p:txBody>
      </p:sp>
      <p:sp>
        <p:nvSpPr>
          <p:cNvPr id="610" name="Google Shape;610;p13"/>
          <p:cNvSpPr txBox="1"/>
          <p:nvPr/>
        </p:nvSpPr>
        <p:spPr>
          <a:xfrm>
            <a:off x="9695248" y="1326308"/>
            <a:ext cx="1581822" cy="3245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spec × грейд, «подтверждено тестом от …», место в ранжировании категории, достижения ФСП.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14"/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fmla="val 18706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7" name="Google Shape;617;p14"/>
          <p:cNvSpPr/>
          <p:nvPr/>
        </p:nvSpPr>
        <p:spPr>
          <a:xfrm>
            <a:off x="5951744" y="1366423"/>
            <a:ext cx="5905293" cy="791668"/>
          </a:xfrm>
          <a:prstGeom prst="roundRect">
            <a:avLst>
              <a:gd fmla="val 16339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8" name="Google Shape;618;p14"/>
          <p:cNvSpPr/>
          <p:nvPr/>
        </p:nvSpPr>
        <p:spPr>
          <a:xfrm>
            <a:off x="5951744" y="2377094"/>
            <a:ext cx="5905293" cy="791668"/>
          </a:xfrm>
          <a:prstGeom prst="roundRect">
            <a:avLst>
              <a:gd fmla="val 16339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9" name="Google Shape;619;p14"/>
          <p:cNvSpPr/>
          <p:nvPr/>
        </p:nvSpPr>
        <p:spPr>
          <a:xfrm>
            <a:off x="5951744" y="3387765"/>
            <a:ext cx="5905293" cy="791668"/>
          </a:xfrm>
          <a:prstGeom prst="roundRect">
            <a:avLst>
              <a:gd fmla="val 16339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0" name="Google Shape;620;p14"/>
          <p:cNvSpPr/>
          <p:nvPr/>
        </p:nvSpPr>
        <p:spPr>
          <a:xfrm>
            <a:off x="5951744" y="4398436"/>
            <a:ext cx="5905293" cy="791668"/>
          </a:xfrm>
          <a:prstGeom prst="roundRect">
            <a:avLst>
              <a:gd fmla="val 16339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1" name="Google Shape;621;p14"/>
          <p:cNvSpPr/>
          <p:nvPr/>
        </p:nvSpPr>
        <p:spPr>
          <a:xfrm>
            <a:off x="5951744" y="5409107"/>
            <a:ext cx="5905293" cy="791668"/>
          </a:xfrm>
          <a:prstGeom prst="roundRect">
            <a:avLst>
              <a:gd fmla="val 16339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2" name="Google Shape;622;p14"/>
          <p:cNvSpPr/>
          <p:nvPr/>
        </p:nvSpPr>
        <p:spPr>
          <a:xfrm>
            <a:off x="346076" y="1366423"/>
            <a:ext cx="5389562" cy="4834352"/>
          </a:xfrm>
          <a:prstGeom prst="roundRect">
            <a:avLst>
              <a:gd fmla="val 2919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3" name="Google Shape;623;p14"/>
          <p:cNvSpPr txBox="1"/>
          <p:nvPr>
            <p:ph idx="1" type="body"/>
          </p:nvPr>
        </p:nvSpPr>
        <p:spPr>
          <a:xfrm>
            <a:off x="623887" y="1732103"/>
            <a:ext cx="4734175" cy="41393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ru-RU">
                <a:solidFill>
                  <a:schemeClr val="dk1"/>
                </a:solidFill>
              </a:rPr>
              <a:t>Соответствие 152-ФЗ: весь контур в РФ — хостинг (Selectel) и LLM (Cloud.ru, ДЦ РФ); ПДн не покидают контур, перед LLM текст обезличен, согласия — в онбординге.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52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ru-RU">
                <a:solidFill>
                  <a:schemeClr val="dk1"/>
                </a:solidFill>
              </a:rPr>
              <a:t>Пилот с ФСП: платформа готова к подключению боевого реестра — меняется только конфиг адаптера, код не трогаем.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52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ru-RU">
                <a:solidFill>
                  <a:schemeClr val="dk1"/>
                </a:solidFill>
              </a:rPr>
              <a:t>Стенд жюри: docker compose up -d --build, ресед одной командой, экспресс-тест своими руками; кабинеты адаптивны — работают с телефона (360px).</a:t>
            </a:r>
            <a:endParaRPr/>
          </a:p>
        </p:txBody>
      </p:sp>
      <p:sp>
        <p:nvSpPr>
          <p:cNvPr id="624" name="Google Shape;624;p14"/>
          <p:cNvSpPr txBox="1"/>
          <p:nvPr>
            <p:ph idx="2" type="body"/>
          </p:nvPr>
        </p:nvSpPr>
        <p:spPr>
          <a:xfrm>
            <a:off x="6172730" y="1445505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ru-RU">
                <a:solidFill>
                  <a:schemeClr val="dk1"/>
                </a:solidFill>
              </a:rPr>
              <a:t>Боевой FSP ID / Keycloak — замена мока одним конфигом</a:t>
            </a:r>
            <a:endParaRPr/>
          </a:p>
        </p:txBody>
      </p:sp>
      <p:sp>
        <p:nvSpPr>
          <p:cNvPr id="625" name="Google Shape;625;p14"/>
          <p:cNvSpPr txBox="1"/>
          <p:nvPr>
            <p:ph idx="3" type="body"/>
          </p:nvPr>
        </p:nvSpPr>
        <p:spPr>
          <a:xfrm>
            <a:off x="6172730" y="2472872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ru-RU">
                <a:solidFill>
                  <a:schemeClr val="dk1"/>
                </a:solidFill>
              </a:rPr>
              <a:t>ATS-интеграция и антифрод: открытый API, модерация компаний и лимиты против фиктивных вакансий</a:t>
            </a:r>
            <a:endParaRPr/>
          </a:p>
        </p:txBody>
      </p:sp>
      <p:sp>
        <p:nvSpPr>
          <p:cNvPr id="626" name="Google Shape;626;p14"/>
          <p:cNvSpPr txBox="1"/>
          <p:nvPr>
            <p:ph idx="4" type="body"/>
          </p:nvPr>
        </p:nvSpPr>
        <p:spPr>
          <a:xfrm>
            <a:off x="6172730" y="3485922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ru-RU">
                <a:solidFill>
                  <a:schemeClr val="dk1"/>
                </a:solidFill>
              </a:rPr>
              <a:t>MCP-сервер: подбор и приглашения из ИИ-агентов</a:t>
            </a:r>
            <a:endParaRPr/>
          </a:p>
        </p:txBody>
      </p:sp>
      <p:sp>
        <p:nvSpPr>
          <p:cNvPr id="627" name="Google Shape;627;p14"/>
          <p:cNvSpPr txBox="1"/>
          <p:nvPr>
            <p:ph idx="5" type="body"/>
          </p:nvPr>
        </p:nvSpPr>
        <p:spPr>
          <a:xfrm>
            <a:off x="6172730" y="4496593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ru-RU">
                <a:solidFill>
                  <a:schemeClr val="dk1"/>
                </a:solidFill>
              </a:rPr>
              <a:t>Регулярные задания работодателей — профиль не протухает</a:t>
            </a:r>
            <a:endParaRPr/>
          </a:p>
        </p:txBody>
      </p:sp>
      <p:sp>
        <p:nvSpPr>
          <p:cNvPr id="628" name="Google Shape;628;p14"/>
          <p:cNvSpPr txBox="1"/>
          <p:nvPr>
            <p:ph idx="6" type="body"/>
          </p:nvPr>
        </p:nvSpPr>
        <p:spPr>
          <a:xfrm>
            <a:off x="6172730" y="5516924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ru-RU">
                <a:solidFill>
                  <a:schemeClr val="dk1"/>
                </a:solidFill>
              </a:rPr>
              <a:t>Пилот: верификация грейдов на закрытом наборе ФСП</a:t>
            </a:r>
            <a:endParaRPr/>
          </a:p>
        </p:txBody>
      </p:sp>
      <p:sp>
        <p:nvSpPr>
          <p:cNvPr id="629" name="Google Shape;629;p14"/>
          <p:cNvSpPr txBox="1"/>
          <p:nvPr>
            <p:ph idx="4294967295" type="sldNum"/>
          </p:nvPr>
        </p:nvSpPr>
        <p:spPr>
          <a:xfrm>
            <a:off x="11633200" y="6356350"/>
            <a:ext cx="558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accent5"/>
                </a:solidFill>
              </a:rPr>
              <a:t>‹#›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630" name="Google Shape;630;p14"/>
          <p:cNvSpPr txBox="1"/>
          <p:nvPr>
            <p:ph type="title"/>
          </p:nvPr>
        </p:nvSpPr>
        <p:spPr>
          <a:xfrm>
            <a:off x="525817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Montserrat"/>
              <a:buNone/>
            </a:pPr>
            <a:r>
              <a:rPr lang="ru-RU">
                <a:solidFill>
                  <a:schemeClr val="lt1"/>
                </a:solidFill>
              </a:rPr>
              <a:t>Внедрение и пилот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15"/>
          <p:cNvSpPr/>
          <p:nvPr>
            <p:ph idx="2" type="pic"/>
          </p:nvPr>
        </p:nvSpPr>
        <p:spPr>
          <a:xfrm>
            <a:off x="6792000" y="395288"/>
            <a:ext cx="5400000" cy="5400000"/>
          </a:xfrm>
          <a:prstGeom prst="rect">
            <a:avLst/>
          </a:prstGeom>
          <a:noFill/>
          <a:ln>
            <a:noFill/>
          </a:ln>
        </p:spPr>
      </p:sp>
      <p:sp>
        <p:nvSpPr>
          <p:cNvPr id="637" name="Google Shape;637;p15"/>
          <p:cNvSpPr txBox="1"/>
          <p:nvPr>
            <p:ph type="ctrTitle"/>
          </p:nvPr>
        </p:nvSpPr>
        <p:spPr>
          <a:xfrm>
            <a:off x="0" y="4323440"/>
            <a:ext cx="8930641" cy="8270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712788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800"/>
              <a:buFont typeface="Montserrat"/>
              <a:buNone/>
            </a:pPr>
            <a:r>
              <a:rPr lang="ru-RU" sz="2800">
                <a:solidFill>
                  <a:srgbClr val="F2F2F2"/>
                </a:solidFill>
              </a:rPr>
              <a:t>Спасибо!</a:t>
            </a:r>
            <a:endParaRPr/>
          </a:p>
        </p:txBody>
      </p:sp>
      <p:sp>
        <p:nvSpPr>
          <p:cNvPr id="638" name="Google Shape;638;p15"/>
          <p:cNvSpPr/>
          <p:nvPr>
            <p:ph idx="3" type="pic"/>
          </p:nvPr>
        </p:nvSpPr>
        <p:spPr>
          <a:xfrm>
            <a:off x="802640" y="2911980"/>
            <a:ext cx="3386773" cy="1082589"/>
          </a:xfrm>
          <a:prstGeom prst="rect">
            <a:avLst/>
          </a:prstGeom>
          <a:noFill/>
          <a:ln>
            <a:noFill/>
          </a:ln>
        </p:spPr>
      </p:sp>
      <p:sp>
        <p:nvSpPr>
          <p:cNvPr id="639" name="Google Shape;639;p15"/>
          <p:cNvSpPr txBox="1"/>
          <p:nvPr>
            <p:ph idx="1" type="body"/>
          </p:nvPr>
        </p:nvSpPr>
        <p:spPr>
          <a:xfrm>
            <a:off x="0" y="5149851"/>
            <a:ext cx="8930641" cy="757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712788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</a:pPr>
            <a:r>
              <a:rPr lang="ru-RU" sz="1800"/>
              <a:t>piratehunter.fun — живой сервис</a:t>
            </a:r>
            <a:endParaRPr/>
          </a:p>
          <a:p>
            <a:pPr indent="712788" lvl="0" marL="0" rtl="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</a:pPr>
            <a:r>
              <a:rPr lang="ru-RU" sz="1800"/>
              <a:t>вход по e-mail-коду или FSP ID · демо-аккаунты для жюри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2023-05-15T07:36:23Z</dcterms:created>
  <dc:creator>Анастасия Юшкова</dc:creator>
</cp:coreProperties>
</file>
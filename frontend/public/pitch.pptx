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UoDXiBaG3PK/etL0RobvZ7qzF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Montserrat-regular.fntdata"/><Relationship Id="rId22" Type="http://schemas.openxmlformats.org/officeDocument/2006/relationships/font" Target="fonts/Montserrat-bold.fntdata"/><Relationship Id="rId23" Type="http://schemas.openxmlformats.org/officeDocument/2006/relationships/font" Target="fonts/Montserrat-italic.fntdata"/><Relationship Id="rId24" Type="http://schemas.openxmlformats.org/officeDocument/2006/relationships/font" Target="fonts/Montserrat-boldItalic.fntdata"/><Relationship Id="rId25" Type="http://customschemas.google.com/relationships/presentationmetadata" Target="metadata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strRef>
              <c:f>Sheet1!$A$2:$A$4</c:f>
              <c:strCache>
                <c:ptCount val="3"/>
                <c:pt idx="0">
                  <c:v>Стабильность</c:v>
                </c:pt>
                <c:pt idx="1">
                  <c:v>Spearman</c:v>
                </c:pt>
                <c:pt idx="2">
                  <c:v>Precision@5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0.967</c:v>
                </c:pt>
                <c:pt idx="1">
                  <c:v>0.972</c:v>
                </c:pt>
                <c:pt idx="2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Порог приёмки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strRef>
              <c:f>Sheet1!$A$2:$A$4</c:f>
              <c:strCache>
                <c:ptCount val="3"/>
                <c:pt idx="0">
                  <c:v>Стабильность</c:v>
                </c:pt>
                <c:pt idx="1">
                  <c:v>Spearman</c:v>
                </c:pt>
                <c:pt idx="2">
                  <c:v>Precision@5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</c:v>
                </c:pt>
                <c:pt idx="1">
                  <c:v>0.85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0:00–0:20 — Добрый день! Мы представляем PirateHunter — платформу-агрегатор ИТ-вакансий с верифицированным профилем достижений участников ФСП. Ключевая идея: развернуть рынок труда — не кандидат шлёт отклики, а работодатель находит и приглашает с честной зарплатной вилкой.</a:t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0:20–0:50 — Три боли классических агрегаторов. Первое: односторонний поток откликов. Второе: зарплата непрозрачна — вилку узнают на собеседовании. Третье: навыки берутся со слов резюме. Техзадание ФСП формулирует обратную механику, обязательную вилку и верификацию — именно так мы и построили сервис.</a:t>
            </a:r>
            <a:endParaRPr/>
          </a:p>
        </p:txBody>
      </p:sp>
      <p:sp>
        <p:nvSpPr>
          <p:cNvPr id="242" name="Google Shape;2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0:50–1:30 — Сквозной сценарий из пяти шагов. Работодатель описывает потребность свободным текстом — LLM превращает её в структуру, которую он подтверждает. Дальше поиск по категориям: семь специализаций на четыре грейда. Подборка с объяснением каждой цифры. Приглашение идёт с обязательной вилкой. И только когда кандидат принимает — контакты раскрываются обеим сторонам.</a:t>
            </a:r>
            <a:endParaRPr/>
          </a:p>
        </p:txBody>
      </p:sp>
      <p:sp>
        <p:nvSpPr>
          <p:cNvPr id="298" name="Google Shape;2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1:30–2:05 — Скоринг четырёхфакторный с фиксированными весами в конфиге: сорок процентов — подтверждённый тест, тридцать — совпадение стека, двадцать — достижения ФСП, десять — свежесть профиля. Каждый результат несёт панель «Почему в подборке» — разложение по факторам с цифрами, а рядом виджет «вилка против рынка по категории»: работодатель видит медиану до отправки приглашения.</a:t>
            </a:r>
            <a:endParaRPr/>
          </a:p>
        </p:txBody>
      </p:sp>
      <p:sp>
        <p:nvSpPr>
          <p:cNvPr id="335" name="Google Shape;33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2:05–2:35 — Грейд — это уровень навыков, а не стаж в годах, и присваивается он только тестом. Движок — CAT-lite на IRT-модели: оцениваем способность тета и сложность заданий бета, следующий вопрос подбираем максимально информативным. Останавливаемся при десяти вопросах или когда стандартная ошибка ниже ноль тридцати пяти сотых. Шаблоны параметризованные — уникальный экземпляр по сиду, банк пополняется генераторами. Для жюри — экспресс-режим на четыре вопроса.</a:t>
            </a:r>
            <a:endParaRPr/>
          </a:p>
        </p:txBody>
      </p:sp>
      <p:sp>
        <p:nvSpPr>
          <p:cNvPr id="359" name="Google Shape;3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2:35–3:00 — Валидация — собственная процедура с порогами, зафиксированными до прогона. Стабильность грейда при повторных тестах — девяносто шесть целых семь десятых процента при пороге восемьдесят. Разделяющая сила по Спирмену — ноль девятьсот семьдесят две сотых при пороге восемьдесят пять сотых. Точность топ-5 подборки — восемьдесят пять сотых при пороге восемь десятых. Плюс двести два автотеста, живой смоук на четырнадцать шагов, триста два сид-кандидата и ресед базы одной командой.</a:t>
            </a:r>
            <a:endParaRPr/>
          </a:p>
        </p:txBody>
      </p:sp>
      <p:sp>
        <p:nvSpPr>
          <p:cNvPr id="376" name="Google Shape;3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3:00–3:15 — С Федерацией спортивного программирования связались по всем правилам её же рекомендаций. Вход через FSP ID сейчас идёт через мок-OIDC реестр-адаптер — на боевой Keycloak меняется один конфиг. Дисциплины не ранжируем, набивание явками гасим затуханием. Нет истории — это нормальный первоклассный кейс: без штрафа, с подсказкой привязать идентификатор.</a:t>
            </a:r>
            <a:endParaRPr/>
          </a:p>
        </p:txBody>
      </p:sp>
      <p:sp>
        <p:nvSpPr>
          <p:cNvPr id="393" name="Google Shape;3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3:15–3:30 — Нас двое: капитан Илья Хакимов — полный цикл и ИИ-конвейеры, Денис Шайхльбарин — фронтенд и дизайн. Суть PirateHunter: работодатель ищет по категориям и приглашает с вилкой, кандидат выбирает. Уникальность: грейд подтверждается только тестом, достижения ФСП работают на ранжирование, а каждая цифра подборки объяснима.</a:t>
            </a:r>
            <a:endParaRPr/>
          </a:p>
        </p:txBody>
      </p:sp>
      <p:sp>
        <p:nvSpPr>
          <p:cNvPr id="412" name="Google Shape;4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3:30–3:38 — Илья — капитан, fullstack и ИИ-инженерия, PiratePress, ИТМО. Денис — фронтенд и дизайн, Яндекс, МАИ.</a:t>
            </a:r>
            <a:endParaRPr/>
          </a:p>
        </p:txBody>
      </p:sp>
      <p:sp>
        <p:nvSpPr>
          <p:cNvPr id="430" name="Google Shape;4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3:38–3:48 — Команда собралась на этом хакатоне, но пайплайн «запрос → структура → результат» нам знаком по видеопродукту. Главные вызовы: объективный грейд без эталонной разметки — закрыли IRT и синтетической валидацией; и приватность — персональные данные живут только в backend, ядро оперирует анонимными снапшотами.</a:t>
            </a:r>
            <a:endParaRPr/>
          </a:p>
        </p:txBody>
      </p:sp>
      <p:sp>
        <p:nvSpPr>
          <p:cNvPr id="446" name="Google Shape;4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3:48–4:05 — Коротко. Технически: три сервиса — backend с персональными данными, ядро с адаптивным тестом и скорингом, реестр-адаптер ФСП; фронт — Next.js. Весь контур в юрисдикции РФ: хостинг Selectel и LLM Cloud.ru — данные в ЦОДах РФ, обезличивание перед LLM, трансграничной передачи нет (152-ФЗ). Маркетингово: кандидат получает подтверждённый грейд и честные приглашения, работодатель — объяснимую подборку. Развитие: боевой ФСП, открытый ATS-API, MCP для агентов, пилот.</a:t>
            </a:r>
            <a:endParaRPr/>
          </a:p>
        </p:txBody>
      </p:sp>
      <p:sp>
        <p:nvSpPr>
          <p:cNvPr id="466" name="Google Shape;46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4:05–4:25 — Демо показываем на живом сервисе piratehunter.fun: вход по почтовому коду или через FSP ID, для жюри — готовые демо-аккаунты. Сценарий: работодатель описывает потребность и получает подборку с объяснением; кандидат проходит экспресс-тест на четыре вопроса и видит приглашение с вилкой; при принятии контакты раскрываются обеим сторонам. База перед защитой возвращается к эталону реседом одной командой.</a:t>
            </a:r>
            <a:endParaRPr/>
          </a:p>
        </p:txBody>
      </p:sp>
      <p:sp>
        <p:nvSpPr>
          <p:cNvPr id="480" name="Google Shape;48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4:25–4:40 — Четыре экрана, которые мы отполировали в первую очередь. Подборка работодателя с панелью «почему в подборке» и виджетом вилки против рынка. Адаптивный тест с таймером и подсветкой кода. Приглашение с вилкой крупно — принципиальное отличие от привычных агрегаторов. И категория кандидата: подтверждённый тестом грейд и место в ранжировании.</a:t>
            </a:r>
            <a:endParaRPr/>
          </a:p>
        </p:txBody>
      </p:sp>
      <p:sp>
        <p:nvSpPr>
          <p:cNvPr id="494" name="Google Shape;49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4:40–4:52 — Внедрение: отдельно подчеркнуть — 152-ФЗ из коробки: хостинг и LLM в ЦОДах РФ, ПДн в контуре, обезличивание перед LLM, согласия в онбординге. Боевой реестр ФСП подключается заменой конфига. Стенд поднимается одной командой docker compose, база реседится к эталону. Дальше — ATS-ready API, MCP для ИИ-агентов, регулярные задания и пилот верификации грейдов. Отдельно: антифрод — обязательная вилка, лимит 100 приглашений в час, модерация компаний в roadmap, контакты скрыты до accept. ATS — открытый API, вебхуки статусов, выгрузка верифицированного профиля. Мобильный адаптив: кабинеты работают с телефона (360px). Вакансии и отклики уже реализованы: публикация с обязательной вилкой, самостоятельный отклик кандидата, статусы viewed/invited/rejected и симметричное раскрытие контактов. Регулярные задания — в roadmap.</a:t>
            </a:r>
          </a:p>
        </p:txBody>
      </p:sp>
      <p:sp>
        <p:nvSpPr>
          <p:cNvPr id="614" name="Google Shape;61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4:52–5:00 — Спасибо за внимание! Сервис живёт на piratehunter.fun, демо-аккаунты для жюри готовы. Переходим к ответам на вопросы.</a:t>
            </a:r>
            <a:endParaRPr/>
          </a:p>
        </p:txBody>
      </p:sp>
      <p:sp>
        <p:nvSpPr>
          <p:cNvPr id="634" name="Google Shape;63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>
            <p:ph idx="2" type="pic"/>
          </p:nvPr>
        </p:nvSpPr>
        <p:spPr>
          <a:xfrm>
            <a:off x="6792000" y="395288"/>
            <a:ext cx="5400000" cy="54000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17"/>
          <p:cNvSpPr txBox="1"/>
          <p:nvPr>
            <p:ph type="ctrTitle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/>
          <p:nvPr>
            <p:ph idx="3" type="pic"/>
          </p:nvPr>
        </p:nvSpPr>
        <p:spPr>
          <a:xfrm>
            <a:off x="802640" y="2911980"/>
            <a:ext cx="3386773" cy="1082589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облема и решение">
  <p:cSld name="Проблема и решение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" name="Google Shape;24;p18"/>
          <p:cNvSpPr txBox="1"/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/>
          <p:nvPr>
            <p:ph idx="1" type="body"/>
          </p:nvPr>
        </p:nvSpPr>
        <p:spPr>
          <a:xfrm>
            <a:off x="517027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8"/>
          <p:cNvSpPr/>
          <p:nvPr>
            <p:ph idx="2" type="body"/>
          </p:nvPr>
        </p:nvSpPr>
        <p:spPr>
          <a:xfrm>
            <a:off x="4464542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8"/>
          <p:cNvSpPr/>
          <p:nvPr>
            <p:ph idx="3" type="body"/>
          </p:nvPr>
        </p:nvSpPr>
        <p:spPr>
          <a:xfrm>
            <a:off x="8385481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/>
          <p:nvPr>
            <p:ph idx="4" type="body"/>
          </p:nvPr>
        </p:nvSpPr>
        <p:spPr>
          <a:xfrm>
            <a:off x="517027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8"/>
          <p:cNvSpPr/>
          <p:nvPr>
            <p:ph idx="5" type="body"/>
          </p:nvPr>
        </p:nvSpPr>
        <p:spPr>
          <a:xfrm>
            <a:off x="4464542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8"/>
          <p:cNvSpPr/>
          <p:nvPr>
            <p:ph idx="6" type="body"/>
          </p:nvPr>
        </p:nvSpPr>
        <p:spPr>
          <a:xfrm>
            <a:off x="8385481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дии">
  <p:cSld name="Стадии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" name="Google Shape;35;p19"/>
          <p:cNvSpPr/>
          <p:nvPr>
            <p:ph idx="1" type="body"/>
          </p:nvPr>
        </p:nvSpPr>
        <p:spPr>
          <a:xfrm>
            <a:off x="346075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/>
          <p:nvPr>
            <p:ph idx="3" type="body"/>
          </p:nvPr>
        </p:nvSpPr>
        <p:spPr>
          <a:xfrm>
            <a:off x="4832960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4" type="body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9"/>
          <p:cNvSpPr/>
          <p:nvPr>
            <p:ph idx="5" type="body"/>
          </p:nvPr>
        </p:nvSpPr>
        <p:spPr>
          <a:xfrm>
            <a:off x="9330862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6" type="body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9"/>
          <p:cNvSpPr/>
          <p:nvPr>
            <p:ph idx="7" type="body"/>
          </p:nvPr>
        </p:nvSpPr>
        <p:spPr>
          <a:xfrm>
            <a:off x="2593517" y="4358152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8" type="body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9"/>
          <p:cNvSpPr/>
          <p:nvPr>
            <p:ph idx="9" type="body"/>
          </p:nvPr>
        </p:nvSpPr>
        <p:spPr>
          <a:xfrm>
            <a:off x="7080402" y="4358152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3" type="body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держание_1">
  <p:cSld name="Содержание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" name="Google Shape;50;p20"/>
          <p:cNvSpPr txBox="1"/>
          <p:nvPr>
            <p:ph idx="1" type="body"/>
          </p:nvPr>
        </p:nvSpPr>
        <p:spPr>
          <a:xfrm>
            <a:off x="1873541" y="1222713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2" type="body"/>
          </p:nvPr>
        </p:nvSpPr>
        <p:spPr>
          <a:xfrm>
            <a:off x="1873544" y="1790324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3" type="body"/>
          </p:nvPr>
        </p:nvSpPr>
        <p:spPr>
          <a:xfrm>
            <a:off x="1854185" y="2826697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4" type="body"/>
          </p:nvPr>
        </p:nvSpPr>
        <p:spPr>
          <a:xfrm>
            <a:off x="1854185" y="3374436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5" type="body"/>
          </p:nvPr>
        </p:nvSpPr>
        <p:spPr>
          <a:xfrm>
            <a:off x="1854185" y="4410809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6" type="body"/>
          </p:nvPr>
        </p:nvSpPr>
        <p:spPr>
          <a:xfrm>
            <a:off x="1854185" y="495854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7" type="body"/>
          </p:nvPr>
        </p:nvSpPr>
        <p:spPr>
          <a:xfrm>
            <a:off x="7546648" y="1222713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8" type="body"/>
          </p:nvPr>
        </p:nvSpPr>
        <p:spPr>
          <a:xfrm>
            <a:off x="7546651" y="1790324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9" type="body"/>
          </p:nvPr>
        </p:nvSpPr>
        <p:spPr>
          <a:xfrm>
            <a:off x="7527292" y="2826697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3" type="body"/>
          </p:nvPr>
        </p:nvSpPr>
        <p:spPr>
          <a:xfrm>
            <a:off x="7527292" y="3374436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4" type="body"/>
          </p:nvPr>
        </p:nvSpPr>
        <p:spPr>
          <a:xfrm>
            <a:off x="7527292" y="4410809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5" type="body"/>
          </p:nvPr>
        </p:nvSpPr>
        <p:spPr>
          <a:xfrm>
            <a:off x="7527292" y="495854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6" type="body"/>
          </p:nvPr>
        </p:nvSpPr>
        <p:spPr>
          <a:xfrm>
            <a:off x="778493" y="1187988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7" type="body"/>
          </p:nvPr>
        </p:nvSpPr>
        <p:spPr>
          <a:xfrm>
            <a:off x="759137" y="2791972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8" type="body"/>
          </p:nvPr>
        </p:nvSpPr>
        <p:spPr>
          <a:xfrm>
            <a:off x="759137" y="4376084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9" type="body"/>
          </p:nvPr>
        </p:nvSpPr>
        <p:spPr>
          <a:xfrm>
            <a:off x="6451600" y="1187988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20" type="body"/>
          </p:nvPr>
        </p:nvSpPr>
        <p:spPr>
          <a:xfrm>
            <a:off x="6432244" y="2791972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21" type="body"/>
          </p:nvPr>
        </p:nvSpPr>
        <p:spPr>
          <a:xfrm>
            <a:off x="6432244" y="4376084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" type="body"/>
          </p:nvPr>
        </p:nvSpPr>
        <p:spPr>
          <a:xfrm>
            <a:off x="1994303" y="2973742"/>
            <a:ext cx="2190810" cy="910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2" type="body"/>
          </p:nvPr>
        </p:nvSpPr>
        <p:spPr>
          <a:xfrm>
            <a:off x="6662924" y="1588128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3" type="body"/>
          </p:nvPr>
        </p:nvSpPr>
        <p:spPr>
          <a:xfrm>
            <a:off x="6662924" y="2445138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4" type="body"/>
          </p:nvPr>
        </p:nvSpPr>
        <p:spPr>
          <a:xfrm>
            <a:off x="6662924" y="3302147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5" type="body"/>
          </p:nvPr>
        </p:nvSpPr>
        <p:spPr>
          <a:xfrm>
            <a:off x="6662924" y="4159156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6" type="body"/>
          </p:nvPr>
        </p:nvSpPr>
        <p:spPr>
          <a:xfrm>
            <a:off x="6662924" y="5016166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татистика">
  <p:cSld name="2_Статистика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3" name="Google Shape;83;p22"/>
          <p:cNvSpPr txBox="1"/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/>
          <p:nvPr>
            <p:ph idx="1" type="body"/>
          </p:nvPr>
        </p:nvSpPr>
        <p:spPr>
          <a:xfrm>
            <a:off x="6683077" y="1016000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2" type="body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2"/>
          <p:cNvSpPr/>
          <p:nvPr>
            <p:ph idx="3" type="body"/>
          </p:nvPr>
        </p:nvSpPr>
        <p:spPr>
          <a:xfrm>
            <a:off x="6683077" y="2284561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AD28EF"/>
              </a:buClr>
              <a:buSzPts val="1800"/>
              <a:buChar char="•"/>
              <a:defRPr b="1" sz="1800">
                <a:solidFill>
                  <a:srgbClr val="AD28E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4" type="body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2"/>
          <p:cNvSpPr/>
          <p:nvPr>
            <p:ph idx="5" type="body"/>
          </p:nvPr>
        </p:nvSpPr>
        <p:spPr>
          <a:xfrm>
            <a:off x="6683077" y="3553122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6" type="body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2"/>
          <p:cNvSpPr/>
          <p:nvPr>
            <p:ph idx="7" type="body"/>
          </p:nvPr>
        </p:nvSpPr>
        <p:spPr>
          <a:xfrm>
            <a:off x="6683077" y="4821684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8" type="body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Описание команды">
  <p:cSld name="1_Описание команды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>
            <p:ph idx="2" type="pic"/>
          </p:nvPr>
        </p:nvSpPr>
        <p:spPr>
          <a:xfrm>
            <a:off x="6894095" y="1044081"/>
            <a:ext cx="4962943" cy="2221824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3"/>
          <p:cNvSpPr txBox="1"/>
          <p:nvPr>
            <p:ph type="title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манда">
  <p:cSld name="Команда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9" name="Google Shape;99;p24"/>
          <p:cNvSpPr txBox="1"/>
          <p:nvPr>
            <p:ph type="title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2" type="body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3" type="body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4" type="body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5" type="body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емо_1">
  <p:cSld name="Демо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/>
          <p:nvPr>
            <p:ph idx="2" type="pic"/>
          </p:nvPr>
        </p:nvSpPr>
        <p:spPr>
          <a:xfrm>
            <a:off x="4162940" y="1264478"/>
            <a:ext cx="3866121" cy="2436377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5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0" name="Google Shape;110;p25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" type="body"/>
          </p:nvPr>
        </p:nvSpPr>
        <p:spPr>
          <a:xfrm>
            <a:off x="346075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3" type="body"/>
          </p:nvPr>
        </p:nvSpPr>
        <p:spPr>
          <a:xfrm>
            <a:off x="4240502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4" type="body"/>
          </p:nvPr>
        </p:nvSpPr>
        <p:spPr>
          <a:xfrm>
            <a:off x="8230203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Демо_1">
  <p:cSld name="3_Демо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/>
          <p:nvPr>
            <p:ph idx="2" type="pic"/>
          </p:nvPr>
        </p:nvSpPr>
        <p:spPr>
          <a:xfrm>
            <a:off x="1001460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16" name="Google Shape;116;p26"/>
          <p:cNvSpPr/>
          <p:nvPr>
            <p:ph idx="3" type="pic"/>
          </p:nvPr>
        </p:nvSpPr>
        <p:spPr>
          <a:xfrm>
            <a:off x="3831097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17" name="Google Shape;117;p26"/>
          <p:cNvSpPr/>
          <p:nvPr>
            <p:ph idx="4" type="pic"/>
          </p:nvPr>
        </p:nvSpPr>
        <p:spPr>
          <a:xfrm>
            <a:off x="6660734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18" name="Google Shape;118;p26"/>
          <p:cNvSpPr/>
          <p:nvPr>
            <p:ph idx="5" type="pic"/>
          </p:nvPr>
        </p:nvSpPr>
        <p:spPr>
          <a:xfrm>
            <a:off x="9490368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19" name="Google Shape;119;p2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2" name="Google Shape;122;p26"/>
          <p:cNvSpPr txBox="1"/>
          <p:nvPr>
            <p:ph idx="1" type="body"/>
          </p:nvPr>
        </p:nvSpPr>
        <p:spPr>
          <a:xfrm>
            <a:off x="346076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6" type="body"/>
          </p:nvPr>
        </p:nvSpPr>
        <p:spPr>
          <a:xfrm>
            <a:off x="3269562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idx="7" type="body"/>
          </p:nvPr>
        </p:nvSpPr>
        <p:spPr>
          <a:xfrm>
            <a:off x="6193048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8" type="body"/>
          </p:nvPr>
        </p:nvSpPr>
        <p:spPr>
          <a:xfrm>
            <a:off x="9116535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6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 заголовком">
  <p:cSld name="Пустой с заголовком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7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>
            <p:ph idx="1" type="body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Char char="•"/>
              <a:defRPr>
                <a:solidFill>
                  <a:srgbClr val="F2F2F2"/>
                </a:solidFill>
              </a:defRPr>
            </a:lvl1pPr>
            <a:lvl2pPr indent="-309309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Char char="•"/>
              <a:defRPr>
                <a:solidFill>
                  <a:srgbClr val="F2F2F2"/>
                </a:solidFill>
              </a:defRPr>
            </a:lvl2pPr>
            <a:lvl3pPr indent="-29191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Char char="•"/>
              <a:defRPr>
                <a:solidFill>
                  <a:srgbClr val="F2F2F2"/>
                </a:solidFill>
              </a:defRPr>
            </a:lvl3pPr>
            <a:lvl4pPr indent="-286195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4pPr>
            <a:lvl5pPr indent="-286195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6" name="Google Shape;136;p28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/>
          <p:nvPr>
            <p:ph idx="1" type="body"/>
          </p:nvPr>
        </p:nvSpPr>
        <p:spPr>
          <a:xfrm>
            <a:off x="315387" y="1016001"/>
            <a:ext cx="5704418" cy="5184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2" type="body"/>
          </p:nvPr>
        </p:nvSpPr>
        <p:spPr>
          <a:xfrm>
            <a:off x="6172206" y="1016001"/>
            <a:ext cx="5670473" cy="5184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3" name="Google Shape;143;p29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>
  <p:cSld name="Сравнение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315386" y="1015427"/>
            <a:ext cx="56821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146" name="Google Shape;146;p30"/>
          <p:cNvSpPr txBox="1"/>
          <p:nvPr>
            <p:ph idx="2" type="body"/>
          </p:nvPr>
        </p:nvSpPr>
        <p:spPr>
          <a:xfrm>
            <a:off x="349334" y="1598615"/>
            <a:ext cx="5648250" cy="46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30"/>
          <p:cNvSpPr txBox="1"/>
          <p:nvPr>
            <p:ph idx="3" type="body"/>
          </p:nvPr>
        </p:nvSpPr>
        <p:spPr>
          <a:xfrm>
            <a:off x="6172205" y="1015427"/>
            <a:ext cx="56848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148" name="Google Shape;148;p30"/>
          <p:cNvSpPr txBox="1"/>
          <p:nvPr>
            <p:ph idx="4" type="body"/>
          </p:nvPr>
        </p:nvSpPr>
        <p:spPr>
          <a:xfrm>
            <a:off x="6172202" y="1598615"/>
            <a:ext cx="5670473" cy="46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30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0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2" name="Google Shape;152;p30"/>
          <p:cNvSpPr txBox="1"/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>
            <p:ph type="title"/>
          </p:nvPr>
        </p:nvSpPr>
        <p:spPr>
          <a:xfrm>
            <a:off x="334966" y="1015999"/>
            <a:ext cx="4437062" cy="12134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Montserrat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5183194" y="1015999"/>
            <a:ext cx="6673847" cy="5049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1186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773"/>
              <a:buChar char="•"/>
              <a:defRPr sz="1773"/>
            </a:lvl1pPr>
            <a:lvl2pPr indent="-32512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520"/>
              <a:buChar char="•"/>
              <a:defRPr sz="1520"/>
            </a:lvl2pPr>
            <a:lvl3pPr indent="-308991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Char char="•"/>
              <a:defRPr sz="1266"/>
            </a:lvl3pPr>
            <a:lvl4pPr indent="-301054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4pPr>
            <a:lvl5pPr indent="-301054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5pPr>
            <a:lvl6pPr indent="-308991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6pPr>
            <a:lvl7pPr indent="-308991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7pPr>
            <a:lvl8pPr indent="-308991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8pPr>
            <a:lvl9pPr indent="-308991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9pPr>
          </a:lstStyle>
          <a:p/>
        </p:txBody>
      </p:sp>
      <p:sp>
        <p:nvSpPr>
          <p:cNvPr id="160" name="Google Shape;160;p32"/>
          <p:cNvSpPr txBox="1"/>
          <p:nvPr>
            <p:ph idx="2" type="body"/>
          </p:nvPr>
        </p:nvSpPr>
        <p:spPr>
          <a:xfrm>
            <a:off x="334966" y="2428239"/>
            <a:ext cx="4437062" cy="363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886"/>
              <a:buNone/>
              <a:defRPr sz="88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760"/>
              <a:buNone/>
              <a:defRPr sz="760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9pPr>
          </a:lstStyle>
          <a:p/>
        </p:txBody>
      </p:sp>
      <p:sp>
        <p:nvSpPr>
          <p:cNvPr id="161" name="Google Shape;161;p32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2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3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3"/>
          <p:cNvSpPr txBox="1"/>
          <p:nvPr>
            <p:ph type="ctrTitle"/>
          </p:nvPr>
        </p:nvSpPr>
        <p:spPr>
          <a:xfrm>
            <a:off x="802640" y="3922529"/>
            <a:ext cx="5293359" cy="1654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и">
  <p:cSld name="Фотографии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4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3" name="Google Shape;173;p34"/>
          <p:cNvSpPr txBox="1"/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4"/>
          <p:cNvSpPr/>
          <p:nvPr>
            <p:ph idx="2" type="pic"/>
          </p:nvPr>
        </p:nvSpPr>
        <p:spPr>
          <a:xfrm>
            <a:off x="7440147" y="1016001"/>
            <a:ext cx="4405777" cy="3078479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3" type="pic"/>
          </p:nvPr>
        </p:nvSpPr>
        <p:spPr>
          <a:xfrm>
            <a:off x="7440149" y="4389108"/>
            <a:ext cx="4405775" cy="1811668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4"/>
          <p:cNvSpPr/>
          <p:nvPr>
            <p:ph idx="4" type="pic"/>
          </p:nvPr>
        </p:nvSpPr>
        <p:spPr>
          <a:xfrm>
            <a:off x="346075" y="3223948"/>
            <a:ext cx="6806142" cy="2976827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4"/>
          <p:cNvSpPr txBox="1"/>
          <p:nvPr>
            <p:ph idx="1" type="body"/>
          </p:nvPr>
        </p:nvSpPr>
        <p:spPr>
          <a:xfrm>
            <a:off x="346075" y="1016001"/>
            <a:ext cx="6806142" cy="2029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тистика">
  <p:cSld name="Статистика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5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2" name="Google Shape;182;p35"/>
          <p:cNvSpPr txBox="1"/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5"/>
          <p:cNvSpPr/>
          <p:nvPr>
            <p:ph idx="1" type="body"/>
          </p:nvPr>
        </p:nvSpPr>
        <p:spPr>
          <a:xfrm>
            <a:off x="6683077" y="1026867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35"/>
          <p:cNvSpPr txBox="1"/>
          <p:nvPr>
            <p:ph idx="2" type="body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35"/>
          <p:cNvSpPr/>
          <p:nvPr>
            <p:ph idx="3" type="body"/>
          </p:nvPr>
        </p:nvSpPr>
        <p:spPr>
          <a:xfrm>
            <a:off x="6683077" y="2807582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35"/>
          <p:cNvSpPr txBox="1"/>
          <p:nvPr>
            <p:ph idx="4" type="body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35"/>
          <p:cNvSpPr/>
          <p:nvPr>
            <p:ph idx="5" type="body"/>
          </p:nvPr>
        </p:nvSpPr>
        <p:spPr>
          <a:xfrm>
            <a:off x="6683077" y="4584029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35"/>
          <p:cNvSpPr txBox="1"/>
          <p:nvPr>
            <p:ph idx="6" type="body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татистика">
  <p:cSld name="1_Статистика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3" name="Google Shape;193;p36"/>
          <p:cNvSpPr txBox="1"/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6"/>
          <p:cNvSpPr/>
          <p:nvPr>
            <p:ph idx="1" type="body"/>
          </p:nvPr>
        </p:nvSpPr>
        <p:spPr>
          <a:xfrm>
            <a:off x="6683077" y="1016000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36"/>
          <p:cNvSpPr txBox="1"/>
          <p:nvPr>
            <p:ph idx="2" type="body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36"/>
          <p:cNvSpPr/>
          <p:nvPr>
            <p:ph idx="3" type="body"/>
          </p:nvPr>
        </p:nvSpPr>
        <p:spPr>
          <a:xfrm>
            <a:off x="6683077" y="2284561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AD28EF"/>
              </a:buClr>
              <a:buSzPts val="1800"/>
              <a:buChar char="•"/>
              <a:defRPr b="1" sz="1800">
                <a:solidFill>
                  <a:srgbClr val="AD28E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4" type="body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36"/>
          <p:cNvSpPr/>
          <p:nvPr>
            <p:ph idx="5" type="body"/>
          </p:nvPr>
        </p:nvSpPr>
        <p:spPr>
          <a:xfrm>
            <a:off x="6683077" y="3553122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6" type="body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36"/>
          <p:cNvSpPr/>
          <p:nvPr>
            <p:ph idx="7" type="body"/>
          </p:nvPr>
        </p:nvSpPr>
        <p:spPr>
          <a:xfrm>
            <a:off x="6683077" y="4821684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36"/>
          <p:cNvSpPr txBox="1"/>
          <p:nvPr>
            <p:ph idx="8" type="body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Демо_1">
  <p:cSld name="1_Демо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7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6" name="Google Shape;206;p37"/>
          <p:cNvSpPr txBox="1"/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1210643" y="4324451"/>
            <a:ext cx="4121687" cy="161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37"/>
          <p:cNvSpPr txBox="1"/>
          <p:nvPr>
            <p:ph idx="2" type="body"/>
          </p:nvPr>
        </p:nvSpPr>
        <p:spPr>
          <a:xfrm>
            <a:off x="6857950" y="4324451"/>
            <a:ext cx="4121687" cy="161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37"/>
          <p:cNvSpPr/>
          <p:nvPr>
            <p:ph idx="3" type="pic"/>
          </p:nvPr>
        </p:nvSpPr>
        <p:spPr>
          <a:xfrm>
            <a:off x="1210642" y="1577998"/>
            <a:ext cx="4121688" cy="2283975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37"/>
          <p:cNvSpPr/>
          <p:nvPr>
            <p:ph idx="4" type="pic"/>
          </p:nvPr>
        </p:nvSpPr>
        <p:spPr>
          <a:xfrm>
            <a:off x="6855540" y="1577998"/>
            <a:ext cx="4121688" cy="22839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Демо_1">
  <p:cSld name="2_Демо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/>
          <p:nvPr>
            <p:ph idx="2" type="pic"/>
          </p:nvPr>
        </p:nvSpPr>
        <p:spPr>
          <a:xfrm>
            <a:off x="5009872" y="1235915"/>
            <a:ext cx="2172255" cy="4602697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213" name="Google Shape;213;p38"/>
          <p:cNvSpPr/>
          <p:nvPr>
            <p:ph idx="1" type="body"/>
          </p:nvPr>
        </p:nvSpPr>
        <p:spPr>
          <a:xfrm>
            <a:off x="356349" y="1641283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38"/>
          <p:cNvSpPr txBox="1"/>
          <p:nvPr>
            <p:ph idx="3" type="body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38"/>
          <p:cNvSpPr/>
          <p:nvPr>
            <p:ph idx="4" type="body"/>
          </p:nvPr>
        </p:nvSpPr>
        <p:spPr>
          <a:xfrm>
            <a:off x="8040021" y="1641283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E4B4FB"/>
              </a:buClr>
              <a:buSzPts val="1800"/>
              <a:buChar char="•"/>
              <a:defRPr b="1" sz="1800">
                <a:solidFill>
                  <a:srgbClr val="E4B4F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38"/>
          <p:cNvSpPr txBox="1"/>
          <p:nvPr>
            <p:ph idx="5" type="body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38"/>
          <p:cNvSpPr/>
          <p:nvPr>
            <p:ph idx="6" type="body"/>
          </p:nvPr>
        </p:nvSpPr>
        <p:spPr>
          <a:xfrm>
            <a:off x="356349" y="3864598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38"/>
          <p:cNvSpPr txBox="1"/>
          <p:nvPr>
            <p:ph idx="7" type="body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38"/>
          <p:cNvSpPr/>
          <p:nvPr>
            <p:ph idx="8" type="body"/>
          </p:nvPr>
        </p:nvSpPr>
        <p:spPr>
          <a:xfrm>
            <a:off x="8040021" y="3864598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1F5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38"/>
          <p:cNvSpPr txBox="1"/>
          <p:nvPr>
            <p:ph idx="9" type="body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21" name="Google Shape;221;p38"/>
          <p:cNvCxnSpPr/>
          <p:nvPr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38"/>
          <p:cNvCxnSpPr/>
          <p:nvPr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38"/>
          <p:cNvCxnSpPr/>
          <p:nvPr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cap="flat" cmpd="sng" w="25400">
            <a:solidFill>
              <a:srgbClr val="E4B4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38"/>
          <p:cNvCxnSpPr/>
          <p:nvPr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38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>
  <p:cSld name="Пустой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 b="1" i="0" sz="199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Font typeface="Arial"/>
              <a:buChar char="•"/>
              <a:defRPr b="0" i="0" sz="1452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9309" lvl="1" marL="9144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Font typeface="Arial"/>
              <a:buChar char="•"/>
              <a:defRPr b="0" i="0" sz="1271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1910" lvl="2" marL="13716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Font typeface="Arial"/>
              <a:buChar char="•"/>
              <a:defRPr b="0" i="0" sz="99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6195" lvl="3" marL="18288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6195" lvl="4" marL="22860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1054" lvl="5" marL="27432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1054" lvl="6" marL="32004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1053" lvl="7" marL="36576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1053" lvl="8" marL="41148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156">
          <p15:clr>
            <a:srgbClr val="F26B43"/>
          </p15:clr>
        </p15:guide>
        <p15:guide id="2" orient="horz" pos="482">
          <p15:clr>
            <a:srgbClr val="F26B43"/>
          </p15:clr>
        </p15:guide>
        <p15:guide id="3" pos="218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249">
          <p15:clr>
            <a:srgbClr val="F26B43"/>
          </p15:clr>
        </p15:guide>
        <p15:guide id="6" orient="horz" pos="4042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orient="horz" pos="640">
          <p15:clr>
            <a:srgbClr val="F26B43"/>
          </p15:clr>
        </p15:guide>
        <p15:guide id="9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0.jpg"/><Relationship Id="rId5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"/>
          <p:cNvSpPr txBox="1"/>
          <p:nvPr>
            <p:ph type="ctrTitle"/>
          </p:nvPr>
        </p:nvSpPr>
        <p:spPr>
          <a:xfrm>
            <a:off x="1" y="3894513"/>
            <a:ext cx="6271845" cy="1706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712788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</a:pPr>
            <a:r>
              <a:rPr lang="ru-RU" sz="2800">
                <a:solidFill>
                  <a:srgbClr val="F2F2F2"/>
                </a:solidFill>
              </a:rPr>
              <a:t>PirateHunter</a:t>
            </a:r>
            <a:endParaRPr/>
          </a:p>
        </p:txBody>
      </p:sp>
      <p:sp>
        <p:nvSpPr>
          <p:cNvPr id="236" name="Google Shape;236;p1"/>
          <p:cNvSpPr txBox="1"/>
          <p:nvPr>
            <p:ph idx="1" type="body"/>
          </p:nvPr>
        </p:nvSpPr>
        <p:spPr>
          <a:xfrm>
            <a:off x="0" y="5659500"/>
            <a:ext cx="91386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3175" lvl="0" marL="27146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ru-RU"/>
              <a:t>Цифровая платформа-агрегатор ИТ-вакансий </a:t>
            </a:r>
            <a:br>
              <a:rPr lang="ru-RU"/>
            </a:br>
            <a:r>
              <a:rPr lang="ru-RU"/>
              <a:t>с верифицированным профилем достижений </a:t>
            </a:r>
            <a:br>
              <a:rPr lang="ru-RU"/>
            </a:br>
            <a:r>
              <a:rPr lang="ru-RU"/>
              <a:t>участника Федерации спортивного программирования (ФСП)</a:t>
            </a:r>
            <a:endParaRPr/>
          </a:p>
          <a:p>
            <a:pPr indent="712788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ru-RU">
                <a:solidFill>
                  <a:schemeClr val="lt1"/>
                </a:solidFill>
              </a:rPr>
              <a:t>Обратная механика подбора: работодатель ищет, кандидат выбирает</a:t>
            </a:r>
            <a:endParaRPr/>
          </a:p>
        </p:txBody>
      </p:sp>
      <p:sp>
        <p:nvSpPr>
          <p:cNvPr id="237" name="Google Shape;237;p1"/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fmla="val 9821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8" name="Google Shape;23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075" y="631174"/>
            <a:ext cx="4905194" cy="620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"/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2"/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2"/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2"/>
          <p:cNvSpPr/>
          <p:nvPr/>
        </p:nvSpPr>
        <p:spPr>
          <a:xfrm>
            <a:off x="346075" y="324550"/>
            <a:ext cx="3534300" cy="621000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2"/>
          <p:cNvSpPr/>
          <p:nvPr/>
        </p:nvSpPr>
        <p:spPr>
          <a:xfrm>
            <a:off x="5340262" y="1366572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"/>
          <p:cNvSpPr/>
          <p:nvPr/>
        </p:nvSpPr>
        <p:spPr>
          <a:xfrm>
            <a:off x="1541018" y="1366572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51" name="Google Shape;251;p2"/>
          <p:cNvSpPr/>
          <p:nvPr>
            <p:ph idx="1" type="body"/>
          </p:nvPr>
        </p:nvSpPr>
        <p:spPr>
          <a:xfrm>
            <a:off x="616304" y="3286814"/>
            <a:ext cx="3264113" cy="237511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</a:pPr>
            <a:r>
              <a:rPr b="1" lang="ru-RU">
                <a:solidFill>
                  <a:schemeClr val="accent5"/>
                </a:solidFill>
              </a:rPr>
              <a:t>Односторонний поток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Кандидат шлёт отклики в никуда, работодатель тонет в нерелевантных резюме. ТЗ ФСП требует обратную механику: приглашать, а не откликаться.</a:t>
            </a:r>
            <a:endParaRPr/>
          </a:p>
        </p:txBody>
      </p:sp>
      <p:sp>
        <p:nvSpPr>
          <p:cNvPr id="252" name="Google Shape;252;p2"/>
          <p:cNvSpPr/>
          <p:nvPr>
            <p:ph idx="2" type="body"/>
          </p:nvPr>
        </p:nvSpPr>
        <p:spPr>
          <a:xfrm>
            <a:off x="4569890" y="3264544"/>
            <a:ext cx="3264113" cy="237511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</a:pPr>
            <a:r>
              <a:rPr b="1" lang="ru-RU">
                <a:solidFill>
                  <a:schemeClr val="accent5"/>
                </a:solidFill>
              </a:rPr>
              <a:t>Зарплата непрозрачна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Вилку узнают на собеседовании — обе стороны теряют время. ТЗ требует: вилка обязательна и видна кандидату до ответа.</a:t>
            </a:r>
            <a:endParaRPr/>
          </a:p>
        </p:txBody>
      </p:sp>
      <p:sp>
        <p:nvSpPr>
          <p:cNvPr id="253" name="Google Shape;253;p2"/>
          <p:cNvSpPr/>
          <p:nvPr>
            <p:ph idx="3" type="body"/>
          </p:nvPr>
        </p:nvSpPr>
        <p:spPr>
          <a:xfrm>
            <a:off x="8405081" y="3277471"/>
            <a:ext cx="3264113" cy="237511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</a:pPr>
            <a:r>
              <a:rPr b="1" lang="ru-RU">
                <a:solidFill>
                  <a:schemeClr val="accent5"/>
                </a:solidFill>
              </a:rPr>
              <a:t>Навыки по словам резюме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Стаж в годах не равен уровню: заявленный грейд никто не проверяет. Нужна объективная верификация навыков тестом.</a:t>
            </a:r>
            <a:endParaRPr/>
          </a:p>
        </p:txBody>
      </p:sp>
      <p:cxnSp>
        <p:nvCxnSpPr>
          <p:cNvPr id="254" name="Google Shape;254;p2"/>
          <p:cNvCxnSpPr/>
          <p:nvPr/>
        </p:nvCxnSpPr>
        <p:spPr>
          <a:xfrm flipH="1" rot="10800000">
            <a:off x="3041995" y="2120995"/>
            <a:ext cx="2288595" cy="11479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255" name="Google Shape;255;p2"/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256" name="Google Shape;256;p2"/>
            <p:cNvSpPr/>
            <p:nvPr/>
          </p:nvSpPr>
          <p:spPr>
            <a:xfrm>
              <a:off x="3385734" y="2233242"/>
              <a:ext cx="340504" cy="319542"/>
            </a:xfrm>
            <a:custGeom>
              <a:rect b="b" l="l" r="r" t="t"/>
              <a:pathLst>
                <a:path extrusionOk="0" h="9289" w="10122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3420989" y="2296022"/>
              <a:ext cx="143441" cy="113382"/>
            </a:xfrm>
            <a:custGeom>
              <a:rect b="b" l="l" r="r" t="t"/>
              <a:pathLst>
                <a:path extrusionOk="0" h="3296" w="4264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3451433" y="2319276"/>
              <a:ext cx="9655" cy="13966"/>
            </a:xfrm>
            <a:custGeom>
              <a:rect b="b" l="l" r="r" t="t"/>
              <a:pathLst>
                <a:path extrusionOk="0" h="406" w="287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3500312" y="2305344"/>
              <a:ext cx="10428" cy="13966"/>
            </a:xfrm>
            <a:custGeom>
              <a:rect b="b" l="l" r="r" t="t"/>
              <a:pathLst>
                <a:path extrusionOk="0" h="406" w="31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3546769" y="2275038"/>
              <a:ext cx="10462" cy="13966"/>
            </a:xfrm>
            <a:custGeom>
              <a:rect b="b" l="l" r="r" t="t"/>
              <a:pathLst>
                <a:path extrusionOk="0" h="406" w="311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3420989" y="2260280"/>
              <a:ext cx="27282" cy="9873"/>
            </a:xfrm>
            <a:custGeom>
              <a:rect b="b" l="l" r="r" t="t"/>
              <a:pathLst>
                <a:path extrusionOk="0" h="287" w="811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3420989" y="2279131"/>
              <a:ext cx="47298" cy="10698"/>
            </a:xfrm>
            <a:custGeom>
              <a:rect b="b" l="l" r="r" t="t"/>
              <a:pathLst>
                <a:path extrusionOk="0" h="311" w="1406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3640490" y="2276689"/>
              <a:ext cx="31285" cy="54077"/>
            </a:xfrm>
            <a:custGeom>
              <a:rect b="b" l="l" r="r" t="t"/>
              <a:pathLst>
                <a:path extrusionOk="0" h="1572" w="93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3614049" y="2260280"/>
              <a:ext cx="84167" cy="86069"/>
            </a:xfrm>
            <a:custGeom>
              <a:rect b="b" l="l" r="r" t="t"/>
              <a:pathLst>
                <a:path extrusionOk="0" h="2502" w="2502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3610046" y="2358595"/>
              <a:ext cx="45717" cy="10698"/>
            </a:xfrm>
            <a:custGeom>
              <a:rect b="b" l="l" r="r" t="t"/>
              <a:pathLst>
                <a:path extrusionOk="0" h="311" w="1359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3671742" y="2379063"/>
              <a:ext cx="25667" cy="9873"/>
            </a:xfrm>
            <a:custGeom>
              <a:rect b="b" l="l" r="r" t="t"/>
              <a:pathLst>
                <a:path extrusionOk="0" h="287" w="763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3610046" y="2379063"/>
              <a:ext cx="28897" cy="9873"/>
            </a:xfrm>
            <a:custGeom>
              <a:rect b="b" l="l" r="r" t="t"/>
              <a:pathLst>
                <a:path extrusionOk="0" h="287" w="859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3646108" y="2379063"/>
              <a:ext cx="19276" cy="9873"/>
            </a:xfrm>
            <a:custGeom>
              <a:rect b="b" l="l" r="r" t="t"/>
              <a:pathLst>
                <a:path extrusionOk="0" h="287" w="573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3610046" y="2398740"/>
              <a:ext cx="86556" cy="10664"/>
            </a:xfrm>
            <a:custGeom>
              <a:rect b="b" l="l" r="r" t="t"/>
              <a:pathLst>
                <a:path extrusionOk="0" h="310" w="2573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70" name="Google Shape;270;p2"/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271" name="Google Shape;271;p2"/>
            <p:cNvSpPr/>
            <p:nvPr/>
          </p:nvSpPr>
          <p:spPr>
            <a:xfrm>
              <a:off x="4267775" y="2311674"/>
              <a:ext cx="17661" cy="13382"/>
            </a:xfrm>
            <a:custGeom>
              <a:rect b="b" l="l" r="r" t="t"/>
              <a:pathLst>
                <a:path extrusionOk="0" h="389" w="525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4257347" y="2292719"/>
              <a:ext cx="16080" cy="15927"/>
            </a:xfrm>
            <a:custGeom>
              <a:rect b="b" l="l" r="r" t="t"/>
              <a:pathLst>
                <a:path extrusionOk="0" h="463" w="478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4271778" y="2333208"/>
              <a:ext cx="17661" cy="11490"/>
            </a:xfrm>
            <a:custGeom>
              <a:rect b="b" l="l" r="r" t="t"/>
              <a:pathLst>
                <a:path extrusionOk="0" h="334" w="525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4078718" y="2222819"/>
              <a:ext cx="340504" cy="339803"/>
            </a:xfrm>
            <a:custGeom>
              <a:rect b="b" l="l" r="r" t="t"/>
              <a:pathLst>
                <a:path extrusionOk="0" h="9878" w="10122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4123561" y="2296744"/>
              <a:ext cx="170689" cy="161818"/>
            </a:xfrm>
            <a:custGeom>
              <a:rect b="b" l="l" r="r" t="t"/>
              <a:pathLst>
                <a:path extrusionOk="0" h="4704" w="5074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4130793" y="2276448"/>
              <a:ext cx="47298" cy="25662"/>
            </a:xfrm>
            <a:custGeom>
              <a:rect b="b" l="l" r="r" t="t"/>
              <a:pathLst>
                <a:path extrusionOk="0" h="746" w="1406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4137992" y="2301423"/>
              <a:ext cx="25667" cy="16237"/>
            </a:xfrm>
            <a:custGeom>
              <a:rect b="b" l="l" r="r" t="t"/>
              <a:pathLst>
                <a:path extrusionOk="0" h="472" w="763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4161237" y="2507685"/>
              <a:ext cx="35288" cy="9873"/>
            </a:xfrm>
            <a:custGeom>
              <a:rect b="b" l="l" r="r" t="t"/>
              <a:pathLst>
                <a:path extrusionOk="0" h="287" w="1049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4161237" y="2525711"/>
              <a:ext cx="81745" cy="10698"/>
            </a:xfrm>
            <a:custGeom>
              <a:rect b="b" l="l" r="r" t="t"/>
              <a:pathLst>
                <a:path extrusionOk="0" h="311" w="243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80" name="Google Shape;280;p2"/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281" name="Google Shape;281;p2"/>
            <p:cNvSpPr/>
            <p:nvPr/>
          </p:nvSpPr>
          <p:spPr>
            <a:xfrm>
              <a:off x="4754041" y="2231625"/>
              <a:ext cx="340538" cy="322810"/>
            </a:xfrm>
            <a:custGeom>
              <a:rect b="b" l="l" r="r" t="t"/>
              <a:pathLst>
                <a:path extrusionOk="0" h="9384" w="10123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5011219" y="2437234"/>
              <a:ext cx="45683" cy="9873"/>
            </a:xfrm>
            <a:custGeom>
              <a:rect b="b" l="l" r="r" t="t"/>
              <a:pathLst>
                <a:path extrusionOk="0" h="287" w="1358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4976772" y="2455259"/>
              <a:ext cx="80130" cy="10698"/>
            </a:xfrm>
            <a:custGeom>
              <a:rect b="b" l="l" r="r" t="t"/>
              <a:pathLst>
                <a:path extrusionOk="0" h="311" w="2382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4976772" y="2302902"/>
              <a:ext cx="16854" cy="10664"/>
            </a:xfrm>
            <a:custGeom>
              <a:rect b="b" l="l" r="r" t="t"/>
              <a:pathLst>
                <a:path extrusionOk="0" h="310" w="501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5001598" y="2302902"/>
              <a:ext cx="55304" cy="10664"/>
            </a:xfrm>
            <a:custGeom>
              <a:rect b="b" l="l" r="r" t="t"/>
              <a:pathLst>
                <a:path extrusionOk="0" h="310" w="1644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4976772" y="2321719"/>
              <a:ext cx="80130" cy="9873"/>
            </a:xfrm>
            <a:custGeom>
              <a:rect b="b" l="l" r="r" t="t"/>
              <a:pathLst>
                <a:path extrusionOk="0" h="287" w="2382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4976772" y="2352025"/>
              <a:ext cx="80130" cy="65601"/>
            </a:xfrm>
            <a:custGeom>
              <a:rect b="b" l="l" r="r" t="t"/>
              <a:pathLst>
                <a:path extrusionOk="0" h="1907" w="2382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4789296" y="2294680"/>
              <a:ext cx="168267" cy="172069"/>
            </a:xfrm>
            <a:custGeom>
              <a:rect b="b" l="l" r="r" t="t"/>
              <a:pathLst>
                <a:path extrusionOk="0" h="5002" w="5002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4794107" y="2453402"/>
              <a:ext cx="24086" cy="17475"/>
            </a:xfrm>
            <a:custGeom>
              <a:rect b="b" l="l" r="r" t="t"/>
              <a:pathLst>
                <a:path extrusionOk="0" h="508" w="716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4883051" y="2382744"/>
              <a:ext cx="24053" cy="16856"/>
            </a:xfrm>
            <a:custGeom>
              <a:rect b="b" l="l" r="r" t="t"/>
              <a:pathLst>
                <a:path extrusionOk="0" h="490" w="715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4935899" y="2304106"/>
              <a:ext cx="24086" cy="16856"/>
            </a:xfrm>
            <a:custGeom>
              <a:rect b="b" l="l" r="r" t="t"/>
              <a:pathLst>
                <a:path extrusionOk="0" h="490" w="716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ontserrat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92" name="Google Shape;292;p2"/>
          <p:cNvSpPr/>
          <p:nvPr/>
        </p:nvSpPr>
        <p:spPr>
          <a:xfrm>
            <a:off x="9337010" y="1396603"/>
            <a:ext cx="1504594" cy="140116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2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</a:pPr>
            <a:r>
              <a:rPr lang="ru-RU" sz="1600">
                <a:solidFill>
                  <a:schemeClr val="lt1"/>
                </a:solidFill>
              </a:rPr>
              <a:t>Проблема: три боли рынка</a:t>
            </a:r>
            <a:endParaRPr/>
          </a:p>
        </p:txBody>
      </p:sp>
      <p:cxnSp>
        <p:nvCxnSpPr>
          <p:cNvPr id="294" name="Google Shape;294;p2"/>
          <p:cNvCxnSpPr/>
          <p:nvPr/>
        </p:nvCxnSpPr>
        <p:spPr>
          <a:xfrm flipH="1" rot="10800000">
            <a:off x="6843165" y="2119165"/>
            <a:ext cx="2489934" cy="12489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"/>
          <p:cNvSpPr/>
          <p:nvPr/>
        </p:nvSpPr>
        <p:spPr>
          <a:xfrm>
            <a:off x="346075" y="324550"/>
            <a:ext cx="3331200" cy="621000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02" name="Google Shape;302;p3"/>
          <p:cNvSpPr/>
          <p:nvPr>
            <p:ph idx="1" type="body"/>
          </p:nvPr>
        </p:nvSpPr>
        <p:spPr>
          <a:xfrm>
            <a:off x="346075" y="1458075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</a:pPr>
            <a:r>
              <a:rPr b="1" lang="ru-RU" sz="1400">
                <a:solidFill>
                  <a:schemeClr val="accent5"/>
                </a:solidFill>
              </a:rPr>
              <a:t>Запрос работодателя</a:t>
            </a:r>
            <a:endParaRPr/>
          </a:p>
        </p:txBody>
      </p:sp>
      <p:sp>
        <p:nvSpPr>
          <p:cNvPr id="303" name="Google Shape;303;p3"/>
          <p:cNvSpPr txBox="1"/>
          <p:nvPr>
            <p:ph idx="2" type="body"/>
          </p:nvPr>
        </p:nvSpPr>
        <p:spPr>
          <a:xfrm>
            <a:off x="346075" y="1814077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ru-RU" sz="1100">
                <a:solidFill>
                  <a:schemeClr val="dk1"/>
                </a:solidFill>
              </a:rPr>
              <a:t>Свободный текст: «python middle с kubernetes». LLM извлекает структуру — работодатель подтверждает «мы поняли так».</a:t>
            </a:r>
            <a:endParaRPr/>
          </a:p>
        </p:txBody>
      </p:sp>
      <p:sp>
        <p:nvSpPr>
          <p:cNvPr id="304" name="Google Shape;304;p3"/>
          <p:cNvSpPr/>
          <p:nvPr>
            <p:ph idx="3" type="body"/>
          </p:nvPr>
        </p:nvSpPr>
        <p:spPr>
          <a:xfrm>
            <a:off x="4832960" y="1458075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</a:pPr>
            <a:r>
              <a:rPr b="1" lang="ru-RU" sz="1400">
                <a:solidFill>
                  <a:schemeClr val="accent5"/>
                </a:solidFill>
              </a:rPr>
              <a:t>Поиск по категориям</a:t>
            </a:r>
            <a:endParaRPr/>
          </a:p>
        </p:txBody>
      </p:sp>
      <p:sp>
        <p:nvSpPr>
          <p:cNvPr id="305" name="Google Shape;305;p3"/>
          <p:cNvSpPr txBox="1"/>
          <p:nvPr>
            <p:ph idx="4" type="body"/>
          </p:nvPr>
        </p:nvSpPr>
        <p:spPr>
          <a:xfrm>
            <a:off x="4832960" y="1814077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ru-RU" sz="1100">
                <a:solidFill>
                  <a:schemeClr val="dk1"/>
                </a:solidFill>
              </a:rPr>
              <a:t>7 специализаций × 4 грейда; категория = spec × грейд, подтверждённый тестом. Контакты кандидата скрыты.</a:t>
            </a:r>
            <a:endParaRPr/>
          </a:p>
        </p:txBody>
      </p:sp>
      <p:sp>
        <p:nvSpPr>
          <p:cNvPr id="306" name="Google Shape;306;p3"/>
          <p:cNvSpPr/>
          <p:nvPr>
            <p:ph idx="5" type="body"/>
          </p:nvPr>
        </p:nvSpPr>
        <p:spPr>
          <a:xfrm>
            <a:off x="9330862" y="1458075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</a:pPr>
            <a:r>
              <a:rPr b="1" lang="ru-RU" sz="1400">
                <a:solidFill>
                  <a:schemeClr val="accent5"/>
                </a:solidFill>
              </a:rPr>
              <a:t>Объяснимая подборка</a:t>
            </a:r>
            <a:endParaRPr/>
          </a:p>
        </p:txBody>
      </p:sp>
      <p:sp>
        <p:nvSpPr>
          <p:cNvPr id="307" name="Google Shape;307;p3"/>
          <p:cNvSpPr txBox="1"/>
          <p:nvPr>
            <p:ph idx="6" type="body"/>
          </p:nvPr>
        </p:nvSpPr>
        <p:spPr>
          <a:xfrm>
            <a:off x="9330862" y="1814077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ru-RU" sz="1100">
                <a:solidFill>
                  <a:schemeClr val="dk1"/>
                </a:solidFill>
              </a:rPr>
              <a:t>Score = 0.4·тест + 0.3·стек + 0.2·ФСП + 0.1·свежесть; панель «Почему в подборке», виджет «вилка vs рынок».</a:t>
            </a:r>
            <a:endParaRPr/>
          </a:p>
        </p:txBody>
      </p:sp>
      <p:sp>
        <p:nvSpPr>
          <p:cNvPr id="308" name="Google Shape;308;p3"/>
          <p:cNvSpPr/>
          <p:nvPr>
            <p:ph idx="7" type="body"/>
          </p:nvPr>
        </p:nvSpPr>
        <p:spPr>
          <a:xfrm>
            <a:off x="2593517" y="4825338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</a:pPr>
            <a:r>
              <a:rPr b="1" lang="ru-RU" sz="1400">
                <a:solidFill>
                  <a:schemeClr val="accent5"/>
                </a:solidFill>
              </a:rPr>
              <a:t>Приглашение + вилка</a:t>
            </a:r>
            <a:endParaRPr/>
          </a:p>
        </p:txBody>
      </p:sp>
      <p:sp>
        <p:nvSpPr>
          <p:cNvPr id="309" name="Google Shape;309;p3"/>
          <p:cNvSpPr txBox="1"/>
          <p:nvPr>
            <p:ph idx="8" type="body"/>
          </p:nvPr>
        </p:nvSpPr>
        <p:spPr>
          <a:xfrm>
            <a:off x="2593517" y="5181340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ru-RU" sz="1100">
                <a:solidFill>
                  <a:schemeClr val="dk1"/>
                </a:solidFill>
              </a:rPr>
              <a:t>Адресное приглашение с обязательной ЗП-вилкой. Кандидат видит условия до ответа.</a:t>
            </a:r>
            <a:endParaRPr/>
          </a:p>
        </p:txBody>
      </p:sp>
      <p:sp>
        <p:nvSpPr>
          <p:cNvPr id="310" name="Google Shape;310;p3"/>
          <p:cNvSpPr/>
          <p:nvPr>
            <p:ph idx="9" type="body"/>
          </p:nvPr>
        </p:nvSpPr>
        <p:spPr>
          <a:xfrm>
            <a:off x="7080402" y="4825338"/>
            <a:ext cx="2526079" cy="147668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•"/>
            </a:pPr>
            <a:r>
              <a:rPr b="1" lang="ru-RU" sz="1400">
                <a:solidFill>
                  <a:schemeClr val="accent5"/>
                </a:solidFill>
              </a:rPr>
              <a:t>Взаимный выбор</a:t>
            </a:r>
            <a:endParaRPr/>
          </a:p>
        </p:txBody>
      </p:sp>
      <p:sp>
        <p:nvSpPr>
          <p:cNvPr id="311" name="Google Shape;311;p3"/>
          <p:cNvSpPr txBox="1"/>
          <p:nvPr>
            <p:ph idx="13" type="body"/>
          </p:nvPr>
        </p:nvSpPr>
        <p:spPr>
          <a:xfrm>
            <a:off x="7080402" y="5181340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ru-RU" sz="1100">
                <a:solidFill>
                  <a:schemeClr val="dk1"/>
                </a:solidFill>
              </a:rPr>
              <a:t>Кандидат принимает — контакты раскрываются обеим сторонам. Отказ — без последствий и спама.</a:t>
            </a:r>
            <a:endParaRPr/>
          </a:p>
        </p:txBody>
      </p:sp>
      <p:cxnSp>
        <p:nvCxnSpPr>
          <p:cNvPr id="312" name="Google Shape;312;p3"/>
          <p:cNvCxnSpPr/>
          <p:nvPr/>
        </p:nvCxnSpPr>
        <p:spPr>
          <a:xfrm>
            <a:off x="2065940" y="3860224"/>
            <a:ext cx="1332546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3" name="Google Shape;313;p3"/>
          <p:cNvCxnSpPr/>
          <p:nvPr/>
        </p:nvCxnSpPr>
        <p:spPr>
          <a:xfrm>
            <a:off x="4312137" y="3862139"/>
            <a:ext cx="1332546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4" name="Google Shape;314;p3"/>
          <p:cNvCxnSpPr/>
          <p:nvPr/>
        </p:nvCxnSpPr>
        <p:spPr>
          <a:xfrm>
            <a:off x="6558334" y="3862139"/>
            <a:ext cx="1332546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5" name="Google Shape;315;p3"/>
          <p:cNvCxnSpPr/>
          <p:nvPr/>
        </p:nvCxnSpPr>
        <p:spPr>
          <a:xfrm>
            <a:off x="8780467" y="3862139"/>
            <a:ext cx="133254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6" name="Google Shape;316;p3"/>
          <p:cNvCxnSpPr/>
          <p:nvPr/>
        </p:nvCxnSpPr>
        <p:spPr>
          <a:xfrm>
            <a:off x="1609114" y="2934762"/>
            <a:ext cx="1" cy="57328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7" name="Google Shape;317;p3"/>
          <p:cNvCxnSpPr/>
          <p:nvPr/>
        </p:nvCxnSpPr>
        <p:spPr>
          <a:xfrm>
            <a:off x="3855312" y="4216228"/>
            <a:ext cx="1245" cy="57506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8" name="Google Shape;318;p3"/>
          <p:cNvCxnSpPr/>
          <p:nvPr/>
        </p:nvCxnSpPr>
        <p:spPr>
          <a:xfrm>
            <a:off x="6096000" y="2934762"/>
            <a:ext cx="5509" cy="57328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9" name="Google Shape;319;p3"/>
          <p:cNvCxnSpPr/>
          <p:nvPr/>
        </p:nvCxnSpPr>
        <p:spPr>
          <a:xfrm flipH="1">
            <a:off x="8343442" y="4216228"/>
            <a:ext cx="4264" cy="575062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20" name="Google Shape;320;p3"/>
          <p:cNvCxnSpPr/>
          <p:nvPr/>
        </p:nvCxnSpPr>
        <p:spPr>
          <a:xfrm>
            <a:off x="10593901" y="2934762"/>
            <a:ext cx="1" cy="57328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1" name="Google Shape;321;p3"/>
          <p:cNvSpPr/>
          <p:nvPr/>
        </p:nvSpPr>
        <p:spPr>
          <a:xfrm>
            <a:off x="1191126" y="3508049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322" name="Google Shape;322;p3"/>
          <p:cNvSpPr/>
          <p:nvPr/>
        </p:nvSpPr>
        <p:spPr>
          <a:xfrm>
            <a:off x="3412397" y="3506136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323" name="Google Shape;323;p3"/>
          <p:cNvSpPr/>
          <p:nvPr/>
        </p:nvSpPr>
        <p:spPr>
          <a:xfrm>
            <a:off x="5658594" y="3516255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  <p:sp>
        <p:nvSpPr>
          <p:cNvPr id="324" name="Google Shape;324;p3"/>
          <p:cNvSpPr/>
          <p:nvPr/>
        </p:nvSpPr>
        <p:spPr>
          <a:xfrm>
            <a:off x="7889752" y="3506135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/>
          </a:p>
        </p:txBody>
      </p:sp>
      <p:sp>
        <p:nvSpPr>
          <p:cNvPr id="325" name="Google Shape;325;p3"/>
          <p:cNvSpPr/>
          <p:nvPr/>
        </p:nvSpPr>
        <p:spPr>
          <a:xfrm>
            <a:off x="10113012" y="3538626"/>
            <a:ext cx="874814" cy="70817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/>
          </a:p>
        </p:txBody>
      </p:sp>
      <p:sp>
        <p:nvSpPr>
          <p:cNvPr id="326" name="Google Shape;326;p3"/>
          <p:cNvSpPr txBox="1"/>
          <p:nvPr>
            <p:ph type="title"/>
          </p:nvPr>
        </p:nvSpPr>
        <p:spPr>
          <a:xfrm>
            <a:off x="525817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lt1"/>
                </a:solidFill>
              </a:rPr>
              <a:t>Обратная механика</a:t>
            </a:r>
            <a:endParaRPr/>
          </a:p>
        </p:txBody>
      </p:sp>
      <p:sp>
        <p:nvSpPr>
          <p:cNvPr id="327" name="Google Shape;327;p3"/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3"/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3"/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3"/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3"/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fmla="val 10884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4"/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4"/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4"/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4"/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43" name="Google Shape;343;p4"/>
          <p:cNvSpPr txBox="1"/>
          <p:nvPr>
            <p:ph idx="1" type="body"/>
          </p:nvPr>
        </p:nvSpPr>
        <p:spPr>
          <a:xfrm>
            <a:off x="520913" y="2339783"/>
            <a:ext cx="2284071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Тест — 0.40</a:t>
            </a:r>
            <a:endParaRPr/>
          </a:p>
        </p:txBody>
      </p:sp>
      <p:sp>
        <p:nvSpPr>
          <p:cNvPr id="344" name="Google Shape;344;p4"/>
          <p:cNvSpPr txBox="1"/>
          <p:nvPr>
            <p:ph idx="2" type="body"/>
          </p:nvPr>
        </p:nvSpPr>
        <p:spPr>
          <a:xfrm>
            <a:off x="520913" y="3128740"/>
            <a:ext cx="2284071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Подтверждённый грейд и позиция θ внутри полосы. Неподтверждённый — статус «не подтверждён» и потолок в выдаче, но не скрыт.</a:t>
            </a:r>
            <a:endParaRPr/>
          </a:p>
        </p:txBody>
      </p:sp>
      <p:sp>
        <p:nvSpPr>
          <p:cNvPr id="345" name="Google Shape;345;p4"/>
          <p:cNvSpPr txBox="1"/>
          <p:nvPr>
            <p:ph idx="3" type="body"/>
          </p:nvPr>
        </p:nvSpPr>
        <p:spPr>
          <a:xfrm>
            <a:off x="3457903" y="2373557"/>
            <a:ext cx="233741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Стек — 0.30</a:t>
            </a:r>
            <a:endParaRPr/>
          </a:p>
        </p:txBody>
      </p:sp>
      <p:sp>
        <p:nvSpPr>
          <p:cNvPr id="346" name="Google Shape;346;p4"/>
          <p:cNvSpPr txBox="1"/>
          <p:nvPr>
            <p:ph idx="4" type="body"/>
          </p:nvPr>
        </p:nvSpPr>
        <p:spPr>
          <a:xfrm>
            <a:off x="3457903" y="3134070"/>
            <a:ext cx="2337416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Совпадение must/nice навыков потребности, must весят втрое. Никаких навыков «по словам резюме».</a:t>
            </a:r>
            <a:endParaRPr/>
          </a:p>
        </p:txBody>
      </p:sp>
      <p:sp>
        <p:nvSpPr>
          <p:cNvPr id="347" name="Google Shape;347;p4"/>
          <p:cNvSpPr txBox="1"/>
          <p:nvPr>
            <p:ph idx="5" type="body"/>
          </p:nvPr>
        </p:nvSpPr>
        <p:spPr>
          <a:xfrm>
            <a:off x="6456363" y="2379657"/>
            <a:ext cx="2268537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ФСП — 0.20</a:t>
            </a:r>
            <a:endParaRPr/>
          </a:p>
        </p:txBody>
      </p:sp>
      <p:sp>
        <p:nvSpPr>
          <p:cNvPr id="348" name="Google Shape;348;p4"/>
          <p:cNvSpPr txBox="1"/>
          <p:nvPr>
            <p:ph idx="6" type="body"/>
          </p:nvPr>
        </p:nvSpPr>
        <p:spPr>
          <a:xfrm>
            <a:off x="6456363" y="3136604"/>
            <a:ext cx="2268537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Достижения из реестра ФСП бустят ранжирование внутри грейда. Нет истории — ноль без штрафа.</a:t>
            </a:r>
            <a:endParaRPr/>
          </a:p>
        </p:txBody>
      </p:sp>
      <p:sp>
        <p:nvSpPr>
          <p:cNvPr id="349" name="Google Shape;349;p4"/>
          <p:cNvSpPr txBox="1"/>
          <p:nvPr>
            <p:ph idx="7" type="body"/>
          </p:nvPr>
        </p:nvSpPr>
        <p:spPr>
          <a:xfrm>
            <a:off x="9407534" y="2339783"/>
            <a:ext cx="226355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Свежесть — 0.10</a:t>
            </a:r>
            <a:endParaRPr/>
          </a:p>
        </p:txBody>
      </p:sp>
      <p:sp>
        <p:nvSpPr>
          <p:cNvPr id="350" name="Google Shape;350;p4"/>
          <p:cNvSpPr txBox="1"/>
          <p:nvPr>
            <p:ph idx="8" type="body"/>
          </p:nvPr>
        </p:nvSpPr>
        <p:spPr>
          <a:xfrm>
            <a:off x="9407534" y="3128739"/>
            <a:ext cx="2263553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Экспоненциальный декай от активности: тесты, задания, обновления профиля. Рынок видит «живых» кандидатов.</a:t>
            </a:r>
            <a:endParaRPr/>
          </a:p>
        </p:txBody>
      </p:sp>
      <p:sp>
        <p:nvSpPr>
          <p:cNvPr id="351" name="Google Shape;351;p4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lt1"/>
                </a:solidFill>
              </a:rPr>
              <a:t>Механика подбора</a:t>
            </a:r>
            <a:endParaRPr/>
          </a:p>
        </p:txBody>
      </p:sp>
      <p:sp>
        <p:nvSpPr>
          <p:cNvPr id="352" name="Google Shape;352;p4"/>
          <p:cNvSpPr txBox="1"/>
          <p:nvPr>
            <p:ph idx="16" type="body"/>
          </p:nvPr>
        </p:nvSpPr>
        <p:spPr>
          <a:xfrm>
            <a:off x="520913" y="1772416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01</a:t>
            </a:r>
            <a:endParaRPr/>
          </a:p>
        </p:txBody>
      </p:sp>
      <p:sp>
        <p:nvSpPr>
          <p:cNvPr id="353" name="Google Shape;353;p4"/>
          <p:cNvSpPr txBox="1"/>
          <p:nvPr>
            <p:ph idx="17" type="body"/>
          </p:nvPr>
        </p:nvSpPr>
        <p:spPr>
          <a:xfrm>
            <a:off x="3449944" y="1766200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02</a:t>
            </a:r>
            <a:endParaRPr/>
          </a:p>
        </p:txBody>
      </p:sp>
      <p:sp>
        <p:nvSpPr>
          <p:cNvPr id="354" name="Google Shape;354;p4"/>
          <p:cNvSpPr txBox="1"/>
          <p:nvPr>
            <p:ph idx="18" type="body"/>
          </p:nvPr>
        </p:nvSpPr>
        <p:spPr>
          <a:xfrm>
            <a:off x="6456363" y="1766043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03</a:t>
            </a:r>
            <a:endParaRPr/>
          </a:p>
        </p:txBody>
      </p:sp>
      <p:sp>
        <p:nvSpPr>
          <p:cNvPr id="355" name="Google Shape;355;p4"/>
          <p:cNvSpPr txBox="1"/>
          <p:nvPr>
            <p:ph idx="19" type="body"/>
          </p:nvPr>
        </p:nvSpPr>
        <p:spPr>
          <a:xfrm>
            <a:off x="9407534" y="1772416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"/>
          <p:cNvSpPr txBox="1"/>
          <p:nvPr>
            <p:ph type="title"/>
          </p:nvPr>
        </p:nvSpPr>
        <p:spPr>
          <a:xfrm>
            <a:off x="533490" y="370426"/>
            <a:ext cx="5562510" cy="442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accent5"/>
                </a:solidFill>
              </a:rPr>
              <a:t>Грейд — только по адаптивному тесту (CAT-lite)</a:t>
            </a:r>
            <a:endParaRPr/>
          </a:p>
        </p:txBody>
      </p:sp>
      <p:sp>
        <p:nvSpPr>
          <p:cNvPr id="362" name="Google Shape;362;p5"/>
          <p:cNvSpPr txBox="1"/>
          <p:nvPr>
            <p:ph idx="2" type="body"/>
          </p:nvPr>
        </p:nvSpPr>
        <p:spPr>
          <a:xfrm>
            <a:off x="521133" y="169502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>
                <a:solidFill>
                  <a:schemeClr val="dk1"/>
                </a:solidFill>
              </a:rPr>
              <a:t>Параметризованные шаблоны: задание = шаблон + seed, экземпляр у каждого кандидата уникален — пересказ чужого варианта бесполезен.</a:t>
            </a:r>
            <a:endParaRPr/>
          </a:p>
        </p:txBody>
      </p:sp>
      <p:sp>
        <p:nvSpPr>
          <p:cNvPr id="363" name="Google Shape;363;p5"/>
          <p:cNvSpPr txBox="1"/>
          <p:nvPr>
            <p:ph idx="3" type="body"/>
          </p:nvPr>
        </p:nvSpPr>
        <p:spPr>
          <a:xfrm>
            <a:off x="521133" y="2552035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>
                <a:solidFill>
                  <a:schemeClr val="dk1"/>
                </a:solidFill>
              </a:rPr>
              <a:t>IRT-модель: способность θ и сложность β, P(верно) = σ(θ - β); старт — от медианы заявленного грейда.</a:t>
            </a:r>
            <a:endParaRPr/>
          </a:p>
        </p:txBody>
      </p:sp>
      <p:sp>
        <p:nvSpPr>
          <p:cNvPr id="364" name="Google Shape;364;p5"/>
          <p:cNvSpPr txBox="1"/>
          <p:nvPr>
            <p:ph idx="4" type="body"/>
          </p:nvPr>
        </p:nvSpPr>
        <p:spPr>
          <a:xfrm>
            <a:off x="521133" y="3409044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>
                <a:solidFill>
                  <a:schemeClr val="dk1"/>
                </a:solidFill>
              </a:rPr>
              <a:t>Адаптивность: следующий вопрос — с β ближайшей к текущей θ (максимум информации), темы специализации round-robin.</a:t>
            </a:r>
            <a:endParaRPr/>
          </a:p>
        </p:txBody>
      </p:sp>
      <p:sp>
        <p:nvSpPr>
          <p:cNvPr id="365" name="Google Shape;365;p5"/>
          <p:cNvSpPr txBox="1"/>
          <p:nvPr>
            <p:ph idx="5" type="body"/>
          </p:nvPr>
        </p:nvSpPr>
        <p:spPr>
          <a:xfrm>
            <a:off x="521133" y="426605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>
                <a:solidFill>
                  <a:schemeClr val="dk1"/>
                </a:solidFill>
              </a:rPr>
              <a:t>Стоп-правила: 10 вопросов или SE &lt; 0.35 — ранняя уверенность. Грейд присваивается только результатом теста.</a:t>
            </a:r>
            <a:endParaRPr/>
          </a:p>
        </p:txBody>
      </p:sp>
      <p:sp>
        <p:nvSpPr>
          <p:cNvPr id="366" name="Google Shape;366;p5"/>
          <p:cNvSpPr txBox="1"/>
          <p:nvPr>
            <p:ph idx="6" type="body"/>
          </p:nvPr>
        </p:nvSpPr>
        <p:spPr>
          <a:xfrm>
            <a:off x="521133" y="5123063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>
                <a:solidFill>
                  <a:schemeClr val="dk1"/>
                </a:solidFill>
              </a:rPr>
              <a:t>Экспресс для жюри: 4 вопроса, ~3 минуты; полный тест — 10 вопросов. Уверенный результат — предложение повысить грейд.</a:t>
            </a:r>
            <a:endParaRPr/>
          </a:p>
        </p:txBody>
      </p:sp>
      <p:sp>
        <p:nvSpPr>
          <p:cNvPr id="367" name="Google Shape;367;p5"/>
          <p:cNvSpPr txBox="1"/>
          <p:nvPr>
            <p:ph idx="4294967295" type="sldNum"/>
          </p:nvPr>
        </p:nvSpPr>
        <p:spPr>
          <a:xfrm>
            <a:off x="11441475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cxnSp>
        <p:nvCxnSpPr>
          <p:cNvPr id="368" name="Google Shape;368;p5"/>
          <p:cNvCxnSpPr/>
          <p:nvPr/>
        </p:nvCxnSpPr>
        <p:spPr>
          <a:xfrm>
            <a:off x="521133" y="1604660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9" name="Google Shape;369;p5"/>
          <p:cNvCxnSpPr/>
          <p:nvPr/>
        </p:nvCxnSpPr>
        <p:spPr>
          <a:xfrm>
            <a:off x="521133" y="246553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0" name="Google Shape;370;p5"/>
          <p:cNvCxnSpPr/>
          <p:nvPr/>
        </p:nvCxnSpPr>
        <p:spPr>
          <a:xfrm>
            <a:off x="521133" y="334286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1" name="Google Shape;371;p5"/>
          <p:cNvCxnSpPr/>
          <p:nvPr/>
        </p:nvCxnSpPr>
        <p:spPr>
          <a:xfrm>
            <a:off x="521133" y="4183125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2" name="Google Shape;372;p5"/>
          <p:cNvCxnSpPr/>
          <p:nvPr/>
        </p:nvCxnSpPr>
        <p:spPr>
          <a:xfrm>
            <a:off x="521133" y="5048098"/>
            <a:ext cx="1133590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"/>
          <p:cNvSpPr/>
          <p:nvPr/>
        </p:nvSpPr>
        <p:spPr>
          <a:xfrm>
            <a:off x="346075" y="324550"/>
            <a:ext cx="6131100" cy="621000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80" name="Google Shape;380;p6"/>
          <p:cNvSpPr/>
          <p:nvPr>
            <p:ph idx="1" type="body"/>
          </p:nvPr>
        </p:nvSpPr>
        <p:spPr>
          <a:xfrm>
            <a:off x="6755267" y="1343263"/>
            <a:ext cx="4790314" cy="1021701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b="1" lang="ru-RU">
                <a:solidFill>
                  <a:schemeClr val="accent1"/>
                </a:solidFill>
              </a:rPr>
              <a:t>96.7% — стабильность грейда</a:t>
            </a:r>
            <a:endParaRPr/>
          </a:p>
        </p:txBody>
      </p:sp>
      <p:sp>
        <p:nvSpPr>
          <p:cNvPr id="381" name="Google Shape;381;p6"/>
          <p:cNvSpPr txBox="1"/>
          <p:nvPr>
            <p:ph idx="2" type="body"/>
          </p:nvPr>
        </p:nvSpPr>
        <p:spPr>
          <a:xfrm>
            <a:off x="6755267" y="1722800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порог 80% · test-retest, 3 прогона на агента</a:t>
            </a:r>
            <a:endParaRPr/>
          </a:p>
        </p:txBody>
      </p:sp>
      <p:sp>
        <p:nvSpPr>
          <p:cNvPr id="382" name="Google Shape;382;p6"/>
          <p:cNvSpPr/>
          <p:nvPr>
            <p:ph idx="3" type="body"/>
          </p:nvPr>
        </p:nvSpPr>
        <p:spPr>
          <a:xfrm>
            <a:off x="6755267" y="2611824"/>
            <a:ext cx="4790314" cy="1021701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b="1" lang="ru-RU">
                <a:solidFill>
                  <a:schemeClr val="accent1"/>
                </a:solidFill>
              </a:rPr>
              <a:t>0.972 — Spearman</a:t>
            </a:r>
            <a:endParaRPr/>
          </a:p>
        </p:txBody>
      </p:sp>
      <p:sp>
        <p:nvSpPr>
          <p:cNvPr id="383" name="Google Shape;383;p6"/>
          <p:cNvSpPr txBox="1"/>
          <p:nvPr>
            <p:ph idx="4" type="body"/>
          </p:nvPr>
        </p:nvSpPr>
        <p:spPr>
          <a:xfrm>
            <a:off x="6755267" y="299136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порог 0.85 · разделяющая сила θ, 300 синтетических агентов</a:t>
            </a:r>
            <a:endParaRPr/>
          </a:p>
        </p:txBody>
      </p:sp>
      <p:sp>
        <p:nvSpPr>
          <p:cNvPr id="384" name="Google Shape;384;p6"/>
          <p:cNvSpPr/>
          <p:nvPr>
            <p:ph idx="5" type="body"/>
          </p:nvPr>
        </p:nvSpPr>
        <p:spPr>
          <a:xfrm>
            <a:off x="6755267" y="3880385"/>
            <a:ext cx="4790314" cy="1021701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b="1" lang="ru-RU">
                <a:solidFill>
                  <a:schemeClr val="accent1"/>
                </a:solidFill>
              </a:rPr>
              <a:t>0.85 — Precision@5</a:t>
            </a:r>
            <a:endParaRPr/>
          </a:p>
        </p:txBody>
      </p:sp>
      <p:sp>
        <p:nvSpPr>
          <p:cNvPr id="385" name="Google Shape;385;p6"/>
          <p:cNvSpPr txBox="1"/>
          <p:nvPr>
            <p:ph idx="6" type="body"/>
          </p:nvPr>
        </p:nvSpPr>
        <p:spPr>
          <a:xfrm>
            <a:off x="6755267" y="4259922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порог 0.8 · размеченный набор «потребность × кандидаты»</a:t>
            </a:r>
            <a:endParaRPr/>
          </a:p>
        </p:txBody>
      </p:sp>
      <p:sp>
        <p:nvSpPr>
          <p:cNvPr id="386" name="Google Shape;386;p6"/>
          <p:cNvSpPr/>
          <p:nvPr>
            <p:ph idx="7" type="body"/>
          </p:nvPr>
        </p:nvSpPr>
        <p:spPr>
          <a:xfrm>
            <a:off x="6755267" y="5148947"/>
            <a:ext cx="4790314" cy="1021701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</a:pPr>
            <a:r>
              <a:rPr b="1" lang="ru-RU">
                <a:solidFill>
                  <a:schemeClr val="accent1"/>
                </a:solidFill>
              </a:rPr>
              <a:t>212 автотестов · смоук 17 шагов</a:t>
            </a:r>
            <a:endParaRPr/>
          </a:p>
        </p:txBody>
      </p:sp>
      <p:sp>
        <p:nvSpPr>
          <p:cNvPr id="387" name="Google Shape;387;p6"/>
          <p:cNvSpPr txBox="1"/>
          <p:nvPr>
            <p:ph idx="8" type="body"/>
          </p:nvPr>
        </p:nvSpPr>
        <p:spPr>
          <a:xfrm>
            <a:off x="6755267" y="5528484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302 сид-кандидата · ресед одной командой перед защитой</a:t>
            </a:r>
            <a:endParaRPr/>
          </a:p>
        </p:txBody>
      </p:sp>
      <p:graphicFrame>
        <p:nvGraphicFramePr>
          <p:cNvPr id="388" name="Google Shape;388;p6"/>
          <p:cNvGraphicFramePr/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389" name="Google Shape;389;p6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accent5"/>
                </a:solidFill>
              </a:rPr>
              <a:t>Валидация: все метрики выше порогов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"/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99" name="Google Shape;399;p7"/>
          <p:cNvSpPr txBox="1"/>
          <p:nvPr>
            <p:ph idx="1" type="body"/>
          </p:nvPr>
        </p:nvSpPr>
        <p:spPr>
          <a:xfrm>
            <a:off x="780565" y="2493074"/>
            <a:ext cx="2965634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Вход через FSP ID</a:t>
            </a:r>
            <a:endParaRPr/>
          </a:p>
        </p:txBody>
      </p:sp>
      <p:sp>
        <p:nvSpPr>
          <p:cNvPr id="400" name="Google Shape;400;p7"/>
          <p:cNvSpPr txBox="1"/>
          <p:nvPr>
            <p:ph idx="2" type="body"/>
          </p:nvPr>
        </p:nvSpPr>
        <p:spPr>
          <a:xfrm>
            <a:off x="780565" y="3128740"/>
            <a:ext cx="2965633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Мок-OIDC: authorize, код, токен, профиль с достижениями. Боевой Keycloak — замена одним конфигом, backend не меняется.</a:t>
            </a:r>
            <a:endParaRPr/>
          </a:p>
        </p:txBody>
      </p:sp>
      <p:sp>
        <p:nvSpPr>
          <p:cNvPr id="401" name="Google Shape;401;p7"/>
          <p:cNvSpPr txBox="1"/>
          <p:nvPr>
            <p:ph idx="3" type="body"/>
          </p:nvPr>
        </p:nvSpPr>
        <p:spPr>
          <a:xfrm>
            <a:off x="4623178" y="2493074"/>
            <a:ext cx="303489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Честный fsp_score</a:t>
            </a:r>
            <a:endParaRPr/>
          </a:p>
        </p:txBody>
      </p:sp>
      <p:sp>
        <p:nvSpPr>
          <p:cNvPr id="402" name="Google Shape;402;p7"/>
          <p:cNvSpPr txBox="1"/>
          <p:nvPr>
            <p:ph idx="4" type="body"/>
          </p:nvPr>
        </p:nvSpPr>
        <p:spPr>
          <a:xfrm>
            <a:off x="4623178" y="3128740"/>
            <a:ext cx="3034896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По рекомендации ФСП дисциплины не ранжируем: считаем результативность и число, затухание за повторные явки, потолок 1.0. Буст ранжирования, не грейда.</a:t>
            </a:r>
            <a:endParaRPr/>
          </a:p>
        </p:txBody>
      </p:sp>
      <p:sp>
        <p:nvSpPr>
          <p:cNvPr id="403" name="Google Shape;403;p7"/>
          <p:cNvSpPr txBox="1"/>
          <p:nvPr>
            <p:ph idx="5" type="body"/>
          </p:nvPr>
        </p:nvSpPr>
        <p:spPr>
          <a:xfrm>
            <a:off x="8547959" y="2493074"/>
            <a:ext cx="2945464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ru-RU">
                <a:solidFill>
                  <a:schemeClr val="accent5"/>
                </a:solidFill>
              </a:rPr>
              <a:t>Кейс «нет истории»</a:t>
            </a:r>
            <a:endParaRPr/>
          </a:p>
        </p:txBody>
      </p:sp>
      <p:sp>
        <p:nvSpPr>
          <p:cNvPr id="404" name="Google Shape;404;p7"/>
          <p:cNvSpPr txBox="1"/>
          <p:nvPr>
            <p:ph idx="6" type="body"/>
          </p:nvPr>
        </p:nvSpPr>
        <p:spPr>
          <a:xfrm>
            <a:off x="8547959" y="3128740"/>
            <a:ext cx="2945464" cy="2797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404 — первоклассный сценарий: подсказка привязать FSP ID, fsp_score = 0 без штрафа, фильтр «есть достижения» корректно исключает.</a:t>
            </a:r>
            <a:endParaRPr/>
          </a:p>
        </p:txBody>
      </p:sp>
      <p:sp>
        <p:nvSpPr>
          <p:cNvPr id="405" name="Google Shape;405;p7"/>
          <p:cNvSpPr txBox="1"/>
          <p:nvPr>
            <p:ph type="title"/>
          </p:nvPr>
        </p:nvSpPr>
        <p:spPr>
          <a:xfrm>
            <a:off x="377691" y="335426"/>
            <a:ext cx="113313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accent5"/>
                </a:solidFill>
              </a:rPr>
              <a:t>Интеграция с ФСП: от мока к боевому реестру</a:t>
            </a:r>
            <a:endParaRPr/>
          </a:p>
        </p:txBody>
      </p:sp>
      <p:sp>
        <p:nvSpPr>
          <p:cNvPr id="406" name="Google Shape;406;p7"/>
          <p:cNvSpPr txBox="1"/>
          <p:nvPr>
            <p:ph idx="16" type="body"/>
          </p:nvPr>
        </p:nvSpPr>
        <p:spPr>
          <a:xfrm>
            <a:off x="780565" y="1772415"/>
            <a:ext cx="1311031" cy="601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01</a:t>
            </a:r>
            <a:endParaRPr/>
          </a:p>
        </p:txBody>
      </p:sp>
      <p:sp>
        <p:nvSpPr>
          <p:cNvPr id="407" name="Google Shape;407;p7"/>
          <p:cNvSpPr txBox="1"/>
          <p:nvPr>
            <p:ph idx="17" type="body"/>
          </p:nvPr>
        </p:nvSpPr>
        <p:spPr>
          <a:xfrm>
            <a:off x="4615219" y="1766200"/>
            <a:ext cx="1311031" cy="572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02</a:t>
            </a:r>
            <a:endParaRPr/>
          </a:p>
        </p:txBody>
      </p:sp>
      <p:sp>
        <p:nvSpPr>
          <p:cNvPr id="408" name="Google Shape;408;p7"/>
          <p:cNvSpPr txBox="1"/>
          <p:nvPr>
            <p:ph idx="18" type="body"/>
          </p:nvPr>
        </p:nvSpPr>
        <p:spPr>
          <a:xfrm>
            <a:off x="8547959" y="1766043"/>
            <a:ext cx="1311031" cy="57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b="1" lang="ru-RU">
                <a:solidFill>
                  <a:schemeClr val="accent1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"/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5" name="Google Shape;415;p8" title="Снимок экрана от 2026-09-14 19-45-26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27462" l="0" r="0" t="27467"/>
          <a:stretch/>
        </p:blipFill>
        <p:spPr>
          <a:xfrm>
            <a:off x="0" y="335267"/>
            <a:ext cx="6456300" cy="2971801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8"/>
          <p:cNvSpPr txBox="1"/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Краткое описание решения:</a:t>
            </a:r>
            <a:endParaRPr/>
          </a:p>
        </p:txBody>
      </p:sp>
      <p:sp>
        <p:nvSpPr>
          <p:cNvPr id="417" name="Google Shape;417;p8"/>
          <p:cNvSpPr txBox="1"/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Обратная механика с обязательной вилкой и скрытыми до принятия контактами; грейд только по адаптивному IRT-тесту; достижения ФСП в скоринге; полностью объяснимая выдача «почему в подборке».</a:t>
            </a:r>
            <a:endParaRPr/>
          </a:p>
        </p:txBody>
      </p:sp>
      <p:sp>
        <p:nvSpPr>
          <p:cNvPr id="418" name="Google Shape;418;p8"/>
          <p:cNvSpPr txBox="1"/>
          <p:nvPr/>
        </p:nvSpPr>
        <p:spPr>
          <a:xfrm>
            <a:off x="334962" y="3883009"/>
            <a:ext cx="5629800" cy="23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Капитан: </a:t>
            </a: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Хакимов Илья Александрович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Кол-во участников: </a:t>
            </a: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 человека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Краткое описание: 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📫"/>
            </a:pPr>
            <a:r>
              <a:rPr b="0" i="1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собрались на хакатоне ЛЦТ 2026; до этого вместе </a:t>
            </a:r>
            <a:r>
              <a:rPr i="1" lang="ru-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учились и участвовали в хакатонах, в том числе от ФСП ))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📫"/>
            </a:pPr>
            <a:r>
              <a:rPr b="0" i="1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Илья — PiratePress / ИТМО; Денис — Яндекс / МАИ</a:t>
            </a:r>
            <a:endParaRPr/>
          </a:p>
          <a:p>
            <a:pPr indent="-144688" lvl="0" marL="14468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1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Город и регион:</a:t>
            </a:r>
            <a:r>
              <a:rPr b="0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 Москва</a:t>
            </a:r>
            <a:endParaRPr/>
          </a:p>
        </p:txBody>
      </p:sp>
      <p:sp>
        <p:nvSpPr>
          <p:cNvPr id="419" name="Google Shape;419;p8"/>
          <p:cNvSpPr txBox="1"/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О команде</a:t>
            </a:r>
            <a:endParaRPr/>
          </a:p>
        </p:txBody>
      </p:sp>
      <p:sp>
        <p:nvSpPr>
          <p:cNvPr id="420" name="Google Shape;420;p8"/>
          <p:cNvSpPr txBox="1"/>
          <p:nvPr>
            <p:ph type="title"/>
          </p:nvPr>
        </p:nvSpPr>
        <p:spPr>
          <a:xfrm>
            <a:off x="6819903" y="1039236"/>
            <a:ext cx="3636703" cy="1015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accent5"/>
                </a:solidFill>
              </a:rPr>
              <a:t>О команде и решении</a:t>
            </a:r>
            <a:endParaRPr/>
          </a:p>
        </p:txBody>
      </p:sp>
      <p:cxnSp>
        <p:nvCxnSpPr>
          <p:cNvPr id="421" name="Google Shape;421;p8"/>
          <p:cNvCxnSpPr/>
          <p:nvPr/>
        </p:nvCxnSpPr>
        <p:spPr>
          <a:xfrm>
            <a:off x="6880774" y="2240031"/>
            <a:ext cx="4884824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22" name="Google Shape;422;p8"/>
          <p:cNvCxnSpPr/>
          <p:nvPr/>
        </p:nvCxnSpPr>
        <p:spPr>
          <a:xfrm>
            <a:off x="6897347" y="4437879"/>
            <a:ext cx="4884824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23" name="Google Shape;423;p8"/>
          <p:cNvCxnSpPr/>
          <p:nvPr/>
        </p:nvCxnSpPr>
        <p:spPr>
          <a:xfrm>
            <a:off x="395833" y="3448639"/>
            <a:ext cx="5700167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4" name="Google Shape;424;p8"/>
          <p:cNvSpPr txBox="1"/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Уникальность решения:</a:t>
            </a:r>
            <a:endParaRPr/>
          </a:p>
        </p:txBody>
      </p:sp>
      <p:sp>
        <p:nvSpPr>
          <p:cNvPr id="425" name="Google Shape;425;p8"/>
          <p:cNvSpPr txBox="1"/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PirateHunter — агрегатор ИТ-вакансий с обратной механикой: работодатель ищет по категориям (7 специализаций × 4 грейда) и шлёт приглашение с обязательной ЗП-вилкой; кандидат выбирает, контакты раскрываются при взаимном интересе.</a:t>
            </a:r>
            <a:endParaRPr/>
          </a:p>
        </p:txBody>
      </p:sp>
      <p:sp>
        <p:nvSpPr>
          <p:cNvPr id="426" name="Google Shape;426;p8"/>
          <p:cNvSpPr txBox="1"/>
          <p:nvPr/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200" u="none" cap="none" strike="noStrike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9"/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9"/>
          <p:cNvSpPr txBox="1"/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Frontend + Design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@BrightOS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+79377808307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Яндекс / МАИ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9"/>
          <p:cNvSpPr txBox="1"/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Денис Шайхльбарин</a:t>
            </a:r>
            <a:endParaRPr/>
          </a:p>
        </p:txBody>
      </p:sp>
      <p:sp>
        <p:nvSpPr>
          <p:cNvPr id="435" name="Google Shape;435;p9"/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fmla="val 982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438" name="Google Shape;438;p9" title="photo_2025-09-03_10-46-44.jp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4931" l="0" r="0" t="4922"/>
          <a:stretch/>
        </p:blipFill>
        <p:spPr>
          <a:xfrm>
            <a:off x="581397" y="1816054"/>
            <a:ext cx="1722566" cy="155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9" title="photo_2025-02-25_15-02-23.jpg"/>
          <p:cNvPicPr preferRelativeResize="0"/>
          <p:nvPr>
            <p:ph idx="3" type="pic"/>
          </p:nvPr>
        </p:nvPicPr>
        <p:blipFill rotWithShape="1">
          <a:blip r:embed="rId5">
            <a:alphaModFix/>
          </a:blip>
          <a:srcRect b="5229" l="0" r="0" t="5229"/>
          <a:stretch/>
        </p:blipFill>
        <p:spPr>
          <a:xfrm>
            <a:off x="2886467" y="1826554"/>
            <a:ext cx="1722566" cy="1542402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9"/>
          <p:cNvSpPr txBox="1"/>
          <p:nvPr>
            <p:ph type="title"/>
          </p:nvPr>
        </p:nvSpPr>
        <p:spPr>
          <a:xfrm>
            <a:off x="518359" y="449787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Команда</a:t>
            </a:r>
            <a:endParaRPr/>
          </a:p>
        </p:txBody>
      </p:sp>
      <p:sp>
        <p:nvSpPr>
          <p:cNvPr id="441" name="Google Shape;441;p9"/>
          <p:cNvSpPr txBox="1"/>
          <p:nvPr>
            <p:ph idx="1" type="body"/>
          </p:nvPr>
        </p:nvSpPr>
        <p:spPr>
          <a:xfrm>
            <a:off x="518360" y="4250028"/>
            <a:ext cx="1894354" cy="16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Капитан · Fullstack + AI Engineer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@ilyakhakimov03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+79871047771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ru-RU" sz="1200">
                <a:solidFill>
                  <a:schemeClr val="dk1"/>
                </a:solidFill>
              </a:rPr>
              <a:t>PiratePress / ИТМО</a:t>
            </a:r>
            <a:endParaRPr/>
          </a:p>
        </p:txBody>
      </p:sp>
      <p:sp>
        <p:nvSpPr>
          <p:cNvPr id="442" name="Google Shape;442;p9"/>
          <p:cNvSpPr txBox="1"/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b="1" i="0" lang="ru-RU" sz="16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Илья Хакимов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0"/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1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450" name="Google Shape;450;p10"/>
          <p:cNvSpPr txBox="1"/>
          <p:nvPr>
            <p:ph type="title"/>
          </p:nvPr>
        </p:nvSpPr>
        <p:spPr>
          <a:xfrm>
            <a:off x="507849" y="449787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История команды</a:t>
            </a:r>
            <a:endParaRPr/>
          </a:p>
        </p:txBody>
      </p:sp>
      <p:sp>
        <p:nvSpPr>
          <p:cNvPr id="451" name="Google Shape;451;p10"/>
          <p:cNvSpPr txBox="1"/>
          <p:nvPr>
            <p:ph idx="1" type="body"/>
          </p:nvPr>
        </p:nvSpPr>
        <p:spPr>
          <a:xfrm>
            <a:off x="533607" y="1602273"/>
            <a:ext cx="4425822" cy="934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Собрались на ЛЦТ 2026, но это не первый общий продукт: до хакатона вместе учились и участвовали в хакатонах, в том числе от ФСП ))</a:t>
            </a:r>
            <a:endParaRPr/>
          </a:p>
        </p:txBody>
      </p:sp>
      <p:sp>
        <p:nvSpPr>
          <p:cNvPr id="452" name="Google Shape;452;p10"/>
          <p:cNvSpPr txBox="1"/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Краткая история команды:</a:t>
            </a:r>
            <a:endParaRPr/>
          </a:p>
        </p:txBody>
      </p:sp>
      <p:sp>
        <p:nvSpPr>
          <p:cNvPr id="453" name="Google Shape;453;p10"/>
          <p:cNvSpPr txBox="1"/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Объективный грейд без эталонной разметки: закрыли параметризованными шаблонами + IRT и синтетической валидацией со своими порогами приёмки.</a:t>
            </a:r>
            <a:endParaRPr/>
          </a:p>
          <a:p>
            <a:pPr indent="-144688" lvl="0" marL="144688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Приватность: ПДн живут только в backend, core работает с анонимными снапшотами — готовый аргумент для 152-ФЗ.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С какими основными сложностями или вызовами </a:t>
            </a:r>
            <a:b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вы столкнулись и как их преодолели?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Задача ФСП бьёт по нашим компетенциям: ИИ-конвейеры, скоринг и честная валидация. Плюс — реальная боль рынка труда, которую хотелось пощупать руками.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Почему вы выбрали именно эту задачу </a:t>
            </a:r>
            <a:b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из предложенных на хакатоне?</a:t>
            </a:r>
            <a:endParaRPr/>
          </a:p>
        </p:txBody>
      </p:sp>
      <p:cxnSp>
        <p:nvCxnSpPr>
          <p:cNvPr id="457" name="Google Shape;457;p10"/>
          <p:cNvCxnSpPr/>
          <p:nvPr/>
        </p:nvCxnSpPr>
        <p:spPr>
          <a:xfrm>
            <a:off x="623888" y="2745691"/>
            <a:ext cx="1123315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58" name="Google Shape;458;p10"/>
          <p:cNvCxnSpPr/>
          <p:nvPr/>
        </p:nvCxnSpPr>
        <p:spPr>
          <a:xfrm>
            <a:off x="623888" y="4407066"/>
            <a:ext cx="1123315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59" name="Google Shape;459;p10"/>
          <p:cNvCxnSpPr/>
          <p:nvPr/>
        </p:nvCxnSpPr>
        <p:spPr>
          <a:xfrm>
            <a:off x="623888" y="1110074"/>
            <a:ext cx="1123315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60" name="Google Shape;460;p10"/>
          <p:cNvSpPr txBox="1"/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1"/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fmla="val 386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fmla="val 340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1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72" name="Google Shape;472;p11"/>
          <p:cNvSpPr txBox="1"/>
          <p:nvPr>
            <p:ph idx="2" type="body"/>
          </p:nvPr>
        </p:nvSpPr>
        <p:spPr>
          <a:xfrm>
            <a:off x="589493" y="1920927"/>
            <a:ext cx="4929861" cy="3868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Три сервиса: backend (FastAPI, JWT, ПДн), hunter_core (CAT-lite IRT-движок, скоринг, валидация), fsp_registry (мок-реестр ФСП за OIDC-адаптером); фронтенд — Next.js с двумя кабинетами.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Score = 0.4·тест + 0.3·стек + 0.2·ФСП + 0.1·свежесть; веса в конфиге, каждый результат с explanation.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LLM-парсинг потребности, разбор и генерация PDF-резюме; подъём стенда — docker compose up -d --build.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Data residency: хостинг и LLM — в ДЦ РФ (Selectel, Cloud.ru Evolution); 152-ФЗ, трансграничной передачи ПДн нет.</a:t>
            </a:r>
            <a:endParaRPr/>
          </a:p>
        </p:txBody>
      </p:sp>
      <p:sp>
        <p:nvSpPr>
          <p:cNvPr id="473" name="Google Shape;473;p11"/>
          <p:cNvSpPr txBox="1"/>
          <p:nvPr>
            <p:ph idx="6" type="body"/>
          </p:nvPr>
        </p:nvSpPr>
        <p:spPr>
          <a:xfrm>
            <a:off x="6513513" y="1920927"/>
            <a:ext cx="4957144" cy="3876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Кандидату: грейд, подтверждённый честным тестом, и приглашения с вилкой зарплаты до ответа.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Работодателю: поиск по категориям и подборка, которую можно объяснить каждой цифрой.</a:t>
            </a:r>
            <a:endParaRPr/>
          </a:p>
          <a:p>
            <a:pPr indent="-144688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Дальше: боевой FSP ID одним конфигом, ATS-ready открытый API, MCP для ИИ-агентов, пилот с ФСП.</a:t>
            </a:r>
            <a:endParaRPr/>
          </a:p>
        </p:txBody>
      </p:sp>
      <p:sp>
        <p:nvSpPr>
          <p:cNvPr id="474" name="Google Shape;474;p11"/>
          <p:cNvSpPr txBox="1"/>
          <p:nvPr>
            <p:ph type="title"/>
          </p:nvPr>
        </p:nvSpPr>
        <p:spPr>
          <a:xfrm>
            <a:off x="525817" y="456851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475" name="Google Shape;475;p11"/>
          <p:cNvSpPr txBox="1"/>
          <p:nvPr>
            <p:ph idx="16" type="body"/>
          </p:nvPr>
        </p:nvSpPr>
        <p:spPr>
          <a:xfrm>
            <a:off x="578063" y="1476583"/>
            <a:ext cx="4929861" cy="5551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ru-RU" sz="2000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476" name="Google Shape;476;p11"/>
          <p:cNvSpPr txBox="1"/>
          <p:nvPr>
            <p:ph idx="18" type="body"/>
          </p:nvPr>
        </p:nvSpPr>
        <p:spPr>
          <a:xfrm>
            <a:off x="6513513" y="1476583"/>
            <a:ext cx="5214724" cy="561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ru-RU" sz="2000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</a:pPr>
            <a:r>
              <a:t/>
            </a:r>
            <a:endParaRPr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2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3" name="Google Shape;48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677" y="945463"/>
            <a:ext cx="4551332" cy="3557363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485" name="Google Shape;485;p12"/>
          <p:cNvSpPr txBox="1"/>
          <p:nvPr>
            <p:ph idx="1" type="body"/>
          </p:nvPr>
        </p:nvSpPr>
        <p:spPr>
          <a:xfrm>
            <a:off x="346075" y="4656083"/>
            <a:ext cx="36267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1 · Работодатель: потребность — подборка с объяснением — приглашение с вилкой ЗП</a:t>
            </a:r>
            <a:endParaRPr/>
          </a:p>
        </p:txBody>
      </p:sp>
      <p:sp>
        <p:nvSpPr>
          <p:cNvPr id="486" name="Google Shape;486;p12"/>
          <p:cNvSpPr txBox="1"/>
          <p:nvPr>
            <p:ph idx="3" type="body"/>
          </p:nvPr>
        </p:nvSpPr>
        <p:spPr>
          <a:xfrm>
            <a:off x="4240502" y="4656083"/>
            <a:ext cx="36267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2 · Кандидат: экспресс-тест 4 вопроса (~3 мин) — категория — приглашение с вилкой крупно</a:t>
            </a:r>
            <a:endParaRPr/>
          </a:p>
        </p:txBody>
      </p:sp>
      <p:sp>
        <p:nvSpPr>
          <p:cNvPr id="487" name="Google Shape;487;p12"/>
          <p:cNvSpPr txBox="1"/>
          <p:nvPr>
            <p:ph idx="4" type="body"/>
          </p:nvPr>
        </p:nvSpPr>
        <p:spPr>
          <a:xfrm>
            <a:off x="8230203" y="4656083"/>
            <a:ext cx="36267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ru-RU">
                <a:solidFill>
                  <a:schemeClr val="dk1"/>
                </a:solidFill>
              </a:rPr>
              <a:t>3 · Сходимость: кандидат принимает — контакты раскрываются обеим сторонам</a:t>
            </a:r>
            <a:endParaRPr/>
          </a:p>
        </p:txBody>
      </p:sp>
      <p:sp>
        <p:nvSpPr>
          <p:cNvPr id="488" name="Google Shape;488;p12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lt1"/>
                </a:solidFill>
              </a:rPr>
              <a:t>Живая демо</a:t>
            </a:r>
            <a:endParaRPr/>
          </a:p>
        </p:txBody>
      </p:sp>
      <p:sp>
        <p:nvSpPr>
          <p:cNvPr id="489" name="Google Shape;489;p12"/>
          <p:cNvSpPr txBox="1"/>
          <p:nvPr/>
        </p:nvSpPr>
        <p:spPr>
          <a:xfrm>
            <a:off x="1834477" y="1336263"/>
            <a:ext cx="40512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piratehunter.fun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вход по e-mail-коду или FSP ID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Демо-аккаунты для жюри: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кандидат с ФСП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кандидат без ФСП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работодатель</a:t>
            </a:r>
            <a:endParaRPr/>
          </a:p>
        </p:txBody>
      </p:sp>
      <p:pic>
        <p:nvPicPr>
          <p:cNvPr id="490" name="Google Shape;490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4634" y="871039"/>
            <a:ext cx="3553921" cy="3553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3"/>
          <p:cNvSpPr/>
          <p:nvPr/>
        </p:nvSpPr>
        <p:spPr>
          <a:xfrm>
            <a:off x="401057" y="4991827"/>
            <a:ext cx="2739249" cy="1364531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3302625" y="4991827"/>
            <a:ext cx="2739249" cy="1364531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6204193" y="4991827"/>
            <a:ext cx="2739249" cy="1364531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9105761" y="4991827"/>
            <a:ext cx="2739249" cy="1364531"/>
          </a:xfrm>
          <a:prstGeom prst="roundRect">
            <a:avLst>
              <a:gd fmla="val 515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1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2" name="Google Shape;502;p13"/>
          <p:cNvSpPr txBox="1"/>
          <p:nvPr>
            <p:ph idx="1" type="body"/>
          </p:nvPr>
        </p:nvSpPr>
        <p:spPr>
          <a:xfrm>
            <a:off x="449155" y="5035451"/>
            <a:ext cx="265808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>
                <a:solidFill>
                  <a:schemeClr val="dk1"/>
                </a:solidFill>
              </a:rPr>
              <a:t>Подборка работодателя</a:t>
            </a:r>
            <a:endParaRPr/>
          </a:p>
        </p:txBody>
      </p:sp>
      <p:sp>
        <p:nvSpPr>
          <p:cNvPr id="503" name="Google Shape;503;p13"/>
          <p:cNvSpPr txBox="1"/>
          <p:nvPr>
            <p:ph idx="6" type="body"/>
          </p:nvPr>
        </p:nvSpPr>
        <p:spPr>
          <a:xfrm>
            <a:off x="3302624" y="5035451"/>
            <a:ext cx="2706185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>
                <a:solidFill>
                  <a:schemeClr val="dk1"/>
                </a:solidFill>
              </a:rPr>
              <a:t>Тест кандидата</a:t>
            </a:r>
            <a:endParaRPr/>
          </a:p>
        </p:txBody>
      </p:sp>
      <p:sp>
        <p:nvSpPr>
          <p:cNvPr id="504" name="Google Shape;504;p13"/>
          <p:cNvSpPr txBox="1"/>
          <p:nvPr>
            <p:ph idx="7" type="body"/>
          </p:nvPr>
        </p:nvSpPr>
        <p:spPr>
          <a:xfrm>
            <a:off x="6204192" y="5035451"/>
            <a:ext cx="2728103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>
                <a:solidFill>
                  <a:schemeClr val="dk1"/>
                </a:solidFill>
              </a:rPr>
              <a:t>Приглашение у кандидата</a:t>
            </a:r>
            <a:endParaRPr/>
          </a:p>
        </p:txBody>
      </p:sp>
      <p:sp>
        <p:nvSpPr>
          <p:cNvPr id="505" name="Google Shape;505;p13"/>
          <p:cNvSpPr txBox="1"/>
          <p:nvPr>
            <p:ph idx="8" type="body"/>
          </p:nvPr>
        </p:nvSpPr>
        <p:spPr>
          <a:xfrm>
            <a:off x="9116535" y="5035451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ru-RU">
                <a:solidFill>
                  <a:schemeClr val="dk1"/>
                </a:solidFill>
              </a:rPr>
              <a:t>Категория кандидата</a:t>
            </a:r>
            <a:endParaRPr/>
          </a:p>
        </p:txBody>
      </p:sp>
      <p:grpSp>
        <p:nvGrpSpPr>
          <p:cNvPr id="506" name="Google Shape;506;p13"/>
          <p:cNvGrpSpPr/>
          <p:nvPr/>
        </p:nvGrpSpPr>
        <p:grpSpPr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507" name="Google Shape;507;p13"/>
            <p:cNvSpPr/>
            <p:nvPr/>
          </p:nvSpPr>
          <p:spPr>
            <a:xfrm>
              <a:off x="5208079" y="1574006"/>
              <a:ext cx="1781175" cy="3705225"/>
            </a:xfrm>
            <a:custGeom>
              <a:rect b="b" l="l" r="r" t="t"/>
              <a:pathLst>
                <a:path extrusionOk="0" h="3705225" w="178117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08" name="Google Shape;508;p13"/>
            <p:cNvSpPr/>
            <p:nvPr/>
          </p:nvSpPr>
          <p:spPr>
            <a:xfrm>
              <a:off x="5274850" y="1574276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09" name="Google Shape;509;p13"/>
            <p:cNvSpPr/>
            <p:nvPr/>
          </p:nvSpPr>
          <p:spPr>
            <a:xfrm>
              <a:off x="5232368" y="1598295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0" name="Google Shape;510;p13"/>
            <p:cNvSpPr/>
            <p:nvPr/>
          </p:nvSpPr>
          <p:spPr>
            <a:xfrm>
              <a:off x="5231225" y="1597057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1" name="Google Shape;511;p13"/>
            <p:cNvSpPr/>
            <p:nvPr/>
          </p:nvSpPr>
          <p:spPr>
            <a:xfrm>
              <a:off x="5274850" y="4979578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2" name="Google Shape;512;p13"/>
            <p:cNvSpPr/>
            <p:nvPr/>
          </p:nvSpPr>
          <p:spPr>
            <a:xfrm>
              <a:off x="6977063" y="2346579"/>
              <a:ext cx="19050" cy="400050"/>
            </a:xfrm>
            <a:custGeom>
              <a:rect b="b" l="l" r="r" t="t"/>
              <a:pathLst>
                <a:path extrusionOk="0" h="400050" w="19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3" name="Google Shape;513;p13"/>
            <p:cNvSpPr/>
            <p:nvPr/>
          </p:nvSpPr>
          <p:spPr>
            <a:xfrm>
              <a:off x="6982778" y="2346674"/>
              <a:ext cx="9525" cy="400050"/>
            </a:xfrm>
            <a:custGeom>
              <a:rect b="b" l="l" r="r" t="t"/>
              <a:pathLst>
                <a:path extrusionOk="0" h="400050" w="9525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4" name="Google Shape;514;p13"/>
            <p:cNvSpPr/>
            <p:nvPr/>
          </p:nvSpPr>
          <p:spPr>
            <a:xfrm>
              <a:off x="5196363" y="2346579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5" name="Google Shape;515;p13"/>
            <p:cNvSpPr/>
            <p:nvPr/>
          </p:nvSpPr>
          <p:spPr>
            <a:xfrm>
              <a:off x="5193506" y="2346674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6" name="Google Shape;516;p13"/>
            <p:cNvSpPr/>
            <p:nvPr/>
          </p:nvSpPr>
          <p:spPr>
            <a:xfrm>
              <a:off x="5201984" y="2346674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7" name="Google Shape;517;p13"/>
            <p:cNvSpPr/>
            <p:nvPr/>
          </p:nvSpPr>
          <p:spPr>
            <a:xfrm>
              <a:off x="519636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8" name="Google Shape;518;p13"/>
            <p:cNvSpPr/>
            <p:nvPr/>
          </p:nvSpPr>
          <p:spPr>
            <a:xfrm>
              <a:off x="5193506" y="2679668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9" name="Google Shape;519;p13"/>
            <p:cNvSpPr/>
            <p:nvPr/>
          </p:nvSpPr>
          <p:spPr>
            <a:xfrm>
              <a:off x="520198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0" name="Google Shape;520;p13"/>
            <p:cNvSpPr/>
            <p:nvPr/>
          </p:nvSpPr>
          <p:spPr>
            <a:xfrm>
              <a:off x="5196364" y="2032159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1" name="Google Shape;521;p13"/>
            <p:cNvSpPr/>
            <p:nvPr/>
          </p:nvSpPr>
          <p:spPr>
            <a:xfrm>
              <a:off x="5193506" y="2032254"/>
              <a:ext cx="9525" cy="152400"/>
            </a:xfrm>
            <a:custGeom>
              <a:rect b="b" l="l" r="r" t="t"/>
              <a:pathLst>
                <a:path extrusionOk="0" h="152400" w="9525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2" name="Google Shape;522;p13"/>
            <p:cNvSpPr/>
            <p:nvPr/>
          </p:nvSpPr>
          <p:spPr>
            <a:xfrm>
              <a:off x="5201984" y="2032254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3" name="Google Shape;523;p13"/>
            <p:cNvSpPr/>
            <p:nvPr/>
          </p:nvSpPr>
          <p:spPr>
            <a:xfrm>
              <a:off x="5989398" y="5260657"/>
              <a:ext cx="219075" cy="19050"/>
            </a:xfrm>
            <a:custGeom>
              <a:rect b="b" l="l" r="r" t="t"/>
              <a:pathLst>
                <a:path extrusionOk="0" h="19050" w="219075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4" name="Google Shape;524;p13"/>
            <p:cNvSpPr/>
            <p:nvPr/>
          </p:nvSpPr>
          <p:spPr>
            <a:xfrm>
              <a:off x="5865400" y="1648968"/>
              <a:ext cx="457200" cy="142875"/>
            </a:xfrm>
            <a:custGeom>
              <a:rect b="b" l="l" r="r" t="t"/>
              <a:pathLst>
                <a:path extrusionOk="0" h="142875" w="45720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5" name="Google Shape;525;p13"/>
            <p:cNvSpPr/>
            <p:nvPr/>
          </p:nvSpPr>
          <p:spPr>
            <a:xfrm>
              <a:off x="6202585" y="168554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526" name="Google Shape;52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10967" y="1694212"/>
              <a:ext cx="57150" cy="47625"/>
            </a:xfrm>
            <a:custGeom>
              <a:rect b="b" l="l" r="r" t="t"/>
              <a:pathLst>
                <a:path extrusionOk="0" h="47625" w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527" name="Google Shape;527;p13"/>
            <p:cNvSpPr/>
            <p:nvPr/>
          </p:nvSpPr>
          <p:spPr>
            <a:xfrm>
              <a:off x="6214777" y="1697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8" name="Google Shape;528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9" name="Google Shape;529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0" name="Google Shape;530;p13"/>
            <p:cNvSpPr/>
            <p:nvPr/>
          </p:nvSpPr>
          <p:spPr>
            <a:xfrm>
              <a:off x="6233636" y="1716215"/>
              <a:ext cx="19050" cy="19050"/>
            </a:xfrm>
            <a:custGeom>
              <a:rect b="b" l="l" r="r" t="t"/>
              <a:pathLst>
                <a:path extrusionOk="0" h="19050" w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31" name="Google Shape;531;p13"/>
          <p:cNvGrpSpPr/>
          <p:nvPr/>
        </p:nvGrpSpPr>
        <p:grpSpPr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532" name="Google Shape;532;p13"/>
            <p:cNvSpPr/>
            <p:nvPr/>
          </p:nvSpPr>
          <p:spPr>
            <a:xfrm>
              <a:off x="5208079" y="1574006"/>
              <a:ext cx="1781175" cy="3705225"/>
            </a:xfrm>
            <a:custGeom>
              <a:rect b="b" l="l" r="r" t="t"/>
              <a:pathLst>
                <a:path extrusionOk="0" h="3705225" w="178117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3" name="Google Shape;533;p13"/>
            <p:cNvSpPr/>
            <p:nvPr/>
          </p:nvSpPr>
          <p:spPr>
            <a:xfrm>
              <a:off x="5274850" y="1574276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4" name="Google Shape;534;p13"/>
            <p:cNvSpPr/>
            <p:nvPr/>
          </p:nvSpPr>
          <p:spPr>
            <a:xfrm>
              <a:off x="5232368" y="1598295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5" name="Google Shape;535;p13"/>
            <p:cNvSpPr/>
            <p:nvPr/>
          </p:nvSpPr>
          <p:spPr>
            <a:xfrm>
              <a:off x="5231225" y="1597057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6" name="Google Shape;536;p13"/>
            <p:cNvSpPr/>
            <p:nvPr/>
          </p:nvSpPr>
          <p:spPr>
            <a:xfrm>
              <a:off x="5274850" y="4979578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7" name="Google Shape;537;p13"/>
            <p:cNvSpPr/>
            <p:nvPr/>
          </p:nvSpPr>
          <p:spPr>
            <a:xfrm>
              <a:off x="6977063" y="2346579"/>
              <a:ext cx="19050" cy="400050"/>
            </a:xfrm>
            <a:custGeom>
              <a:rect b="b" l="l" r="r" t="t"/>
              <a:pathLst>
                <a:path extrusionOk="0" h="400050" w="19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8" name="Google Shape;538;p13"/>
            <p:cNvSpPr/>
            <p:nvPr/>
          </p:nvSpPr>
          <p:spPr>
            <a:xfrm>
              <a:off x="6982778" y="2346674"/>
              <a:ext cx="9525" cy="400050"/>
            </a:xfrm>
            <a:custGeom>
              <a:rect b="b" l="l" r="r" t="t"/>
              <a:pathLst>
                <a:path extrusionOk="0" h="400050" w="9525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5196363" y="2346579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5193506" y="2346674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5201984" y="2346674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519636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3" name="Google Shape;543;p13"/>
            <p:cNvSpPr/>
            <p:nvPr/>
          </p:nvSpPr>
          <p:spPr>
            <a:xfrm>
              <a:off x="5193506" y="2679668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4" name="Google Shape;544;p13"/>
            <p:cNvSpPr/>
            <p:nvPr/>
          </p:nvSpPr>
          <p:spPr>
            <a:xfrm>
              <a:off x="520198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5196364" y="2032159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5193506" y="2032254"/>
              <a:ext cx="9525" cy="152400"/>
            </a:xfrm>
            <a:custGeom>
              <a:rect b="b" l="l" r="r" t="t"/>
              <a:pathLst>
                <a:path extrusionOk="0" h="152400" w="9525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5201984" y="2032254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5989398" y="5260657"/>
              <a:ext cx="219075" cy="19050"/>
            </a:xfrm>
            <a:custGeom>
              <a:rect b="b" l="l" r="r" t="t"/>
              <a:pathLst>
                <a:path extrusionOk="0" h="19050" w="219075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5865400" y="1648968"/>
              <a:ext cx="457200" cy="142875"/>
            </a:xfrm>
            <a:custGeom>
              <a:rect b="b" l="l" r="r" t="t"/>
              <a:pathLst>
                <a:path extrusionOk="0" h="142875" w="45720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6202585" y="168554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551" name="Google Shape;551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10967" y="1694212"/>
              <a:ext cx="57150" cy="47625"/>
            </a:xfrm>
            <a:custGeom>
              <a:rect b="b" l="l" r="r" t="t"/>
              <a:pathLst>
                <a:path extrusionOk="0" h="47625" w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552" name="Google Shape;552;p13"/>
            <p:cNvSpPr/>
            <p:nvPr/>
          </p:nvSpPr>
          <p:spPr>
            <a:xfrm>
              <a:off x="6214777" y="1697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3" name="Google Shape;553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4" name="Google Shape;554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5" name="Google Shape;555;p13"/>
            <p:cNvSpPr/>
            <p:nvPr/>
          </p:nvSpPr>
          <p:spPr>
            <a:xfrm>
              <a:off x="6233636" y="1716215"/>
              <a:ext cx="19050" cy="19050"/>
            </a:xfrm>
            <a:custGeom>
              <a:rect b="b" l="l" r="r" t="t"/>
              <a:pathLst>
                <a:path extrusionOk="0" h="19050" w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56" name="Google Shape;556;p13"/>
          <p:cNvGrpSpPr/>
          <p:nvPr/>
        </p:nvGrpSpPr>
        <p:grpSpPr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557" name="Google Shape;557;p13"/>
            <p:cNvSpPr/>
            <p:nvPr/>
          </p:nvSpPr>
          <p:spPr>
            <a:xfrm>
              <a:off x="5208079" y="1574006"/>
              <a:ext cx="1781175" cy="3705225"/>
            </a:xfrm>
            <a:custGeom>
              <a:rect b="b" l="l" r="r" t="t"/>
              <a:pathLst>
                <a:path extrusionOk="0" h="3705225" w="178117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8" name="Google Shape;558;p13"/>
            <p:cNvSpPr/>
            <p:nvPr/>
          </p:nvSpPr>
          <p:spPr>
            <a:xfrm>
              <a:off x="5274850" y="1574276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5232368" y="1598295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0" name="Google Shape;560;p13"/>
            <p:cNvSpPr/>
            <p:nvPr/>
          </p:nvSpPr>
          <p:spPr>
            <a:xfrm>
              <a:off x="5231225" y="1597057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1" name="Google Shape;561;p13"/>
            <p:cNvSpPr/>
            <p:nvPr/>
          </p:nvSpPr>
          <p:spPr>
            <a:xfrm>
              <a:off x="5274850" y="4979578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2" name="Google Shape;562;p13"/>
            <p:cNvSpPr/>
            <p:nvPr/>
          </p:nvSpPr>
          <p:spPr>
            <a:xfrm>
              <a:off x="6977063" y="2346579"/>
              <a:ext cx="19050" cy="400050"/>
            </a:xfrm>
            <a:custGeom>
              <a:rect b="b" l="l" r="r" t="t"/>
              <a:pathLst>
                <a:path extrusionOk="0" h="400050" w="19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3" name="Google Shape;563;p13"/>
            <p:cNvSpPr/>
            <p:nvPr/>
          </p:nvSpPr>
          <p:spPr>
            <a:xfrm>
              <a:off x="6982778" y="2346674"/>
              <a:ext cx="9525" cy="400050"/>
            </a:xfrm>
            <a:custGeom>
              <a:rect b="b" l="l" r="r" t="t"/>
              <a:pathLst>
                <a:path extrusionOk="0" h="400050" w="9525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4" name="Google Shape;564;p13"/>
            <p:cNvSpPr/>
            <p:nvPr/>
          </p:nvSpPr>
          <p:spPr>
            <a:xfrm>
              <a:off x="5196363" y="2346579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5" name="Google Shape;565;p13"/>
            <p:cNvSpPr/>
            <p:nvPr/>
          </p:nvSpPr>
          <p:spPr>
            <a:xfrm>
              <a:off x="5193506" y="2346674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6" name="Google Shape;566;p13"/>
            <p:cNvSpPr/>
            <p:nvPr/>
          </p:nvSpPr>
          <p:spPr>
            <a:xfrm>
              <a:off x="5201984" y="2346674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7" name="Google Shape;567;p13"/>
            <p:cNvSpPr/>
            <p:nvPr/>
          </p:nvSpPr>
          <p:spPr>
            <a:xfrm>
              <a:off x="519636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8" name="Google Shape;568;p13"/>
            <p:cNvSpPr/>
            <p:nvPr/>
          </p:nvSpPr>
          <p:spPr>
            <a:xfrm>
              <a:off x="5193506" y="2679668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9" name="Google Shape;569;p13"/>
            <p:cNvSpPr/>
            <p:nvPr/>
          </p:nvSpPr>
          <p:spPr>
            <a:xfrm>
              <a:off x="520198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0" name="Google Shape;570;p13"/>
            <p:cNvSpPr/>
            <p:nvPr/>
          </p:nvSpPr>
          <p:spPr>
            <a:xfrm>
              <a:off x="5196364" y="2032159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1" name="Google Shape;571;p13"/>
            <p:cNvSpPr/>
            <p:nvPr/>
          </p:nvSpPr>
          <p:spPr>
            <a:xfrm>
              <a:off x="5193506" y="2032254"/>
              <a:ext cx="9525" cy="152400"/>
            </a:xfrm>
            <a:custGeom>
              <a:rect b="b" l="l" r="r" t="t"/>
              <a:pathLst>
                <a:path extrusionOk="0" h="152400" w="9525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2" name="Google Shape;572;p13"/>
            <p:cNvSpPr/>
            <p:nvPr/>
          </p:nvSpPr>
          <p:spPr>
            <a:xfrm>
              <a:off x="5201984" y="2032254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3" name="Google Shape;573;p13"/>
            <p:cNvSpPr/>
            <p:nvPr/>
          </p:nvSpPr>
          <p:spPr>
            <a:xfrm>
              <a:off x="5989398" y="5260657"/>
              <a:ext cx="219075" cy="19050"/>
            </a:xfrm>
            <a:custGeom>
              <a:rect b="b" l="l" r="r" t="t"/>
              <a:pathLst>
                <a:path extrusionOk="0" h="19050" w="219075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4" name="Google Shape;574;p13"/>
            <p:cNvSpPr/>
            <p:nvPr/>
          </p:nvSpPr>
          <p:spPr>
            <a:xfrm>
              <a:off x="5865400" y="1648968"/>
              <a:ext cx="457200" cy="142875"/>
            </a:xfrm>
            <a:custGeom>
              <a:rect b="b" l="l" r="r" t="t"/>
              <a:pathLst>
                <a:path extrusionOk="0" h="142875" w="45720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5" name="Google Shape;575;p13"/>
            <p:cNvSpPr/>
            <p:nvPr/>
          </p:nvSpPr>
          <p:spPr>
            <a:xfrm>
              <a:off x="6202585" y="168554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576" name="Google Shape;57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10967" y="1694212"/>
              <a:ext cx="57150" cy="47625"/>
            </a:xfrm>
            <a:custGeom>
              <a:rect b="b" l="l" r="r" t="t"/>
              <a:pathLst>
                <a:path extrusionOk="0" h="47625" w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577" name="Google Shape;577;p13"/>
            <p:cNvSpPr/>
            <p:nvPr/>
          </p:nvSpPr>
          <p:spPr>
            <a:xfrm>
              <a:off x="6214777" y="1697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8" name="Google Shape;578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0" name="Google Shape;580;p13"/>
            <p:cNvSpPr/>
            <p:nvPr/>
          </p:nvSpPr>
          <p:spPr>
            <a:xfrm>
              <a:off x="6233636" y="1716215"/>
              <a:ext cx="19050" cy="19050"/>
            </a:xfrm>
            <a:custGeom>
              <a:rect b="b" l="l" r="r" t="t"/>
              <a:pathLst>
                <a:path extrusionOk="0" h="19050" w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81" name="Google Shape;581;p13"/>
          <p:cNvGrpSpPr/>
          <p:nvPr/>
        </p:nvGrpSpPr>
        <p:grpSpPr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582" name="Google Shape;582;p13"/>
            <p:cNvSpPr/>
            <p:nvPr/>
          </p:nvSpPr>
          <p:spPr>
            <a:xfrm>
              <a:off x="5208079" y="1574006"/>
              <a:ext cx="1781175" cy="3705225"/>
            </a:xfrm>
            <a:custGeom>
              <a:rect b="b" l="l" r="r" t="t"/>
              <a:pathLst>
                <a:path extrusionOk="0" h="3705225" w="178117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5274850" y="1574276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5232368" y="1598295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5231225" y="1597057"/>
              <a:ext cx="1733550" cy="3657600"/>
            </a:xfrm>
            <a:custGeom>
              <a:rect b="b" l="l" r="r" t="t"/>
              <a:pathLst>
                <a:path extrusionOk="0" h="3657600" w="173355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5274850" y="4979578"/>
              <a:ext cx="1704975" cy="295275"/>
            </a:xfrm>
            <a:custGeom>
              <a:rect b="b" l="l" r="r" t="t"/>
              <a:pathLst>
                <a:path extrusionOk="0" h="295275" w="17049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6977063" y="2346579"/>
              <a:ext cx="19050" cy="400050"/>
            </a:xfrm>
            <a:custGeom>
              <a:rect b="b" l="l" r="r" t="t"/>
              <a:pathLst>
                <a:path extrusionOk="0" h="400050" w="19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6982778" y="2346674"/>
              <a:ext cx="9525" cy="400050"/>
            </a:xfrm>
            <a:custGeom>
              <a:rect b="b" l="l" r="r" t="t"/>
              <a:pathLst>
                <a:path extrusionOk="0" h="400050" w="9525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5196363" y="2346579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5193506" y="2346674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5201984" y="2346674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519636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5193506" y="2679668"/>
              <a:ext cx="9525" cy="276225"/>
            </a:xfrm>
            <a:custGeom>
              <a:rect b="b" l="l" r="r" t="t"/>
              <a:pathLst>
                <a:path extrusionOk="0" h="276225" w="95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5201984" y="2679573"/>
              <a:ext cx="19050" cy="276225"/>
            </a:xfrm>
            <a:custGeom>
              <a:rect b="b" l="l" r="r" t="t"/>
              <a:pathLst>
                <a:path extrusionOk="0" h="276225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5196364" y="2032159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5193506" y="2032254"/>
              <a:ext cx="9525" cy="152400"/>
            </a:xfrm>
            <a:custGeom>
              <a:rect b="b" l="l" r="r" t="t"/>
              <a:pathLst>
                <a:path extrusionOk="0" h="152400" w="9525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7" name="Google Shape;597;p13"/>
            <p:cNvSpPr/>
            <p:nvPr/>
          </p:nvSpPr>
          <p:spPr>
            <a:xfrm>
              <a:off x="5201984" y="2032254"/>
              <a:ext cx="19050" cy="152400"/>
            </a:xfrm>
            <a:custGeom>
              <a:rect b="b" l="l" r="r" t="t"/>
              <a:pathLst>
                <a:path extrusionOk="0" h="152400" w="1905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8" name="Google Shape;598;p13"/>
            <p:cNvSpPr/>
            <p:nvPr/>
          </p:nvSpPr>
          <p:spPr>
            <a:xfrm>
              <a:off x="5989398" y="5260657"/>
              <a:ext cx="219075" cy="19050"/>
            </a:xfrm>
            <a:custGeom>
              <a:rect b="b" l="l" r="r" t="t"/>
              <a:pathLst>
                <a:path extrusionOk="0" h="19050" w="219075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5865400" y="1648968"/>
              <a:ext cx="457200" cy="142875"/>
            </a:xfrm>
            <a:custGeom>
              <a:rect b="b" l="l" r="r" t="t"/>
              <a:pathLst>
                <a:path extrusionOk="0" h="142875" w="45720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6202585" y="1685544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601" name="Google Shape;601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10967" y="1694212"/>
              <a:ext cx="57150" cy="47625"/>
            </a:xfrm>
            <a:custGeom>
              <a:rect b="b" l="l" r="r" t="t"/>
              <a:pathLst>
                <a:path extrusionOk="0" h="47625" w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602" name="Google Shape;602;p13"/>
            <p:cNvSpPr/>
            <p:nvPr/>
          </p:nvSpPr>
          <p:spPr>
            <a:xfrm>
              <a:off x="6214777" y="1697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3" name="Google Shape;603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4" name="Google Shape;604;p13"/>
            <p:cNvSpPr/>
            <p:nvPr/>
          </p:nvSpPr>
          <p:spPr>
            <a:xfrm>
              <a:off x="6216682" y="1699736"/>
              <a:ext cx="38100" cy="38100"/>
            </a:xfrm>
            <a:custGeom>
              <a:rect b="b" l="l" r="r" t="t"/>
              <a:pathLst>
                <a:path extrusionOk="0" h="38100" w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5" name="Google Shape;605;p13"/>
            <p:cNvSpPr/>
            <p:nvPr/>
          </p:nvSpPr>
          <p:spPr>
            <a:xfrm>
              <a:off x="6233636" y="1716215"/>
              <a:ext cx="19050" cy="19050"/>
            </a:xfrm>
            <a:custGeom>
              <a:rect b="b" l="l" r="r" t="t"/>
              <a:pathLst>
                <a:path extrusionOk="0" h="19050" w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06" name="Google Shape;606;p13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b="1" lang="ru-RU" sz="1997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Демо: четыре экрана-победителя</a:t>
            </a:r>
            <a:endParaRPr/>
          </a:p>
        </p:txBody>
      </p:sp>
      <p:sp>
        <p:nvSpPr>
          <p:cNvPr id="607" name="Google Shape;607;p13"/>
          <p:cNvSpPr txBox="1"/>
          <p:nvPr/>
        </p:nvSpPr>
        <p:spPr>
          <a:xfrm>
            <a:off x="1117191" y="1346813"/>
            <a:ext cx="1581822" cy="324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Карточки кандидатов + раскрытая панель «Почему в подборке»: разложение score по факторам с цифрами; виджет «вилка vs рынок».</a:t>
            </a:r>
            <a:endParaRPr/>
          </a:p>
        </p:txBody>
      </p:sp>
      <p:sp>
        <p:nvSpPr>
          <p:cNvPr id="608" name="Google Shape;608;p13"/>
          <p:cNvSpPr txBox="1"/>
          <p:nvPr/>
        </p:nvSpPr>
        <p:spPr>
          <a:xfrm>
            <a:off x="3850724" y="1346813"/>
            <a:ext cx="1581822" cy="324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Прогресс «вопрос i из N», таймер, задание с подсветкой кода — ощущение живого адаптивного экзамена.</a:t>
            </a:r>
            <a:endParaRPr/>
          </a:p>
        </p:txBody>
      </p:sp>
      <p:sp>
        <p:nvSpPr>
          <p:cNvPr id="609" name="Google Shape;609;p13"/>
          <p:cNvSpPr txBox="1"/>
          <p:nvPr/>
        </p:nvSpPr>
        <p:spPr>
          <a:xfrm>
            <a:off x="6819146" y="1346813"/>
            <a:ext cx="1581822" cy="324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Компания, текст и вилка ЗП крупно до ответа, кнопки «принять / отклонить» — отличие от hh одним экраном.</a:t>
            </a:r>
            <a:endParaRPr/>
          </a:p>
        </p:txBody>
      </p:sp>
      <p:sp>
        <p:nvSpPr>
          <p:cNvPr id="610" name="Google Shape;610;p13"/>
          <p:cNvSpPr txBox="1"/>
          <p:nvPr/>
        </p:nvSpPr>
        <p:spPr>
          <a:xfrm>
            <a:off x="9695248" y="1326308"/>
            <a:ext cx="1581822" cy="324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spec × грейд, «подтверждено тестом от …», место в ранжировании категории, достижения ФСП.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4"/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fmla="val 1870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7" name="Google Shape;617;p14"/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8" name="Google Shape;618;p14"/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9" name="Google Shape;619;p14"/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0" name="Google Shape;620;p14"/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1" name="Google Shape;621;p14"/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fmla="val 1633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2" name="Google Shape;622;p14"/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fmla="val 2919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3" name="Google Shape;623;p14"/>
          <p:cNvSpPr txBox="1"/>
          <p:nvPr>
            <p:ph idx="1" type="body"/>
          </p:nvPr>
        </p:nvSpPr>
        <p:spPr>
          <a:xfrm>
            <a:off x="623887" y="1732103"/>
            <a:ext cx="4734175" cy="4139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Соответствие 152-ФЗ: весь контур в РФ — хостинг (Selectel) и LLM (Cloud.ru, ДЦ РФ); ПДн не покидают контур, перед LLM текст обезличен, согласия — в онбординге.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Пилот с ФСП: платформа готова к подключению боевого реестра — меняется только конфиг адаптера, код не трогаем.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Стенд жюри: docker compose up -d --build, ресед одной командой, экспресс-тест своими руками; кабинеты адаптивны — работают с телефона (360px).</a:t>
            </a:r>
            <a:endParaRPr/>
          </a:p>
        </p:txBody>
      </p:sp>
      <p:sp>
        <p:nvSpPr>
          <p:cNvPr id="624" name="Google Shape;624;p14"/>
          <p:cNvSpPr txBox="1"/>
          <p:nvPr>
            <p:ph idx="2" type="body"/>
          </p:nvPr>
        </p:nvSpPr>
        <p:spPr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Боевой FSP ID / Keycloak — замена мока одним конфигом</a:t>
            </a:r>
            <a:endParaRPr/>
          </a:p>
        </p:txBody>
      </p:sp>
      <p:sp>
        <p:nvSpPr>
          <p:cNvPr id="625" name="Google Shape;625;p14"/>
          <p:cNvSpPr txBox="1"/>
          <p:nvPr>
            <p:ph idx="3" type="body"/>
          </p:nvPr>
        </p:nvSpPr>
        <p:spPr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ATS-интеграция и антифрод: открытый API, модерация компаний и лимиты против фиктивных вакансий</a:t>
            </a:r>
            <a:endParaRPr/>
          </a:p>
        </p:txBody>
      </p:sp>
      <p:sp>
        <p:nvSpPr>
          <p:cNvPr id="626" name="Google Shape;626;p14"/>
          <p:cNvSpPr txBox="1"/>
          <p:nvPr>
            <p:ph idx="4" type="body"/>
          </p:nvPr>
        </p:nvSpPr>
        <p:spPr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MCP-сервер: подбор и приглашения из ИИ-агентов</a:t>
            </a:r>
            <a:endParaRPr/>
          </a:p>
        </p:txBody>
      </p:sp>
      <p:sp>
        <p:nvSpPr>
          <p:cNvPr id="627" name="Google Shape;627;p14"/>
          <p:cNvSpPr txBox="1"/>
          <p:nvPr>
            <p:ph idx="5" type="body"/>
          </p:nvPr>
        </p:nvSpPr>
        <p:spPr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Вакансии и отклики кандидатов — инициатива в обе стороны (реализовано)</a:t>
            </a:r>
            <a:endParaRPr/>
          </a:p>
        </p:txBody>
      </p:sp>
      <p:sp>
        <p:nvSpPr>
          <p:cNvPr id="628" name="Google Shape;628;p14"/>
          <p:cNvSpPr txBox="1"/>
          <p:nvPr>
            <p:ph idx="6" type="body"/>
          </p:nvPr>
        </p:nvSpPr>
        <p:spPr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>
                <a:solidFill>
                  <a:schemeClr val="dk1"/>
                </a:solidFill>
              </a:rPr>
              <a:t>Пилот: верификация грейдов на закрытом наборе ФСП</a:t>
            </a:r>
            <a:endParaRPr/>
          </a:p>
        </p:txBody>
      </p:sp>
      <p:sp>
        <p:nvSpPr>
          <p:cNvPr id="629" name="Google Shape;629;p14"/>
          <p:cNvSpPr txBox="1"/>
          <p:nvPr>
            <p:ph idx="4294967295" type="sldNum"/>
          </p:nvPr>
        </p:nvSpPr>
        <p:spPr>
          <a:xfrm>
            <a:off x="11633200" y="6356350"/>
            <a:ext cx="55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accent5"/>
                </a:solidFill>
              </a:rPr>
              <a:t>‹#›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630" name="Google Shape;630;p14"/>
          <p:cNvSpPr txBox="1"/>
          <p:nvPr>
            <p:ph type="title"/>
          </p:nvPr>
        </p:nvSpPr>
        <p:spPr>
          <a:xfrm>
            <a:off x="52581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Montserrat"/>
              <a:buNone/>
            </a:pPr>
            <a:r>
              <a:rPr lang="ru-RU">
                <a:solidFill>
                  <a:schemeClr val="lt1"/>
                </a:solidFill>
              </a:rPr>
              <a:t>Внедрение и пилот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5"/>
          <p:cNvSpPr/>
          <p:nvPr>
            <p:ph idx="2" type="pic"/>
          </p:nvPr>
        </p:nvSpPr>
        <p:spPr>
          <a:xfrm>
            <a:off x="6792000" y="395288"/>
            <a:ext cx="5400000" cy="54000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15"/>
          <p:cNvSpPr txBox="1"/>
          <p:nvPr>
            <p:ph type="ctrTitle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712788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</a:pPr>
            <a:r>
              <a:rPr lang="ru-RU" sz="2800">
                <a:solidFill>
                  <a:srgbClr val="F2F2F2"/>
                </a:solidFill>
              </a:rPr>
              <a:t>Спасибо!</a:t>
            </a:r>
            <a:endParaRPr/>
          </a:p>
        </p:txBody>
      </p:sp>
      <p:sp>
        <p:nvSpPr>
          <p:cNvPr id="638" name="Google Shape;638;p15"/>
          <p:cNvSpPr/>
          <p:nvPr>
            <p:ph idx="3" type="pic"/>
          </p:nvPr>
        </p:nvSpPr>
        <p:spPr>
          <a:xfrm>
            <a:off x="802640" y="2911980"/>
            <a:ext cx="3386773" cy="1082589"/>
          </a:xfrm>
          <a:prstGeom prst="rect">
            <a:avLst/>
          </a:prstGeom>
          <a:noFill/>
          <a:ln>
            <a:noFill/>
          </a:ln>
        </p:spPr>
      </p:sp>
      <p:sp>
        <p:nvSpPr>
          <p:cNvPr id="639" name="Google Shape;639;p15"/>
          <p:cNvSpPr txBox="1"/>
          <p:nvPr>
            <p:ph idx="1" type="body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712788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ru-RU" sz="1800"/>
              <a:t>piratehunter.fun — живой сервис</a:t>
            </a:r>
            <a:endParaRPr/>
          </a:p>
          <a:p>
            <a:pPr indent="712788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ru-RU" sz="1800"/>
              <a:t>вход по e-mail-коду или FSP ID · демо-аккаунты для жюри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2023-05-15T07:36:23Z</dcterms:created>
  <dc:creator>Анастасия Юшкова</dc:creator>
</cp:coreProperties>
</file>
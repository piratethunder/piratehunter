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268" r:id="rId25"/>
    <p:sldId id="267" r:id="rId26"/>
    <p:sldId id="371" r:id="rId17"/>
    <p:sldId id="370" r:id="rId16"/>
    <p:sldId id="266" r:id="rId23"/>
    <p:sldId id="374" r:id="rId18"/>
    <p:sldId id="366" r:id="rId9"/>
    <p:sldId id="362" r:id="rId10"/>
    <p:sldId id="364" r:id="rId11"/>
    <p:sldId id="375" r:id="rId12"/>
    <p:sldId id="269" r:id="rId27"/>
    <p:sldId id="272" r:id="rId30"/>
    <p:sldId id="262" r:id="rId21"/>
    <p:sldId id="376" r:id="rId4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Sheet1!$A$2:$A$4</c:f>
              <c:strCache>
                <c:ptCount val="3"/>
                <c:pt idx="0">
                  <c:v>Стабильность</c:v>
                </c:pt>
                <c:pt idx="1">
                  <c:v>Spearman</c:v>
                </c:pt>
                <c:pt idx="2">
                  <c:v>Precision@5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0.967</c:v>
                </c:pt>
                <c:pt idx="1">
                  <c:v>0.972</c:v>
                </c:pt>
                <c:pt idx="2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ser>
          <c:idx val="2"/>
          <c:order val="1"/>
          <c:tx>
            <c:strRef>
              <c:f>Sheet1!$C$1</c:f>
              <c:strCache>
                <c:ptCount val="1"/>
                <c:pt idx="0">
                  <c:v>Порог приёмки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strRef>
              <c:f>Sheet1!$A$2:$A$4</c:f>
              <c:strCache>
                <c:ptCount val="3"/>
                <c:pt idx="0">
                  <c:v>Стабильность</c:v>
                </c:pt>
                <c:pt idx="1">
                  <c:v>Spearman</c:v>
                </c:pt>
                <c:pt idx="2">
                  <c:v>Precision@5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</c:v>
                </c:pt>
                <c:pt idx="1">
                  <c:v>0.85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3:30–3:38 — Илья — капитан, fullstack и ИИ-инженерия, PiratePress, ИТМО. Денис — фронтенд и дизайн, Яндекс, МАИ.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3:38–3:48 — Команда собралась на этом хакатоне, но пайплайн «запрос → структура → результат» нам знаком по видеопродукту. Главные вызовы: объективный грейд без эталонной разметки — закрыли IRT и синтетической валидацией; и приватность — персональные данные живут только в backend, ядро оперирует анонимными снапшотами.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 — Добрый день! Мы представляем PirateHunter — платформу-агрегатор ИТ-вакансий с верифицированным профилем достижений участников ФСП. Ключевая идея: развернуть рынок труда — не кандидат шлёт отклики, а работодатель находит и приглашает с честной зарплатной вилкой.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0:20–0:50 — Три боли классических агрегаторов. Первое: односторонний поток откликов. Второе: зарплата непрозрачна — вилку узнают на собеседовании. Третье: навыки берутся со слов резюме. Техзадание ФСП формулирует обратную механику, обязательную вилку и верификацию — именно так мы и построили сервис.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0:50–1:30 — Сквозной сценарий из пяти шагов. Работодатель описывает потребность свободным текстом — LLM превращает её в структуру, которую он подтверждает. Дальше поиск по категориям: семь специализаций на четыре грейда. Подборка с объяснением каждой цифры. Приглашение идёт с обязательной вилкой. И только когда кандидат принимает — контакты раскрываются обеим сторонам.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1:30–2:05 — Скоринг четырёхфакторный с фиксированными весами в конфиге: сорок процентов — подтверждённый тест, тридцать — совпадение стека, двадцать — достижения ФСП, десять — свежесть профиля. Каждый результат несёт панель «Почему в подборке» — разложение по факторам с цифрами, а рядом виджет «вилка против рынка по категории»: работодатель видит медиану до отправки приглашения.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2:05–2:35 — Грейд — это уровень навыков, а не стаж в годах, и присваивается он только тестом. Движок — CAT-lite на IRT-модели: оцениваем способность тета и сложность заданий бета, следующий вопрос подбираем максимально информативным. Останавливаемся при десяти вопросах или когда стандартная ошибка ниже ноль тридцати пяти сотых. Шаблоны параметризованные — уникальный экземпляр по сиду, банк пополняется генераторами. Для жюри — экспресс-режим на четыре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2:35–3:00 — Валидация — собственная процедура с порогами, зафиксированными до прогона. Стабильность грейда при повторных тестах — девяносто шесть целых семь десятых процента при пороге восемьдесят. Разделяющая сила по Спирмену — ноль девятьсот семьдесят две сотых при пороге восемьдесят пять сотых. Точность топ-5 подборки — восемьдесят пять сотых при пороге восемь десятых. Плюс двести два автотеста, живой смоук на четырнадцать шагов, триста два сид-кандидата и ресед базы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3:00–3:15 — С Федерацией спортивного программирования связались по всем правилам её же рекомендаций. Вход через FSP ID сейчас идёт через мок-OIDC реестр-адаптер — на боевой Keycloak меняется один конфиг. Дисциплины не ранжируем, набивание явками гасим затуханием. Нет истории — это нормальный первоклассный кейс: без штрафа, с подсказкой привязать идентификатор.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3:15–3:30 — Нас двое: капитан Илья Хакимов — полный цикл и ИИ-конвейеры, Денис Шайхльбарин — фронтенд и дизайн. Суть PirateHunter: работодатель ищет по категориям и приглашает с вилкой, кандидат выбирает. Уникальность: грейд подтверждается только тестом, достижения ФСП работают на ранжирование, а каждая цифра подборки объяснима.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3:48–4:05 — Коротко. Технически: три сервиса — backend с персональными данными, ядро с адаптивным тестом и скорингом, реестр-адаптер ФСП; фронт — Next.js. Маркетингово: кандидат получает подтверждённый грейд и честные приглашения, работодатель — объяснимую подборку. Развитие: боевой ФСП, открытый ATS-API, MCP для агентов,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4:05–4:25 — Демо показываем на живом сервисе piratehunter.fun: вход по почтовому коду или через FSP ID, для жюри — готовые демо-аккаунты. Сценарий: работодатель описывает потребность и получает подборку с объяснением; кандидат проходит экспресс-тест на четыре вопроса и видит приглашение с вилкой; при принятии контакты раскрываются обеим сторонам. База перед защитой возвращается к эталону реседом одной командой.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4:25–4:40 — Четыре экрана, которые мы отполировали в первую очередь. Подборка работодателя с панелью «почему в подборке» и виджетом вилки против рынка. Адаптивный тест с таймером и подсветкой кода. Приглашение с вилкой крупно — принципиальное отличие от привычных агрегаторов. И категория кандидата: подтверждённый тестом грейд и место в ранжировании.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4:40–4:52 — Внедрение: боевой реестр ФСП подключается заменой конфига. Стенд поднимается одной командой docker compose, база реседится к эталону. Дальше — ATS-ready API, MCP для ИИ-агентов, регулярные задания и пилот верификации грейдов.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4:52–5:00 — Спасибо за внимание! Сервис живёт на piratehunter.fun, демо-аккаунты для жюри готовы. Переходим к ответам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/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/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/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p/>
        </p:txBody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PirateHunter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  <a:p>
            <a:r>
              <a:rPr>
                <a:solidFill>
                  <a:schemeClr val="lt1"/>
                </a:solidFill>
              </a:rPr>
              <a:t>Обратная механика подбора: работодатель ищет, кандидат выбирает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Обратная механика с обязательной вилкой и скрытыми до принятия контактами; грейд только по адаптивному IRT-тесту; достижения ФСП в скоринге; полностью объяснимая выдача «почему в подборке».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Хакимов Илья Александрович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собрались на хакатоне ЛЦТ 2026; до этого вместе строили генеративный видеосервис по брифу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Илья — PiratePress / ИТМО; Денис — Яндекс / МАИ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>
                <a:solidFill>
                  <a:schemeClr val="accent5"/>
                </a:solidFill>
              </a:rPr>
              <a:t>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chemeClr val="accent5"/>
                </a:solidFill>
              </a:rPr>
              <a:t>О команде и решении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PirateHunter — агрегатор ИТ-вакансий с обратной механикой: работодатель ищет по категориям (7 специализаций × 4 грейда) и шлёт приглашение с обязательной ЗП-вилкой; кандидат выбирает, контакты раскрываются при взаимном интересе.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Frontend + Design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@BrightOS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+79377808307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Яндекс / МАИ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Денис Шайхльбарин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 · Fullstack + AI Engineer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@ilyakhakimov03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+79871047771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PiratePress / ИТМО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Илья Хакимов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Собрались на ЛЦТ 2026, но это не первый общий продукт: до хакатона вместе строили генеративный видеосервис по брифу — пайплайн «запрос — структура — результат» нам уже знаком.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>
                <a:solidFill>
                  <a:schemeClr val="tx1"/>
                </a:solidFill>
              </a:rPr>
              <a:t>Объективный грейд без эталонной разметки: закрыли параметризованными шаблонами + IRT и синтетической валидацией со своими порогами приёмки.</a:t>
            </a:r>
          </a:p>
          <a:p>
            <a:r>
              <a:rPr>
                <a:solidFill>
                  <a:schemeClr val="tx1"/>
                </a:solidFill>
              </a:rPr>
              <a:t>Приватность: ПДн живут только в backend, core работает с анонимными снапшотами — готовый аргумент для 152-ФЗ.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Задача ФСП бьёт по нашим компетенциям: ИИ-конвейеры, скоринг и честная валидация. Плюс — реальная боль рынка труда, которую хотелось пощупать руками.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>
                <a:solidFill>
                  <a:schemeClr val="tx1"/>
                </a:solidFill>
              </a:rPr>
              <a:t>Три сервиса: backend (FastAPI, JWT, ПДн), hunter_core (CAT-lite IRT-движок, скоринг, валидация), fsp_registry (мок-реестр ФСП за OIDC-адаптером); фронтенд — Next.js с двумя кабинетами.</a:t>
            </a:r>
          </a:p>
          <a:p>
            <a:r>
              <a:rPr>
                <a:solidFill>
                  <a:schemeClr val="tx1"/>
                </a:solidFill>
              </a:rPr>
              <a:t>Score = 0.4·тест + 0.3·стек + 0.2·ФСП + 0.1·свежесть; веса в конфиге, каждый результат с explanation.</a:t>
            </a:r>
          </a:p>
          <a:p>
            <a:r>
              <a:rPr>
                <a:solidFill>
                  <a:schemeClr val="tx1"/>
                </a:solidFill>
              </a:rPr>
              <a:t>LLM-парсинг потребности, разбор и генерация PDF-резюме; подъём стенда — docker compose up -d --build.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>
                <a:solidFill>
                  <a:schemeClr val="tx1"/>
                </a:solidFill>
              </a:rPr>
              <a:t>Кандидату: грейд, подтверждённый честным тестом, и приглашения с вилкой зарплаты до ответа.</a:t>
            </a:r>
          </a:p>
          <a:p>
            <a:r>
              <a:rPr>
                <a:solidFill>
                  <a:schemeClr val="tx1"/>
                </a:solidFill>
              </a:rPr>
              <a:t>Работодателю: поиск по категориям и подборка, которую можно объяснить каждой цифрой.</a:t>
            </a:r>
          </a:p>
          <a:p>
            <a:r>
              <a:rPr>
                <a:solidFill>
                  <a:schemeClr val="tx1"/>
                </a:solidFill>
              </a:rPr>
              <a:t>Дальше: боевой FSP ID одним конфигом, ATS-ready открытый API, MCP для ИИ-агентов, пилот с ФСП.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chemeClr val="accent5"/>
                </a:solidFill>
              </a:rPr>
              <a:t>Грейд — только по адаптивному тесту (CAT-lite)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400">
                <a:solidFill>
                  <a:schemeClr val="tx1"/>
                </a:solidFill>
              </a:rPr>
              <a:t>Параметризованные шаблоны: задание = шаблон + seed, экземпляр у каждого кандидата уникален — пересказ чужого варианта бесполезен.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400">
                <a:solidFill>
                  <a:schemeClr val="tx1"/>
                </a:solidFill>
              </a:rPr>
              <a:t>IRT-модель: способность θ и сложность β, P(верно) = σ(θ - β); старт — от медианы заявленного грейда.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400">
                <a:solidFill>
                  <a:schemeClr val="tx1"/>
                </a:solidFill>
              </a:rPr>
              <a:t>Адаптивность: следующий вопрос — с β ближайшей к текущей θ (максимум информации), темы специализации round-robin.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400">
                <a:solidFill>
                  <a:schemeClr val="tx1"/>
                </a:solidFill>
              </a:rPr>
              <a:t>Стоп-правила: 10 вопросов или SE &lt; 0.35 — ранняя уверенность. Грейд присваивается только результатом теста.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400">
                <a:solidFill>
                  <a:schemeClr val="tx1"/>
                </a:solidFill>
              </a:rPr>
              <a:t>Экспресс для жюри: 4 вопроса, ~3 минуты; полный тест — 10 вопросов. Уверенный результат — предложение повысить грейд.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Тест — 0.40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Подтверждённый грейд и позиция θ внутри полосы. Неподтверждённый — статус «не подтверждён» и потолок в выдаче, но не скрыт.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Стек — 0.30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Совпадение must/nice навыков потребности, must весят втрое. Никаких навыков «по словам резюме».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ФСП — 0.20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Достижения из реестра ФСП бустят ранжирование внутри грейда. Нет истории — ноль без штрафа.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Свежесть — 0.10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Экспоненциальный декай от активности: тесты, задания, обновления профиля. Рынок видит «живых» кандидатов.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chemeClr val="lt1"/>
                </a:solidFill>
              </a:rPr>
              <a:t>Механика подбора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Вход через FSP ID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Мок-OIDC: authorize, код, токен, профиль с достижениями. Боевой Keycloak — замена одним конфигом, backend не меняется.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Честный fsp_score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По рекомендации ФСП дисциплины не ранжируем: считаем результативность и число, затухание за повторные явки, потолок 1.0. Буст ранжирования, не грейда.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Кейс «нет истории»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404 — первоклассный сценарий: подсказка привязать FSP ID, fsp_score = 0 без штрафа, фильтр «есть достижения» корректно исключает.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>
                <a:solidFill>
                  <a:schemeClr val="accent5"/>
                </a:solidFill>
              </a:rPr>
              <a:t>Интеграция с ФСП: от мока к боевому реестру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>
                <a:solidFill>
                  <a:schemeClr val="tx1"/>
                </a:solidFill>
              </a:rPr>
              <a:t>Пилот с ФСП: платформа готова к подключению боевого реестра — меняется только конфиг адаптера, код не трогаем.</a:t>
            </a:r>
          </a:p>
          <a:p/>
          <a:p>
            <a:r>
              <a:rPr>
                <a:solidFill>
                  <a:schemeClr val="tx1"/>
                </a:solidFill>
              </a:rPr>
              <a:t>Стенд жюри: docker compose up -d --build, ресед одной командой, экспресс-тест для прохождения своими руками.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Боевой FSP ID / Keycloak — замена мока одним конфигом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ATS-ready открытый API: синхронизация вакансий и откликов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MCP-сервер: подбор и приглашения из ИИ-агентов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Регулярные задания работодателей — профиль не протухает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Пилот: верификация грейдов на закрытом наборе ФСП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chemeClr val="lt1"/>
                </a:solidFill>
              </a:rPr>
              <a:t>Внедрение и пилот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96.7% — стабильность грейда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порог 80% · test-retest, 3 прогона на агента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0.972 — Spearman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порог 0.85 · разделяющая сила θ, 300 синтетических агентов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0.85 — Precision@5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порог 0.8 · размеченный набор «потребность × кандидаты»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1"/>
                </a:solidFill>
              </a:rPr>
              <a:t>202 автотеста · смоук 14 шагов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r>
              <a:rPr>
                <a:solidFill>
                  <a:schemeClr val="tx1"/>
                </a:solidFill>
              </a:rPr>
              <a:t>302 сид-кандидата · ресед одной командой перед защитой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chemeClr val="accent5"/>
                </a:solidFill>
              </a:rPr>
              <a:t>Валидация: все метрики выше порогов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Односторонний поток</a:t>
            </a:r>
          </a:p>
          <a:p>
            <a:r>
              <a:rPr>
                <a:solidFill>
                  <a:schemeClr val="tx1"/>
                </a:solidFill>
              </a:rPr>
              <a:t>Кандидат шлёт отклики в никуда, работодатель тонет в нерелевантных резюме. ТЗ ФСП требует обратную механику: приглашать, а не откликаться.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Зарплата непрозрачна</a:t>
            </a:r>
          </a:p>
          <a:p>
            <a:r>
              <a:rPr>
                <a:solidFill>
                  <a:schemeClr val="tx1"/>
                </a:solidFill>
              </a:rPr>
              <a:t>Вилку узнают на собеседовании — обе стороны теряют время. ТЗ требует: вилка обязательна и видна кандидату до ответа.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>
                <a:solidFill>
                  <a:schemeClr val="accent5"/>
                </a:solidFill>
              </a:rPr>
              <a:t>Навыки по словам резюме</a:t>
            </a:r>
          </a:p>
          <a:p>
            <a:r>
              <a:rPr>
                <a:solidFill>
                  <a:schemeClr val="tx1"/>
                </a:solidFill>
              </a:rPr>
              <a:t>Стаж в годах не равен уровню: заявленный грейд никто не проверяет. Нужна объективная верификация навыков тестом.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1600">
                <a:solidFill>
                  <a:schemeClr val="lt1"/>
                </a:solidFill>
              </a:rPr>
              <a:t>Проблема: три боли рынка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 sz="1400">
                <a:solidFill>
                  <a:schemeClr val="accent5"/>
                </a:solidFill>
              </a:rPr>
              <a:t>Запрос работодателя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 sz="1100">
                <a:solidFill>
                  <a:schemeClr val="tx1"/>
                </a:solidFill>
              </a:rPr>
              <a:t>Свободный текст: «python middle с kubernetes». LLM извлекает структуру — работодатель подтверждает «мы поняли так».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 sz="1400">
                <a:solidFill>
                  <a:schemeClr val="accent5"/>
                </a:solidFill>
              </a:rPr>
              <a:t>Поиск по категориям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 sz="1100">
                <a:solidFill>
                  <a:schemeClr val="tx1"/>
                </a:solidFill>
              </a:rPr>
              <a:t>7 специализаций × 4 грейда; категория = spec × грейд, подтверждённый тестом. Контакты кандидата скрыты.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 sz="1400">
                <a:solidFill>
                  <a:schemeClr val="accent5"/>
                </a:solidFill>
              </a:rPr>
              <a:t>Объяснимая подборка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 sz="1100">
                <a:solidFill>
                  <a:schemeClr val="tx1"/>
                </a:solidFill>
              </a:rPr>
              <a:t>Score = 0.4·тест + 0.3·стек + 0.2·ФСП + 0.1·свежесть; панель «Почему в подборке», виджет «вилка vs рынок».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 sz="1400">
                <a:solidFill>
                  <a:schemeClr val="accent5"/>
                </a:solidFill>
              </a:rPr>
              <a:t>Приглашение + вилка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 sz="1100">
                <a:solidFill>
                  <a:schemeClr val="tx1"/>
                </a:solidFill>
              </a:rPr>
              <a:t>Адресное приглашение с обязательной ЗП-вилкой. Кандидат видит условия до ответа.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b="1" sz="1400">
                <a:solidFill>
                  <a:schemeClr val="accent5"/>
                </a:solidFill>
              </a:rPr>
              <a:t>Взаимный выбор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 sz="1100">
                <a:solidFill>
                  <a:schemeClr val="tx1"/>
                </a:solidFill>
              </a:rPr>
              <a:t>Кандидат принимает — контакты раскрываются обеим сторонам. Отказ — без последствий и спама.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chemeClr val="lt1"/>
                </a:solidFill>
              </a:rPr>
              <a:t>Обратная механика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</a:rPr>
              <a:t>1 · Работодатель: потребность — подборка с объяснением — приглашение с вилкой ЗП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</a:rPr>
              <a:t>2 · Кандидат: экспресс-тест 4 вопроса (~3 мин) — категория — приглашение с вилкой крупно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>
                <a:solidFill>
                  <a:schemeClr val="tx1"/>
                </a:solidFill>
              </a:rPr>
              <a:t>3 · Сходимость: кандидат принимает — контакты раскрываются обеим сторонам</a:t>
            </a: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>
                <a:solidFill>
                  <a:schemeClr val="lt1"/>
                </a:solidFill>
              </a:rPr>
              <a:t>Живая демо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8252" y="1204538"/>
            <a:ext cx="4051334" cy="29573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b="0" sz="1600">
                <a:solidFill>
                  <a:schemeClr val="tx1"/>
                </a:solidFill>
              </a:rPr>
              <a:t>piratehunter.fun</a:t>
            </a:r>
          </a:p>
          <a:p>
            <a:pPr algn="ctr"/>
          </a:p>
          <a:p>
            <a:pPr algn="ctr"/>
            <a:r>
              <a:rPr b="0" sz="1600">
                <a:solidFill>
                  <a:schemeClr val="tx1"/>
                </a:solidFill>
              </a:rPr>
              <a:t>вход по e-mail-коду или FSP ID</a:t>
            </a:r>
          </a:p>
          <a:p>
            <a:pPr algn="ctr"/>
          </a:p>
          <a:p>
            <a:pPr algn="ctr"/>
            <a:r>
              <a:rPr b="0" sz="1600">
                <a:solidFill>
                  <a:schemeClr val="tx1"/>
                </a:solidFill>
              </a:rPr>
              <a:t>Демо-аккаунты для жюри:</a:t>
            </a:r>
          </a:p>
          <a:p>
            <a:pPr algn="ctr"/>
            <a:r>
              <a:rPr b="0" sz="1600">
                <a:solidFill>
                  <a:schemeClr val="tx1"/>
                </a:solidFill>
              </a:rPr>
              <a:t>кандидат с ФСП</a:t>
            </a:r>
          </a:p>
          <a:p>
            <a:pPr algn="ctr"/>
            <a:r>
              <a:rPr b="0" sz="1600">
                <a:solidFill>
                  <a:schemeClr val="tx1"/>
                </a:solidFill>
              </a:rPr>
              <a:t>кандидат без ФСП</a:t>
            </a:r>
          </a:p>
          <a:p>
            <a:pPr algn="ctr"/>
            <a:r>
              <a:rPr b="0" sz="1600">
                <a:solidFill>
                  <a:schemeClr val="tx1"/>
                </a:solidFill>
              </a:rPr>
              <a:t>работодатель</a:t>
            </a: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/>
          <a:lstStyle/>
          <a:p>
            <a:r>
              <a:rPr b="1">
                <a:solidFill>
                  <a:schemeClr val="tx1"/>
                </a:solidFill>
              </a:rPr>
              <a:t>Подборка работодателя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/>
          <a:lstStyle/>
          <a:p>
            <a:r>
              <a:rPr b="1">
                <a:solidFill>
                  <a:schemeClr val="tx1"/>
                </a:solidFill>
              </a:rPr>
              <a:t>Тест кандидата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/>
          <a:lstStyle/>
          <a:p>
            <a:r>
              <a:rPr b="1">
                <a:solidFill>
                  <a:schemeClr val="tx1"/>
                </a:solidFill>
              </a:rPr>
              <a:t>Приглашение у кандидата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/>
          <a:lstStyle/>
          <a:p>
            <a:r>
              <a:rPr b="1">
                <a:solidFill>
                  <a:schemeClr val="tx1"/>
                </a:solidFill>
              </a:rPr>
              <a:t>Категория кандидата</a:t>
            </a: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Демо: четыре экрана-победителя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17191" y="1346813"/>
            <a:ext cx="1581822" cy="3245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100">
                <a:solidFill>
                  <a:schemeClr val="lt1"/>
                </a:solidFill>
              </a:rPr>
              <a:t>Карточки кандидатов + раскрытая панель «Почему в подборке»: разложение score по факторам с цифрами; виджет «вилка vs рынок».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850724" y="1346813"/>
            <a:ext cx="1581822" cy="3245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100">
                <a:solidFill>
                  <a:schemeClr val="lt1"/>
                </a:solidFill>
              </a:rPr>
              <a:t>Прогресс «вопрос i из N», таймер, задание с подсветкой кода — ощущение живого адаптивного экзамена.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6819146" y="1346813"/>
            <a:ext cx="1581822" cy="3245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100">
                <a:solidFill>
                  <a:schemeClr val="lt1"/>
                </a:solidFill>
              </a:rPr>
              <a:t>Компания, текст и вилка ЗП крупно до ответа, кнопки «принять / отклонить» — отличие от hh одним экраном.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9695248" y="1326308"/>
            <a:ext cx="1581822" cy="3245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0" sz="1100">
                <a:solidFill>
                  <a:schemeClr val="lt1"/>
                </a:solidFill>
              </a:rPr>
              <a:t>spec × грейд, «подтверждено тестом от …», место в ранжировании категории, достижения ФСП.</a:t>
            </a:r>
          </a:p>
        </p:txBody>
      </p: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Спасибо!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1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piratehunter.fun — живой сервис</a:t>
            </a:r>
          </a:p>
          <a:p>
            <a:r>
              <a:t>вход по e-mail-коду или FSP ID · демо-аккаунты для жюри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